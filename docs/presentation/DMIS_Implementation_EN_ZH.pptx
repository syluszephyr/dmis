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weight</c:v>
                </c:pt>
              </c:strCache>
            </c:strRef>
          </c:tx>
          <c:spPr>
            <a:solidFill>
              <a:srgbClr val="0E7C6B"/>
            </a:solidFill>
            <a:effectLst/>
          </c:spPr>
          <c:invertIfNegative val="0"/>
          <c:dLbls>
            <c:numFmt formatCode="0&quot;%&quot;" sourceLinked="0"/>
            <c:txPr>
              <a:bodyPr/>
              <a:lstStyle/>
              <a:p>
                <a:pPr>
                  <a:defRPr b="0" i="0" strike="noStrike" sz="1100" u="none">
                    <a:solidFill>
                      <a:srgbClr val="16243A"/>
                    </a:solidFill>
                    <a:latin typeface="Arial"/>
                  </a:defRPr>
                </a:pPr>
              </a:p>
            </c:txPr>
            <c:showLegendKey val="0"/>
            <c:showVal val="1"/>
            <c:showCatName val="0"/>
            <c:showSerName val="0"/>
            <c:showPercent val="0"/>
            <c:showBubbleSize val="0"/>
            <c:showLeaderLines val="0"/>
          </c:dLbls>
          <c:cat>
            <c:multiLvlStrRef>
              <c:f>Sheet1!$A$2:$A$7</c:f>
              <c:multiLvlStrCache>
                <c:ptCount val="6"/>
                <c:lvl>
                  <c:pt idx="0">
                    <c:v>Demand 需求</c:v>
                  </c:pt>
                  <c:pt idx="1">
                    <c:v>Entry 进入</c:v>
                  </c:pt>
                  <c:pt idx="2">
                    <c:v>Margin 利润</c:v>
                  </c:pt>
                  <c:pt idx="3">
                    <c:v>Competition 竞争</c:v>
                  </c:pt>
                  <c:pt idx="4">
                    <c:v>Quality gap 质量缺口</c:v>
                  </c:pt>
                  <c:pt idx="5">
                    <c:v>Saturation 饱和</c:v>
                  </c:pt>
                </c:lvl>
              </c:multiLvlStrCache>
            </c:multiLvlStrRef>
          </c:cat>
          <c:val>
            <c:numRef>
              <c:f>Sheet1!$B$2:$B$7</c:f>
              <c:numCache>
                <c:formatCode>General</c:formatCode>
                <c:ptCount val="6"/>
                <c:pt idx="0">
                  <c:v>25</c:v>
                </c:pt>
                <c:pt idx="1">
                  <c:v>25</c:v>
                </c:pt>
                <c:pt idx="2">
                  <c:v>20</c:v>
                </c:pt>
                <c:pt idx="3">
                  <c:v>15</c:v>
                </c:pt>
                <c:pt idx="4">
                  <c:v>10</c:v>
                </c:pt>
                <c:pt idx="5">
                  <c:v>5</c:v>
                </c:pt>
              </c:numCache>
            </c:numRef>
          </c:val>
        </c:ser>
        <c:dLbls>
          <c:numFmt formatCode="0&quot;%&quot;" sourceLinked="0"/>
          <c:txPr>
            <a:bodyPr/>
            <a:lstStyle/>
            <a:p>
              <a:pPr>
                <a:defRPr b="0" i="0" strike="noStrike" sz="1100" u="none">
                  <a:solidFill>
                    <a:srgbClr val="1624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6243A"/>
                </a:solidFill>
                <a:latin typeface="Microsoft YaHe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implementation only: what code runs, in what order, with which algorithm, and why. Every slide is bilingual. All parameters quoted come from config/ or the code in src/dip and src/dmie.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is a batch pipeline followed by read-only serving. Upload triggers src/dip/pipeline/runner.py; a StageTracker wraps each stage (tr.run(name, fn)) and records its timing and memory in the jobs table. The UI polls the job. After the lake write, the API only reads curated tables — no statistics are computed per request except simulations requested by the user (launch,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processes in development: the Next.js server and the FastAPI server (python scripts/dmis.py serve). The browser only talks to Next.js; Next.js proxies API calls, which avoids CORS. FastAPI middleware records audit events for state changes, and dependencies enforce auth and market scope per route. Uploads are processed off the request path by the job runner.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records need transactions, so they use SQL through SQLAlchemy: SQLite for laptops, PostgreSQL for servers, same code. Market data is analytical and columnar, so it is written as Parquet per market and read by DuckDB directly from the files — no database server. The graph and vector stores each have an embedded default and a server option selected by one environment variable. Migration compares the SQLAlchemy models with the live tables and runs ALTER TABLE ADD COLUMN for missing nullable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Upload is asynchronous: the POST returns a job id at once. By default a background thread runs the pipeline inside the API process; in production set DIP_JOB_MODE=queue and run a separate worker that claims rows from job_queue. Each stage is wrapped by StageTracker so progress is observable. At the end the curated tables are written and change events are computed against the previous state and tested for significance before any alert is routed.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src/dmie/engine/ingestion/schema_detector.py and src/dip/pipeline/ingestion/fast.py. Each (column, field) pair gets a score from the header and from the values; the Hungarian algorithm finds the best one-to-one assignment. This is why a new marketplace export with different or Chinese headers still maps correctly without code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src/dmie/engine/quality.py. Thresholds live in config/engine/engine.yaml (zscore_threshold 3.5, iqr_multiplier 3.0, isolation_contamination 0.05). A record that fails is marked usable_for_market=False with its issues listed; it stays in the records table with an excluded_reason so it can be inspected on Data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src/dmie/engine/relevance.py wrapped by src/dip/pipeline/relevance. The domain definition (prototype phrases, core and negative terms) is config, so a new category needs no code. Thresholds 60 and 40 come from config/engine/engine.yaml. The feedback model improves as people correct listings; from 200 corrections it can switch to XGBoost.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src/dip/pipeline/scope.py and clustering/taxonomy.py. The boundary logic is why the implants export was cut to $12.7k in scope: about 96% of its revenue is water flossers, which categories.yaml excludes. Anchoring families to marketplace sub-categories gives stable, externally meaningful product types instead of unstable unsupervised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src/dmie/engine/dedup.py (rules) and src/dip/pipeline/product_resolution/fast.py (scale). Weights and threshold are in config/engine/engine.yaml. Title similarity is character TF-IDF cosine. The veto-aware union-find prevents transitive chaining, the classic failure of similarity clustering. stable_ids.py keeps product IDs stable across snapshots so labels, projects and history stay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src/dip/metrics/observation.py detects the ladder; src/dip/metrics/demand.py fits the model. Covariates are standardised; missing covariates are median-imputed with a missing indicator; sub-categories with fewer than 5 listings are pooled. With few badged listings the model falls back to intercept-only, and heavy tails are only allowed with at least 30 badged listings.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uncertainty is carried through: every bootstrap refit re-chooses the error family, so intervals reflect not only parameter noise but also doubt about the tail shape. The bias correction removes the small-sample bias of the censored MLE. Parametric bootstrap was chosen over case bootstrap because it was calibrated on synthetic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src/dip/metrics/demand.py simulate() and engine.py. Anchoring was introduced after the hierarchy showed products summing to $179.5k under a $175.8k market: clipping widened draws at zero lifts small groups' means. Anchoring on the analytic sum makes all levels reconcile; on 24 synthetic markets both point estimates were equally accurate (2.0% vs 1.9% median error) and coverage stayed at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in src/dip/metrics/engine.py with settings in metrics.yaml. The derived-cost check is important: the source's cost column turned out to be a fixed share of price, so using it would have invented margins; the engine detects that and withholds margin. Shrinkage stops a segment with two lucky entrants from looking easy to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engine.geo_index and transform in src/dip/metrics/engine.py; weights and scales in metrics.yaml opportunity.components. Absolute scales make indices comparable across markets and categories; a missing component is dropped from both numerator and denominator and the coverage is reported next to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src/dip/metrics/gaps.py. Numeric specs are bucketed with edges in metrics.yaml (rpm, watt, pack, ml, gram). The supply/demand shares show whether a feature is under-supplied: 72% of listings carry 'teaching' but they take 89% of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src/dip/significance.py. Before a run overwrites the market, v3_state() reads the previous estimates; after the run, apply() attaches tests to change events, adds segment demand shifts, BH-adjusts, and demotes non-significant events to info. The acceptance test uploads two snapshots with tripled demand and checks the size change is significant and that no info event becomes an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src/dip/metrics/forecast.py; runner.py writes revenue_history in the lake stage; endpoint /markets/{m}/forecast-v3. The random effect is what makes the prediction interval honest: without τ² the model would claim the trend line is known exactly between snapshots. Seasonality is not modelled until 24 monthly snapshots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src/dip/metrics/launch.py and demand.model_card / predict_draws. The price effect is the cross-sectional association in the fitted model, not a causal elasticity; the UI states this. Truncation at the top-rung cap avoids infinite means from heavy tails. The Opportunity Board calls the same simulate() for each concept, so its numbers equal the simulator's.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src/dip/intelligence/ontology.py builds the graph; storage/graph.py provides find_path. storage/vectors.py embed() is deterministic and offline. src/dip/metrics/board.py assembles the board: it never invents a new score; every column is a number computed elsewhere, so the board and the individual pages always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src/dip/intelligence/analyst_v3.py and gemini.py; config/platform/analyst.yaml. This is PRINCIPLES.md principles 4–6 in code: numerical aggregation is never delegated to a language model, and every AI decision is traceable.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src/dip/auth.py, cache.py, audit.py; frontend/lib/api.ts, hooks, i18n.tsx; scripts/check-i18n.mjs. Caching is invalidated automatically because the data version changes when a market is re-processed. Inside the three.js Canvas the i18n hook is not used; translated strings are passed in as props.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src/dip/metrics/synthetic.py, src/dip/pilot/accuracy.py, tests/platform/test_metrics_engine.py, test_acceptance_v3.py. The accuracy dashboard reruns the synthetic validation on demand and runs the hold-out check on every real market; denture_base fails the hold-out check (AUC 0.46) and is flagged rather than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PRINCIPLES.md principle 9. Every number quoted in this deck — thresholds, weights, simulation counts — can be changed in these files and is read at run time by the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guarantees as properties of the code: intervals and explain payloads on every metric row, anchored aggregation, excluded_reason on every record, BH-controlled tests, the analyst's number guard, and configuration-driven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3A"/>
        </a:solidFill>
      </p:bgPr>
    </p:bg>
    <p:spTree>
      <p:nvGrpSpPr>
        <p:cNvPr id="1" name=""/>
        <p:cNvGrpSpPr/>
        <p:nvPr/>
      </p:nvGrpSpPr>
      <p:grpSpPr>
        <a:xfrm>
          <a:off x="0" y="0"/>
          <a:ext cx="0" cy="0"/>
          <a:chOff x="0" y="0"/>
          <a:chExt cx="0" cy="0"/>
        </a:xfrm>
      </p:grpSpPr>
      <p:sp>
        <p:nvSpPr>
          <p:cNvPr id="2" name="Text 0"/>
          <p:cNvSpPr txBox="1"/>
          <p:nvPr/>
        </p:nvSpPr>
        <p:spPr>
          <a:xfrm>
            <a:off x="731520" y="1417320"/>
            <a:ext cx="10058400" cy="320040"/>
          </a:xfrm>
          <a:prstGeom prst="rect">
            <a:avLst/>
          </a:prstGeom>
          <a:noFill/>
          <a:ln/>
        </p:spPr>
        <p:txBody>
          <a:bodyPr wrap="square" lIns="0" tIns="0" rIns="0" bIns="0" rtlCol="0" anchor="ctr"/>
          <a:lstStyle/>
          <a:p>
            <a:pPr indent="0" marL="0">
              <a:buNone/>
            </a:pPr>
            <a:r>
              <a:rPr lang="en-US" sz="1300" b="1" spc="400" kern="0" dirty="0">
                <a:solidFill>
                  <a:srgbClr val="9FD3C8"/>
                </a:solidFill>
                <a:latin typeface="Calibri" pitchFamily="34" charset="0"/>
                <a:ea typeface="Calibri" pitchFamily="34" charset="-122"/>
                <a:cs typeface="Calibri" pitchFamily="34" charset="-120"/>
              </a:rPr>
              <a:t>IMPLEMENTATION &amp; EXECUTION LOGIC</a:t>
            </a:r>
            <a:endParaRPr lang="en-US" sz="1300" dirty="0"/>
          </a:p>
        </p:txBody>
      </p:sp>
      <p:sp>
        <p:nvSpPr>
          <p:cNvPr id="3" name="Text 1"/>
          <p:cNvSpPr txBox="1"/>
          <p:nvPr/>
        </p:nvSpPr>
        <p:spPr>
          <a:xfrm>
            <a:off x="731520" y="1783080"/>
            <a:ext cx="10058400" cy="100584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DMIS</a:t>
            </a:r>
            <a:endParaRPr lang="en-US" sz="6600" dirty="0"/>
          </a:p>
        </p:txBody>
      </p:sp>
      <p:sp>
        <p:nvSpPr>
          <p:cNvPr id="4" name="Text 2"/>
          <p:cNvSpPr txBox="1"/>
          <p:nvPr/>
        </p:nvSpPr>
        <p:spPr>
          <a:xfrm>
            <a:off x="731520" y="2834640"/>
            <a:ext cx="10515600" cy="502920"/>
          </a:xfrm>
          <a:prstGeom prst="rect">
            <a:avLst/>
          </a:prstGeom>
          <a:noFill/>
          <a:ln/>
        </p:spPr>
        <p:txBody>
          <a:bodyPr wrap="square" lIns="0" tIns="0" rIns="0" bIns="0" rtlCol="0" anchor="ctr"/>
          <a:lstStyle/>
          <a:p>
            <a:pPr indent="0" marL="0">
              <a:buNone/>
            </a:pPr>
            <a:r>
              <a:rPr lang="en-US" sz="2600" dirty="0">
                <a:solidFill>
                  <a:srgbClr val="DCE6F5"/>
                </a:solidFill>
                <a:latin typeface="Cambria" pitchFamily="34" charset="0"/>
                <a:ea typeface="Cambria" pitchFamily="34" charset="-122"/>
                <a:cs typeface="Cambria" pitchFamily="34" charset="-120"/>
              </a:rPr>
              <a:t>How the Dental Market Intelligence OS actually works</a:t>
            </a:r>
            <a:endParaRPr lang="en-US" sz="2600" dirty="0"/>
          </a:p>
        </p:txBody>
      </p:sp>
      <p:sp>
        <p:nvSpPr>
          <p:cNvPr id="5" name="Text 3"/>
          <p:cNvSpPr txBox="1"/>
          <p:nvPr/>
        </p:nvSpPr>
        <p:spPr>
          <a:xfrm>
            <a:off x="731520" y="3383280"/>
            <a:ext cx="10515600" cy="457200"/>
          </a:xfrm>
          <a:prstGeom prst="rect">
            <a:avLst/>
          </a:prstGeom>
          <a:noFill/>
          <a:ln/>
        </p:spPr>
        <p:txBody>
          <a:bodyPr wrap="square" lIns="0" tIns="0" rIns="0" bIns="0" rtlCol="0" anchor="ctr"/>
          <a:lstStyle/>
          <a:p>
            <a:pPr indent="0" marL="0">
              <a:buNone/>
            </a:pPr>
            <a:r>
              <a:rPr lang="en-US" sz="2200" dirty="0">
                <a:solidFill>
                  <a:srgbClr val="B8C6DB"/>
                </a:solidFill>
                <a:latin typeface="Microsoft YaHei" pitchFamily="34" charset="0"/>
                <a:ea typeface="Microsoft YaHei" pitchFamily="34" charset="-122"/>
                <a:cs typeface="Microsoft YaHei" pitchFamily="34" charset="-120"/>
              </a:rPr>
              <a:t>牙科市场智能系统的实现原理与执行逻辑</a:t>
            </a:r>
            <a:endParaRPr lang="en-US" sz="2200" dirty="0"/>
          </a:p>
        </p:txBody>
      </p:sp>
      <p:sp>
        <p:nvSpPr>
          <p:cNvPr id="6" name="Shape 4"/>
          <p:cNvSpPr/>
          <p:nvPr/>
        </p:nvSpPr>
        <p:spPr>
          <a:xfrm>
            <a:off x="731520" y="4434840"/>
            <a:ext cx="1965960" cy="566928"/>
          </a:xfrm>
          <a:prstGeom prst="roundRect">
            <a:avLst>
              <a:gd name="adj" fmla="val 12903"/>
            </a:avLst>
          </a:prstGeom>
          <a:solidFill>
            <a:srgbClr val="1B2D4D"/>
          </a:solidFill>
          <a:ln w="12700">
            <a:solidFill>
              <a:srgbClr val="2E4468"/>
            </a:solidFill>
            <a:prstDash val="solid"/>
          </a:ln>
        </p:spPr>
      </p:sp>
      <p:sp>
        <p:nvSpPr>
          <p:cNvPr id="7" name="Text 5"/>
          <p:cNvSpPr txBox="1"/>
          <p:nvPr/>
        </p:nvSpPr>
        <p:spPr>
          <a:xfrm>
            <a:off x="731520" y="4434840"/>
            <a:ext cx="19659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Pipeline</a:t>
            </a:r>
            <a:endParaRPr lang="en-US" sz="1200" dirty="0"/>
          </a:p>
          <a:p>
            <a:pPr algn="ctr" indent="0" marL="0">
              <a:buNone/>
            </a:pPr>
            <a:r>
              <a:rPr lang="en-US" sz="1000" dirty="0">
                <a:solidFill>
                  <a:srgbClr val="9FD3C8"/>
                </a:solidFill>
                <a:latin typeface="Microsoft YaHei" pitchFamily="34" charset="0"/>
                <a:ea typeface="Microsoft YaHei" pitchFamily="34" charset="-122"/>
                <a:cs typeface="Microsoft YaHei" pitchFamily="34" charset="-120"/>
              </a:rPr>
              <a:t>数据管线</a:t>
            </a:r>
            <a:endParaRPr lang="en-US" sz="1200" dirty="0"/>
          </a:p>
        </p:txBody>
      </p:sp>
      <p:sp>
        <p:nvSpPr>
          <p:cNvPr id="8" name="Shape 6"/>
          <p:cNvSpPr/>
          <p:nvPr/>
        </p:nvSpPr>
        <p:spPr>
          <a:xfrm>
            <a:off x="2880360" y="4434840"/>
            <a:ext cx="1965960" cy="566928"/>
          </a:xfrm>
          <a:prstGeom prst="roundRect">
            <a:avLst>
              <a:gd name="adj" fmla="val 12903"/>
            </a:avLst>
          </a:prstGeom>
          <a:solidFill>
            <a:srgbClr val="1B2D4D"/>
          </a:solidFill>
          <a:ln w="12700">
            <a:solidFill>
              <a:srgbClr val="2E4468"/>
            </a:solidFill>
            <a:prstDash val="solid"/>
          </a:ln>
        </p:spPr>
      </p:sp>
      <p:sp>
        <p:nvSpPr>
          <p:cNvPr id="9" name="Text 7"/>
          <p:cNvSpPr txBox="1"/>
          <p:nvPr/>
        </p:nvSpPr>
        <p:spPr>
          <a:xfrm>
            <a:off x="2880360" y="4434840"/>
            <a:ext cx="19659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Statistics</a:t>
            </a:r>
            <a:endParaRPr lang="en-US" sz="1200" dirty="0"/>
          </a:p>
          <a:p>
            <a:pPr algn="ctr" indent="0" marL="0">
              <a:buNone/>
            </a:pPr>
            <a:r>
              <a:rPr lang="en-US" sz="1000" dirty="0">
                <a:solidFill>
                  <a:srgbClr val="9FD3C8"/>
                </a:solidFill>
                <a:latin typeface="Microsoft YaHei" pitchFamily="34" charset="0"/>
                <a:ea typeface="Microsoft YaHei" pitchFamily="34" charset="-122"/>
                <a:cs typeface="Microsoft YaHei" pitchFamily="34" charset="-120"/>
              </a:rPr>
              <a:t>统计引擎</a:t>
            </a:r>
            <a:endParaRPr lang="en-US" sz="1200" dirty="0"/>
          </a:p>
        </p:txBody>
      </p:sp>
      <p:sp>
        <p:nvSpPr>
          <p:cNvPr id="10" name="Shape 8"/>
          <p:cNvSpPr/>
          <p:nvPr/>
        </p:nvSpPr>
        <p:spPr>
          <a:xfrm>
            <a:off x="5029200" y="4434840"/>
            <a:ext cx="1965960" cy="566928"/>
          </a:xfrm>
          <a:prstGeom prst="roundRect">
            <a:avLst>
              <a:gd name="adj" fmla="val 12903"/>
            </a:avLst>
          </a:prstGeom>
          <a:solidFill>
            <a:srgbClr val="1B2D4D"/>
          </a:solidFill>
          <a:ln w="12700">
            <a:solidFill>
              <a:srgbClr val="2E4468"/>
            </a:solidFill>
            <a:prstDash val="solid"/>
          </a:ln>
        </p:spPr>
      </p:sp>
      <p:sp>
        <p:nvSpPr>
          <p:cNvPr id="11" name="Text 9"/>
          <p:cNvSpPr txBox="1"/>
          <p:nvPr/>
        </p:nvSpPr>
        <p:spPr>
          <a:xfrm>
            <a:off x="5029200" y="4434840"/>
            <a:ext cx="19659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Storage</a:t>
            </a:r>
            <a:endParaRPr lang="en-US" sz="1200" dirty="0"/>
          </a:p>
          <a:p>
            <a:pPr algn="ctr" indent="0" marL="0">
              <a:buNone/>
            </a:pPr>
            <a:r>
              <a:rPr lang="en-US" sz="1000" dirty="0">
                <a:solidFill>
                  <a:srgbClr val="9FD3C8"/>
                </a:solidFill>
                <a:latin typeface="Microsoft YaHei" pitchFamily="34" charset="0"/>
                <a:ea typeface="Microsoft YaHei" pitchFamily="34" charset="-122"/>
                <a:cs typeface="Microsoft YaHei" pitchFamily="34" charset="-120"/>
              </a:rPr>
              <a:t>存储层</a:t>
            </a:r>
            <a:endParaRPr lang="en-US" sz="1200" dirty="0"/>
          </a:p>
        </p:txBody>
      </p:sp>
      <p:sp>
        <p:nvSpPr>
          <p:cNvPr id="12" name="Shape 10"/>
          <p:cNvSpPr/>
          <p:nvPr/>
        </p:nvSpPr>
        <p:spPr>
          <a:xfrm>
            <a:off x="7178040" y="4434840"/>
            <a:ext cx="1965960" cy="566928"/>
          </a:xfrm>
          <a:prstGeom prst="roundRect">
            <a:avLst>
              <a:gd name="adj" fmla="val 12903"/>
            </a:avLst>
          </a:prstGeom>
          <a:solidFill>
            <a:srgbClr val="1B2D4D"/>
          </a:solidFill>
          <a:ln w="12700">
            <a:solidFill>
              <a:srgbClr val="2E4468"/>
            </a:solidFill>
            <a:prstDash val="solid"/>
          </a:ln>
        </p:spPr>
      </p:sp>
      <p:sp>
        <p:nvSpPr>
          <p:cNvPr id="13" name="Text 11"/>
          <p:cNvSpPr txBox="1"/>
          <p:nvPr/>
        </p:nvSpPr>
        <p:spPr>
          <a:xfrm>
            <a:off x="7178040" y="4434840"/>
            <a:ext cx="19659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API &amp; UI</a:t>
            </a:r>
            <a:endParaRPr lang="en-US" sz="1200" dirty="0"/>
          </a:p>
          <a:p>
            <a:pPr algn="ctr" indent="0" marL="0">
              <a:buNone/>
            </a:pPr>
            <a:r>
              <a:rPr lang="en-US" sz="1000" dirty="0">
                <a:solidFill>
                  <a:srgbClr val="9FD3C8"/>
                </a:solidFill>
                <a:latin typeface="Microsoft YaHei" pitchFamily="34" charset="0"/>
                <a:ea typeface="Microsoft YaHei" pitchFamily="34" charset="-122"/>
                <a:cs typeface="Microsoft YaHei" pitchFamily="34" charset="-120"/>
              </a:rPr>
              <a:t>接口与前端</a:t>
            </a:r>
            <a:endParaRPr lang="en-US" sz="1200" dirty="0"/>
          </a:p>
        </p:txBody>
      </p:sp>
      <p:sp>
        <p:nvSpPr>
          <p:cNvPr id="14" name="Shape 12"/>
          <p:cNvSpPr/>
          <p:nvPr/>
        </p:nvSpPr>
        <p:spPr>
          <a:xfrm>
            <a:off x="9326880" y="4434840"/>
            <a:ext cx="1965960" cy="566928"/>
          </a:xfrm>
          <a:prstGeom prst="roundRect">
            <a:avLst>
              <a:gd name="adj" fmla="val 12903"/>
            </a:avLst>
          </a:prstGeom>
          <a:solidFill>
            <a:srgbClr val="1B2D4D"/>
          </a:solidFill>
          <a:ln w="12700">
            <a:solidFill>
              <a:srgbClr val="2E4468"/>
            </a:solidFill>
            <a:prstDash val="solid"/>
          </a:ln>
        </p:spPr>
      </p:sp>
      <p:sp>
        <p:nvSpPr>
          <p:cNvPr id="15" name="Text 13"/>
          <p:cNvSpPr txBox="1"/>
          <p:nvPr/>
        </p:nvSpPr>
        <p:spPr>
          <a:xfrm>
            <a:off x="9326880" y="4434840"/>
            <a:ext cx="19659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Verification</a:t>
            </a:r>
            <a:endParaRPr lang="en-US" sz="1200" dirty="0"/>
          </a:p>
          <a:p>
            <a:pPr algn="ctr" indent="0" marL="0">
              <a:buNone/>
            </a:pPr>
            <a:r>
              <a:rPr lang="en-US" sz="1000" dirty="0">
                <a:solidFill>
                  <a:srgbClr val="9FD3C8"/>
                </a:solidFill>
                <a:latin typeface="Microsoft YaHei" pitchFamily="34" charset="0"/>
                <a:ea typeface="Microsoft YaHei" pitchFamily="34" charset="-122"/>
                <a:cs typeface="Microsoft YaHei" pitchFamily="34" charset="-120"/>
              </a:rPr>
              <a:t>验证</a:t>
            </a:r>
            <a:endParaRPr lang="en-US" sz="1200" dirty="0"/>
          </a:p>
        </p:txBody>
      </p:sp>
      <p:sp>
        <p:nvSpPr>
          <p:cNvPr id="16" name="Text 14"/>
          <p:cNvSpPr txBox="1"/>
          <p:nvPr/>
        </p:nvSpPr>
        <p:spPr>
          <a:xfrm>
            <a:off x="731520" y="5989320"/>
            <a:ext cx="10515600" cy="274320"/>
          </a:xfrm>
          <a:prstGeom prst="rect">
            <a:avLst/>
          </a:prstGeom>
          <a:noFill/>
          <a:ln/>
        </p:spPr>
        <p:txBody>
          <a:bodyPr wrap="square" lIns="0" tIns="0" rIns="0" bIns="0" rtlCol="0" anchor="ctr"/>
          <a:lstStyle/>
          <a:p>
            <a:pPr indent="0" marL="0">
              <a:buNone/>
            </a:pPr>
            <a:r>
              <a:rPr lang="en-US" sz="1050" dirty="0">
                <a:solidFill>
                  <a:srgbClr val="8FA2BF"/>
                </a:solidFill>
                <a:latin typeface="Calibri" pitchFamily="34" charset="0"/>
                <a:ea typeface="Calibri" pitchFamily="34" charset="-122"/>
                <a:cs typeface="Calibri" pitchFamily="34" charset="-120"/>
              </a:rPr>
              <a:t>Source: repository SylusZephyr/DMIS- · src/dip, src/dmie, config/, frontend/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00</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EXECUTION MAP</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执行总览</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From an uploaded file to a launch decision</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从上传文件到上市决策的完整执行路径</a:t>
            </a:r>
            <a:endParaRPr lang="en-US" sz="1500" dirty="0"/>
          </a:p>
        </p:txBody>
      </p:sp>
      <p:sp>
        <p:nvSpPr>
          <p:cNvPr id="7" name="Shape 5"/>
          <p:cNvSpPr/>
          <p:nvPr/>
        </p:nvSpPr>
        <p:spPr>
          <a:xfrm>
            <a:off x="548640" y="1783080"/>
            <a:ext cx="2011680" cy="868680"/>
          </a:xfrm>
          <a:prstGeom prst="roundRect">
            <a:avLst>
              <a:gd name="adj" fmla="val 7368"/>
            </a:avLst>
          </a:prstGeom>
          <a:solidFill>
            <a:srgbClr val="FFFFFF"/>
          </a:solidFill>
          <a:ln w="12700">
            <a:solidFill>
              <a:srgbClr val="DCE3EB"/>
            </a:solidFill>
            <a:prstDash val="solid"/>
          </a:ln>
        </p:spPr>
      </p:sp>
      <p:sp>
        <p:nvSpPr>
          <p:cNvPr id="8" name="Text 6"/>
          <p:cNvSpPr txBox="1"/>
          <p:nvPr/>
        </p:nvSpPr>
        <p:spPr>
          <a:xfrm>
            <a:off x="640080" y="1783080"/>
            <a:ext cx="1828800" cy="86868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1. Ingest</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接入</a:t>
            </a:r>
            <a:endParaRPr lang="en-US" sz="1250" dirty="0"/>
          </a:p>
        </p:txBody>
      </p:sp>
      <p:sp>
        <p:nvSpPr>
          <p:cNvPr id="9" name="Shape 7"/>
          <p:cNvSpPr/>
          <p:nvPr/>
        </p:nvSpPr>
        <p:spPr>
          <a:xfrm>
            <a:off x="2560320" y="2217420"/>
            <a:ext cx="274320" cy="0"/>
          </a:xfrm>
          <a:prstGeom prst="line">
            <a:avLst/>
          </a:prstGeom>
          <a:noFill/>
          <a:ln w="19050">
            <a:solidFill>
              <a:srgbClr val="0E7C6B"/>
            </a:solidFill>
            <a:prstDash val="solid"/>
            <a:tailEnd type="triangle"/>
          </a:ln>
        </p:spPr>
      </p:sp>
      <p:sp>
        <p:nvSpPr>
          <p:cNvPr id="10" name="Shape 8"/>
          <p:cNvSpPr/>
          <p:nvPr/>
        </p:nvSpPr>
        <p:spPr>
          <a:xfrm>
            <a:off x="2834640" y="1783080"/>
            <a:ext cx="2011680" cy="868680"/>
          </a:xfrm>
          <a:prstGeom prst="roundRect">
            <a:avLst>
              <a:gd name="adj" fmla="val 7368"/>
            </a:avLst>
          </a:prstGeom>
          <a:solidFill>
            <a:srgbClr val="FFFFFF"/>
          </a:solidFill>
          <a:ln w="12700">
            <a:solidFill>
              <a:srgbClr val="DCE3EB"/>
            </a:solidFill>
            <a:prstDash val="solid"/>
          </a:ln>
        </p:spPr>
      </p:sp>
      <p:sp>
        <p:nvSpPr>
          <p:cNvPr id="11" name="Text 9"/>
          <p:cNvSpPr txBox="1"/>
          <p:nvPr/>
        </p:nvSpPr>
        <p:spPr>
          <a:xfrm>
            <a:off x="2926080" y="1783080"/>
            <a:ext cx="1828800" cy="86868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2. Quality</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质量</a:t>
            </a:r>
            <a:endParaRPr lang="en-US" sz="1250" dirty="0"/>
          </a:p>
        </p:txBody>
      </p:sp>
      <p:sp>
        <p:nvSpPr>
          <p:cNvPr id="12" name="Shape 10"/>
          <p:cNvSpPr/>
          <p:nvPr/>
        </p:nvSpPr>
        <p:spPr>
          <a:xfrm>
            <a:off x="4846320" y="2217420"/>
            <a:ext cx="274320" cy="0"/>
          </a:xfrm>
          <a:prstGeom prst="line">
            <a:avLst/>
          </a:prstGeom>
          <a:noFill/>
          <a:ln w="19050">
            <a:solidFill>
              <a:srgbClr val="0E7C6B"/>
            </a:solidFill>
            <a:prstDash val="solid"/>
            <a:tailEnd type="triangle"/>
          </a:ln>
        </p:spPr>
      </p:sp>
      <p:sp>
        <p:nvSpPr>
          <p:cNvPr id="13" name="Shape 11"/>
          <p:cNvSpPr/>
          <p:nvPr/>
        </p:nvSpPr>
        <p:spPr>
          <a:xfrm>
            <a:off x="5120640" y="1783080"/>
            <a:ext cx="2011680" cy="868680"/>
          </a:xfrm>
          <a:prstGeom prst="roundRect">
            <a:avLst>
              <a:gd name="adj" fmla="val 7368"/>
            </a:avLst>
          </a:prstGeom>
          <a:solidFill>
            <a:srgbClr val="FFFFFF"/>
          </a:solidFill>
          <a:ln w="12700">
            <a:solidFill>
              <a:srgbClr val="DCE3EB"/>
            </a:solidFill>
            <a:prstDash val="solid"/>
          </a:ln>
        </p:spPr>
      </p:sp>
      <p:sp>
        <p:nvSpPr>
          <p:cNvPr id="14" name="Text 12"/>
          <p:cNvSpPr txBox="1"/>
          <p:nvPr/>
        </p:nvSpPr>
        <p:spPr>
          <a:xfrm>
            <a:off x="5212080" y="1783080"/>
            <a:ext cx="1828800" cy="86868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3. Relevance</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相关性</a:t>
            </a:r>
            <a:endParaRPr lang="en-US" sz="1250" dirty="0"/>
          </a:p>
        </p:txBody>
      </p:sp>
      <p:sp>
        <p:nvSpPr>
          <p:cNvPr id="15" name="Shape 13"/>
          <p:cNvSpPr/>
          <p:nvPr/>
        </p:nvSpPr>
        <p:spPr>
          <a:xfrm>
            <a:off x="7132320" y="2217420"/>
            <a:ext cx="274320" cy="0"/>
          </a:xfrm>
          <a:prstGeom prst="line">
            <a:avLst/>
          </a:prstGeom>
          <a:noFill/>
          <a:ln w="19050">
            <a:solidFill>
              <a:srgbClr val="0E7C6B"/>
            </a:solidFill>
            <a:prstDash val="solid"/>
            <a:tailEnd type="triangle"/>
          </a:ln>
        </p:spPr>
      </p:sp>
      <p:sp>
        <p:nvSpPr>
          <p:cNvPr id="16" name="Shape 14"/>
          <p:cNvSpPr/>
          <p:nvPr/>
        </p:nvSpPr>
        <p:spPr>
          <a:xfrm>
            <a:off x="7406640" y="1783080"/>
            <a:ext cx="2011680" cy="868680"/>
          </a:xfrm>
          <a:prstGeom prst="roundRect">
            <a:avLst>
              <a:gd name="adj" fmla="val 7368"/>
            </a:avLst>
          </a:prstGeom>
          <a:solidFill>
            <a:srgbClr val="FFFFFF"/>
          </a:solidFill>
          <a:ln w="12700">
            <a:solidFill>
              <a:srgbClr val="DCE3EB"/>
            </a:solidFill>
            <a:prstDash val="solid"/>
          </a:ln>
        </p:spPr>
      </p:sp>
      <p:sp>
        <p:nvSpPr>
          <p:cNvPr id="17" name="Text 15"/>
          <p:cNvSpPr txBox="1"/>
          <p:nvPr/>
        </p:nvSpPr>
        <p:spPr>
          <a:xfrm>
            <a:off x="7498080" y="1783080"/>
            <a:ext cx="1828800" cy="86868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4. Scope &amp; segment</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范围与细分</a:t>
            </a:r>
            <a:endParaRPr lang="en-US" sz="1250" dirty="0"/>
          </a:p>
        </p:txBody>
      </p:sp>
      <p:sp>
        <p:nvSpPr>
          <p:cNvPr id="18" name="Shape 16"/>
          <p:cNvSpPr/>
          <p:nvPr/>
        </p:nvSpPr>
        <p:spPr>
          <a:xfrm>
            <a:off x="9418320" y="2217420"/>
            <a:ext cx="274320" cy="0"/>
          </a:xfrm>
          <a:prstGeom prst="line">
            <a:avLst/>
          </a:prstGeom>
          <a:noFill/>
          <a:ln w="19050">
            <a:solidFill>
              <a:srgbClr val="0E7C6B"/>
            </a:solidFill>
            <a:prstDash val="solid"/>
            <a:tailEnd type="triangle"/>
          </a:ln>
        </p:spPr>
      </p:sp>
      <p:sp>
        <p:nvSpPr>
          <p:cNvPr id="19" name="Shape 17"/>
          <p:cNvSpPr/>
          <p:nvPr/>
        </p:nvSpPr>
        <p:spPr>
          <a:xfrm>
            <a:off x="9692640" y="1783080"/>
            <a:ext cx="2011680" cy="868680"/>
          </a:xfrm>
          <a:prstGeom prst="roundRect">
            <a:avLst>
              <a:gd name="adj" fmla="val 7368"/>
            </a:avLst>
          </a:prstGeom>
          <a:solidFill>
            <a:srgbClr val="FFFFFF"/>
          </a:solidFill>
          <a:ln w="12700">
            <a:solidFill>
              <a:srgbClr val="DCE3EB"/>
            </a:solidFill>
            <a:prstDash val="solid"/>
          </a:ln>
        </p:spPr>
      </p:sp>
      <p:sp>
        <p:nvSpPr>
          <p:cNvPr id="20" name="Text 18"/>
          <p:cNvSpPr txBox="1"/>
          <p:nvPr/>
        </p:nvSpPr>
        <p:spPr>
          <a:xfrm>
            <a:off x="9784080" y="1783080"/>
            <a:ext cx="1828800" cy="86868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5. Resolve products</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产品归并</a:t>
            </a:r>
            <a:endParaRPr lang="en-US" sz="1250" dirty="0"/>
          </a:p>
        </p:txBody>
      </p:sp>
      <p:sp>
        <p:nvSpPr>
          <p:cNvPr id="21" name="Shape 19"/>
          <p:cNvSpPr/>
          <p:nvPr/>
        </p:nvSpPr>
        <p:spPr>
          <a:xfrm>
            <a:off x="548640" y="3108960"/>
            <a:ext cx="2011680" cy="868680"/>
          </a:xfrm>
          <a:prstGeom prst="roundRect">
            <a:avLst>
              <a:gd name="adj" fmla="val 7368"/>
            </a:avLst>
          </a:prstGeom>
          <a:solidFill>
            <a:srgbClr val="E3F2EF"/>
          </a:solidFill>
          <a:ln w="12700">
            <a:solidFill>
              <a:srgbClr val="0E7C6B"/>
            </a:solidFill>
            <a:prstDash val="solid"/>
          </a:ln>
        </p:spPr>
      </p:sp>
      <p:sp>
        <p:nvSpPr>
          <p:cNvPr id="22" name="Text 20"/>
          <p:cNvSpPr txBox="1"/>
          <p:nvPr/>
        </p:nvSpPr>
        <p:spPr>
          <a:xfrm>
            <a:off x="640080" y="3108960"/>
            <a:ext cx="1828800" cy="86868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6. Metrics v3</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统计指标</a:t>
            </a:r>
            <a:endParaRPr lang="en-US" sz="1250" dirty="0"/>
          </a:p>
        </p:txBody>
      </p:sp>
      <p:sp>
        <p:nvSpPr>
          <p:cNvPr id="23" name="Shape 21"/>
          <p:cNvSpPr/>
          <p:nvPr/>
        </p:nvSpPr>
        <p:spPr>
          <a:xfrm>
            <a:off x="2560320" y="3543300"/>
            <a:ext cx="274320" cy="0"/>
          </a:xfrm>
          <a:prstGeom prst="line">
            <a:avLst/>
          </a:prstGeom>
          <a:noFill/>
          <a:ln w="19050">
            <a:solidFill>
              <a:srgbClr val="0E7C6B"/>
            </a:solidFill>
            <a:prstDash val="solid"/>
            <a:tailEnd type="triangle"/>
          </a:ln>
        </p:spPr>
      </p:sp>
      <p:sp>
        <p:nvSpPr>
          <p:cNvPr id="24" name="Shape 22"/>
          <p:cNvSpPr/>
          <p:nvPr/>
        </p:nvSpPr>
        <p:spPr>
          <a:xfrm>
            <a:off x="2834640" y="3108960"/>
            <a:ext cx="2011680" cy="868680"/>
          </a:xfrm>
          <a:prstGeom prst="roundRect">
            <a:avLst>
              <a:gd name="adj" fmla="val 7368"/>
            </a:avLst>
          </a:prstGeom>
          <a:solidFill>
            <a:srgbClr val="FFFFFF"/>
          </a:solidFill>
          <a:ln w="12700">
            <a:solidFill>
              <a:srgbClr val="DCE3EB"/>
            </a:solidFill>
            <a:prstDash val="solid"/>
          </a:ln>
        </p:spPr>
      </p:sp>
      <p:sp>
        <p:nvSpPr>
          <p:cNvPr id="25" name="Text 23"/>
          <p:cNvSpPr txBox="1"/>
          <p:nvPr/>
        </p:nvSpPr>
        <p:spPr>
          <a:xfrm>
            <a:off x="2926080" y="3108960"/>
            <a:ext cx="1828800" cy="86868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7. Gaps &amp; brands</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缺口与品牌</a:t>
            </a:r>
            <a:endParaRPr lang="en-US" sz="1250" dirty="0"/>
          </a:p>
        </p:txBody>
      </p:sp>
      <p:sp>
        <p:nvSpPr>
          <p:cNvPr id="26" name="Shape 24"/>
          <p:cNvSpPr/>
          <p:nvPr/>
        </p:nvSpPr>
        <p:spPr>
          <a:xfrm>
            <a:off x="4846320" y="3543300"/>
            <a:ext cx="274320" cy="0"/>
          </a:xfrm>
          <a:prstGeom prst="line">
            <a:avLst/>
          </a:prstGeom>
          <a:noFill/>
          <a:ln w="19050">
            <a:solidFill>
              <a:srgbClr val="0E7C6B"/>
            </a:solidFill>
            <a:prstDash val="solid"/>
            <a:tailEnd type="triangle"/>
          </a:ln>
        </p:spPr>
      </p:sp>
      <p:sp>
        <p:nvSpPr>
          <p:cNvPr id="27" name="Shape 25"/>
          <p:cNvSpPr/>
          <p:nvPr/>
        </p:nvSpPr>
        <p:spPr>
          <a:xfrm>
            <a:off x="5120640" y="3108960"/>
            <a:ext cx="2011680" cy="868680"/>
          </a:xfrm>
          <a:prstGeom prst="roundRect">
            <a:avLst>
              <a:gd name="adj" fmla="val 7368"/>
            </a:avLst>
          </a:prstGeom>
          <a:solidFill>
            <a:srgbClr val="FFFFFF"/>
          </a:solidFill>
          <a:ln w="12700">
            <a:solidFill>
              <a:srgbClr val="DCE3EB"/>
            </a:solidFill>
            <a:prstDash val="solid"/>
          </a:ln>
        </p:spPr>
      </p:sp>
      <p:sp>
        <p:nvSpPr>
          <p:cNvPr id="28" name="Text 26"/>
          <p:cNvSpPr txBox="1"/>
          <p:nvPr/>
        </p:nvSpPr>
        <p:spPr>
          <a:xfrm>
            <a:off x="5212080" y="3108960"/>
            <a:ext cx="1828800" cy="86868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8. Graph &amp; vectors</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图谱与向量</a:t>
            </a:r>
            <a:endParaRPr lang="en-US" sz="1250" dirty="0"/>
          </a:p>
        </p:txBody>
      </p:sp>
      <p:sp>
        <p:nvSpPr>
          <p:cNvPr id="29" name="Shape 27"/>
          <p:cNvSpPr/>
          <p:nvPr/>
        </p:nvSpPr>
        <p:spPr>
          <a:xfrm>
            <a:off x="7132320" y="3543300"/>
            <a:ext cx="274320" cy="0"/>
          </a:xfrm>
          <a:prstGeom prst="line">
            <a:avLst/>
          </a:prstGeom>
          <a:noFill/>
          <a:ln w="19050">
            <a:solidFill>
              <a:srgbClr val="0E7C6B"/>
            </a:solidFill>
            <a:prstDash val="solid"/>
            <a:tailEnd type="triangle"/>
          </a:ln>
        </p:spPr>
      </p:sp>
      <p:sp>
        <p:nvSpPr>
          <p:cNvPr id="30" name="Shape 28"/>
          <p:cNvSpPr/>
          <p:nvPr/>
        </p:nvSpPr>
        <p:spPr>
          <a:xfrm>
            <a:off x="7406640" y="3108960"/>
            <a:ext cx="2011680" cy="868680"/>
          </a:xfrm>
          <a:prstGeom prst="roundRect">
            <a:avLst>
              <a:gd name="adj" fmla="val 7368"/>
            </a:avLst>
          </a:prstGeom>
          <a:solidFill>
            <a:srgbClr val="FFFFFF"/>
          </a:solidFill>
          <a:ln w="12700">
            <a:solidFill>
              <a:srgbClr val="DCE3EB"/>
            </a:solidFill>
            <a:prstDash val="solid"/>
          </a:ln>
        </p:spPr>
      </p:sp>
      <p:sp>
        <p:nvSpPr>
          <p:cNvPr id="31" name="Text 29"/>
          <p:cNvSpPr txBox="1"/>
          <p:nvPr/>
        </p:nvSpPr>
        <p:spPr>
          <a:xfrm>
            <a:off x="7498080" y="3108960"/>
            <a:ext cx="1828800" cy="86868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9. Lake write</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写入数据湖</a:t>
            </a:r>
            <a:endParaRPr lang="en-US" sz="1250" dirty="0"/>
          </a:p>
        </p:txBody>
      </p:sp>
      <p:sp>
        <p:nvSpPr>
          <p:cNvPr id="32" name="Shape 30"/>
          <p:cNvSpPr/>
          <p:nvPr/>
        </p:nvSpPr>
        <p:spPr>
          <a:xfrm>
            <a:off x="9418320" y="3543300"/>
            <a:ext cx="274320" cy="0"/>
          </a:xfrm>
          <a:prstGeom prst="line">
            <a:avLst/>
          </a:prstGeom>
          <a:noFill/>
          <a:ln w="19050">
            <a:solidFill>
              <a:srgbClr val="0E7C6B"/>
            </a:solidFill>
            <a:prstDash val="solid"/>
            <a:tailEnd type="triangle"/>
          </a:ln>
        </p:spPr>
      </p:sp>
      <p:sp>
        <p:nvSpPr>
          <p:cNvPr id="33" name="Shape 31"/>
          <p:cNvSpPr/>
          <p:nvPr/>
        </p:nvSpPr>
        <p:spPr>
          <a:xfrm>
            <a:off x="9692640" y="3108960"/>
            <a:ext cx="2011680" cy="868680"/>
          </a:xfrm>
          <a:prstGeom prst="roundRect">
            <a:avLst>
              <a:gd name="adj" fmla="val 7368"/>
            </a:avLst>
          </a:prstGeom>
          <a:solidFill>
            <a:srgbClr val="FFFFFF"/>
          </a:solidFill>
          <a:ln w="12700">
            <a:solidFill>
              <a:srgbClr val="DCE3EB"/>
            </a:solidFill>
            <a:prstDash val="solid"/>
          </a:ln>
        </p:spPr>
      </p:sp>
      <p:sp>
        <p:nvSpPr>
          <p:cNvPr id="34" name="Text 32"/>
          <p:cNvSpPr txBox="1"/>
          <p:nvPr/>
        </p:nvSpPr>
        <p:spPr>
          <a:xfrm>
            <a:off x="9784080" y="3108960"/>
            <a:ext cx="1828800" cy="86868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10. Significance</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显著性事件</a:t>
            </a:r>
            <a:endParaRPr lang="en-US" sz="1250" dirty="0"/>
          </a:p>
        </p:txBody>
      </p:sp>
      <p:sp>
        <p:nvSpPr>
          <p:cNvPr id="35" name="Shape 33"/>
          <p:cNvSpPr/>
          <p:nvPr/>
        </p:nvSpPr>
        <p:spPr>
          <a:xfrm>
            <a:off x="9966960" y="2651760"/>
            <a:ext cx="0" cy="182880"/>
          </a:xfrm>
          <a:prstGeom prst="line">
            <a:avLst/>
          </a:prstGeom>
          <a:noFill/>
          <a:ln w="19050">
            <a:solidFill>
              <a:srgbClr val="56667D"/>
            </a:solidFill>
            <a:prstDash val="solid"/>
            <a:tailEnd type="triangle"/>
          </a:ln>
        </p:spPr>
      </p:sp>
      <p:sp>
        <p:nvSpPr>
          <p:cNvPr id="36" name="Shape 34"/>
          <p:cNvSpPr/>
          <p:nvPr/>
        </p:nvSpPr>
        <p:spPr>
          <a:xfrm>
            <a:off x="9966960" y="2834640"/>
            <a:ext cx="-9418320" cy="0"/>
          </a:xfrm>
          <a:prstGeom prst="line">
            <a:avLst/>
          </a:prstGeom>
          <a:noFill/>
          <a:ln w="15875">
            <a:solidFill>
              <a:srgbClr val="56667D"/>
            </a:solidFill>
            <a:prstDash val="solid"/>
          </a:ln>
        </p:spPr>
      </p:sp>
      <p:sp>
        <p:nvSpPr>
          <p:cNvPr id="37" name="Shape 35"/>
          <p:cNvSpPr/>
          <p:nvPr/>
        </p:nvSpPr>
        <p:spPr>
          <a:xfrm>
            <a:off x="1554480" y="2834640"/>
            <a:ext cx="0" cy="274320"/>
          </a:xfrm>
          <a:prstGeom prst="line">
            <a:avLst/>
          </a:prstGeom>
          <a:noFill/>
          <a:ln w="19050">
            <a:solidFill>
              <a:srgbClr val="56667D"/>
            </a:solidFill>
            <a:prstDash val="solid"/>
            <a:tailEnd type="triangle"/>
          </a:ln>
        </p:spPr>
      </p:sp>
      <p:sp>
        <p:nvSpPr>
          <p:cNvPr id="38" name="Text 36"/>
          <p:cNvSpPr txBox="1"/>
          <p:nvPr/>
        </p:nvSpPr>
        <p:spPr>
          <a:xfrm>
            <a:off x="548640" y="4572000"/>
            <a:ext cx="548640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READ BY THE API AND UI</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由接口与前端读取</a:t>
            </a:r>
            <a:endParaRPr lang="en-US" sz="1000" dirty="0"/>
          </a:p>
        </p:txBody>
      </p:sp>
      <p:sp>
        <p:nvSpPr>
          <p:cNvPr id="39" name="Shape 37"/>
          <p:cNvSpPr/>
          <p:nvPr/>
        </p:nvSpPr>
        <p:spPr>
          <a:xfrm>
            <a:off x="548640" y="4892040"/>
            <a:ext cx="1691640" cy="685800"/>
          </a:xfrm>
          <a:prstGeom prst="roundRect">
            <a:avLst>
              <a:gd name="adj" fmla="val 9333"/>
            </a:avLst>
          </a:prstGeom>
          <a:solidFill>
            <a:srgbClr val="F4F6F9"/>
          </a:solidFill>
          <a:ln w="12700">
            <a:solidFill>
              <a:srgbClr val="DCE3EB"/>
            </a:solidFill>
            <a:prstDash val="solid"/>
          </a:ln>
        </p:spPr>
      </p:sp>
      <p:sp>
        <p:nvSpPr>
          <p:cNvPr id="40" name="Text 38"/>
          <p:cNvSpPr txBox="1"/>
          <p:nvPr/>
        </p:nvSpPr>
        <p:spPr>
          <a:xfrm>
            <a:off x="640080" y="4892040"/>
            <a:ext cx="1508760" cy="685800"/>
          </a:xfrm>
          <a:prstGeom prst="rect">
            <a:avLst/>
          </a:prstGeom>
          <a:noFill/>
          <a:ln/>
        </p:spPr>
        <p:txBody>
          <a:bodyPr wrap="square" lIns="0" tIns="0" rIns="0" bIns="0" rtlCol="0" anchor="ctr"/>
          <a:lstStyle/>
          <a:p>
            <a:pPr algn="ctr" indent="0" marL="0">
              <a:buNone/>
            </a:pPr>
            <a:r>
              <a:rPr lang="en-US" sz="1150" b="1" dirty="0">
                <a:solidFill>
                  <a:srgbClr val="16243A"/>
                </a:solidFill>
                <a:latin typeface="Calibri" pitchFamily="34" charset="0"/>
                <a:ea typeface="Calibri" pitchFamily="34" charset="-122"/>
                <a:cs typeface="Calibri" pitchFamily="34" charset="-120"/>
              </a:rPr>
              <a:t>Market Analytics</a:t>
            </a:r>
            <a:endParaRPr lang="en-US" sz="1150" dirty="0"/>
          </a:p>
          <a:p>
            <a:pPr algn="ctr" indent="0" marL="0">
              <a:buNone/>
            </a:pPr>
            <a:r>
              <a:rPr lang="en-US" sz="1000" dirty="0">
                <a:solidFill>
                  <a:srgbClr val="6A7890"/>
                </a:solidFill>
                <a:latin typeface="Microsoft YaHei" pitchFamily="34" charset="0"/>
                <a:ea typeface="Microsoft YaHei" pitchFamily="34" charset="-122"/>
                <a:cs typeface="Microsoft YaHei" pitchFamily="34" charset="-120"/>
              </a:rPr>
              <a:t>市场分析</a:t>
            </a:r>
            <a:endParaRPr lang="en-US" sz="1150" dirty="0"/>
          </a:p>
        </p:txBody>
      </p:sp>
      <p:sp>
        <p:nvSpPr>
          <p:cNvPr id="41" name="Shape 39"/>
          <p:cNvSpPr/>
          <p:nvPr/>
        </p:nvSpPr>
        <p:spPr>
          <a:xfrm>
            <a:off x="2423160" y="4892040"/>
            <a:ext cx="1691640" cy="685800"/>
          </a:xfrm>
          <a:prstGeom prst="roundRect">
            <a:avLst>
              <a:gd name="adj" fmla="val 9333"/>
            </a:avLst>
          </a:prstGeom>
          <a:solidFill>
            <a:srgbClr val="F4F6F9"/>
          </a:solidFill>
          <a:ln w="12700">
            <a:solidFill>
              <a:srgbClr val="DCE3EB"/>
            </a:solidFill>
            <a:prstDash val="solid"/>
          </a:ln>
        </p:spPr>
      </p:sp>
      <p:sp>
        <p:nvSpPr>
          <p:cNvPr id="42" name="Text 40"/>
          <p:cNvSpPr txBox="1"/>
          <p:nvPr/>
        </p:nvSpPr>
        <p:spPr>
          <a:xfrm>
            <a:off x="2514600" y="4892040"/>
            <a:ext cx="1508760" cy="685800"/>
          </a:xfrm>
          <a:prstGeom prst="rect">
            <a:avLst/>
          </a:prstGeom>
          <a:noFill/>
          <a:ln/>
        </p:spPr>
        <p:txBody>
          <a:bodyPr wrap="square" lIns="0" tIns="0" rIns="0" bIns="0" rtlCol="0" anchor="ctr"/>
          <a:lstStyle/>
          <a:p>
            <a:pPr algn="ctr" indent="0" marL="0">
              <a:buNone/>
            </a:pPr>
            <a:r>
              <a:rPr lang="en-US" sz="1150" b="1" dirty="0">
                <a:solidFill>
                  <a:srgbClr val="16243A"/>
                </a:solidFill>
                <a:latin typeface="Calibri" pitchFamily="34" charset="0"/>
                <a:ea typeface="Calibri" pitchFamily="34" charset="-122"/>
                <a:cs typeface="Calibri" pitchFamily="34" charset="-120"/>
              </a:rPr>
              <a:t>Opportunity Board</a:t>
            </a:r>
            <a:endParaRPr lang="en-US" sz="1150" dirty="0"/>
          </a:p>
          <a:p>
            <a:pPr algn="ctr" indent="0" marL="0">
              <a:buNone/>
            </a:pPr>
            <a:r>
              <a:rPr lang="en-US" sz="1000" dirty="0">
                <a:solidFill>
                  <a:srgbClr val="6A7890"/>
                </a:solidFill>
                <a:latin typeface="Microsoft YaHei" pitchFamily="34" charset="0"/>
                <a:ea typeface="Microsoft YaHei" pitchFamily="34" charset="-122"/>
                <a:cs typeface="Microsoft YaHei" pitchFamily="34" charset="-120"/>
              </a:rPr>
              <a:t>机会看板</a:t>
            </a:r>
            <a:endParaRPr lang="en-US" sz="1150" dirty="0"/>
          </a:p>
        </p:txBody>
      </p:sp>
      <p:sp>
        <p:nvSpPr>
          <p:cNvPr id="43" name="Shape 41"/>
          <p:cNvSpPr/>
          <p:nvPr/>
        </p:nvSpPr>
        <p:spPr>
          <a:xfrm>
            <a:off x="4297680" y="4892040"/>
            <a:ext cx="1691640" cy="685800"/>
          </a:xfrm>
          <a:prstGeom prst="roundRect">
            <a:avLst>
              <a:gd name="adj" fmla="val 9333"/>
            </a:avLst>
          </a:prstGeom>
          <a:solidFill>
            <a:srgbClr val="F4F6F9"/>
          </a:solidFill>
          <a:ln w="12700">
            <a:solidFill>
              <a:srgbClr val="DCE3EB"/>
            </a:solidFill>
            <a:prstDash val="solid"/>
          </a:ln>
        </p:spPr>
      </p:sp>
      <p:sp>
        <p:nvSpPr>
          <p:cNvPr id="44" name="Text 42"/>
          <p:cNvSpPr txBox="1"/>
          <p:nvPr/>
        </p:nvSpPr>
        <p:spPr>
          <a:xfrm>
            <a:off x="4389120" y="4892040"/>
            <a:ext cx="1508760" cy="685800"/>
          </a:xfrm>
          <a:prstGeom prst="rect">
            <a:avLst/>
          </a:prstGeom>
          <a:noFill/>
          <a:ln/>
        </p:spPr>
        <p:txBody>
          <a:bodyPr wrap="square" lIns="0" tIns="0" rIns="0" bIns="0" rtlCol="0" anchor="ctr"/>
          <a:lstStyle/>
          <a:p>
            <a:pPr algn="ctr" indent="0" marL="0">
              <a:buNone/>
            </a:pPr>
            <a:r>
              <a:rPr lang="en-US" sz="1150" b="1" dirty="0">
                <a:solidFill>
                  <a:srgbClr val="16243A"/>
                </a:solidFill>
                <a:latin typeface="Calibri" pitchFamily="34" charset="0"/>
                <a:ea typeface="Calibri" pitchFamily="34" charset="-122"/>
                <a:cs typeface="Calibri" pitchFamily="34" charset="-120"/>
              </a:rPr>
              <a:t>Launch Simulator</a:t>
            </a:r>
            <a:endParaRPr lang="en-US" sz="1150" dirty="0"/>
          </a:p>
          <a:p>
            <a:pPr algn="ctr" indent="0" marL="0">
              <a:buNone/>
            </a:pPr>
            <a:r>
              <a:rPr lang="en-US" sz="1000" dirty="0">
                <a:solidFill>
                  <a:srgbClr val="6A7890"/>
                </a:solidFill>
                <a:latin typeface="Microsoft YaHei" pitchFamily="34" charset="0"/>
                <a:ea typeface="Microsoft YaHei" pitchFamily="34" charset="-122"/>
                <a:cs typeface="Microsoft YaHei" pitchFamily="34" charset="-120"/>
              </a:rPr>
              <a:t>上市模拟</a:t>
            </a:r>
            <a:endParaRPr lang="en-US" sz="1150" dirty="0"/>
          </a:p>
        </p:txBody>
      </p:sp>
      <p:sp>
        <p:nvSpPr>
          <p:cNvPr id="45" name="Shape 43"/>
          <p:cNvSpPr/>
          <p:nvPr/>
        </p:nvSpPr>
        <p:spPr>
          <a:xfrm>
            <a:off x="6172200" y="4892040"/>
            <a:ext cx="1691640" cy="685800"/>
          </a:xfrm>
          <a:prstGeom prst="roundRect">
            <a:avLst>
              <a:gd name="adj" fmla="val 9333"/>
            </a:avLst>
          </a:prstGeom>
          <a:solidFill>
            <a:srgbClr val="F4F6F9"/>
          </a:solidFill>
          <a:ln w="12700">
            <a:solidFill>
              <a:srgbClr val="DCE3EB"/>
            </a:solidFill>
            <a:prstDash val="solid"/>
          </a:ln>
        </p:spPr>
      </p:sp>
      <p:sp>
        <p:nvSpPr>
          <p:cNvPr id="46" name="Text 44"/>
          <p:cNvSpPr txBox="1"/>
          <p:nvPr/>
        </p:nvSpPr>
        <p:spPr>
          <a:xfrm>
            <a:off x="6263640" y="4892040"/>
            <a:ext cx="1508760" cy="685800"/>
          </a:xfrm>
          <a:prstGeom prst="rect">
            <a:avLst/>
          </a:prstGeom>
          <a:noFill/>
          <a:ln/>
        </p:spPr>
        <p:txBody>
          <a:bodyPr wrap="square" lIns="0" tIns="0" rIns="0" bIns="0" rtlCol="0" anchor="ctr"/>
          <a:lstStyle/>
          <a:p>
            <a:pPr algn="ctr" indent="0" marL="0">
              <a:buNone/>
            </a:pPr>
            <a:r>
              <a:rPr lang="en-US" sz="1150" b="1" dirty="0">
                <a:solidFill>
                  <a:srgbClr val="16243A"/>
                </a:solidFill>
                <a:latin typeface="Calibri" pitchFamily="34" charset="0"/>
                <a:ea typeface="Calibri" pitchFamily="34" charset="-122"/>
                <a:cs typeface="Calibri" pitchFamily="34" charset="-120"/>
              </a:rPr>
              <a:t>Competitors</a:t>
            </a:r>
            <a:endParaRPr lang="en-US" sz="1150" dirty="0"/>
          </a:p>
          <a:p>
            <a:pPr algn="ctr" indent="0" marL="0">
              <a:buNone/>
            </a:pPr>
            <a:r>
              <a:rPr lang="en-US" sz="1000" dirty="0">
                <a:solidFill>
                  <a:srgbClr val="6A7890"/>
                </a:solidFill>
                <a:latin typeface="Microsoft YaHei" pitchFamily="34" charset="0"/>
                <a:ea typeface="Microsoft YaHei" pitchFamily="34" charset="-122"/>
                <a:cs typeface="Microsoft YaHei" pitchFamily="34" charset="-120"/>
              </a:rPr>
              <a:t>竞争分析</a:t>
            </a:r>
            <a:endParaRPr lang="en-US" sz="1150" dirty="0"/>
          </a:p>
        </p:txBody>
      </p:sp>
      <p:sp>
        <p:nvSpPr>
          <p:cNvPr id="47" name="Shape 45"/>
          <p:cNvSpPr/>
          <p:nvPr/>
        </p:nvSpPr>
        <p:spPr>
          <a:xfrm>
            <a:off x="8046720" y="4892040"/>
            <a:ext cx="1691640" cy="685800"/>
          </a:xfrm>
          <a:prstGeom prst="roundRect">
            <a:avLst>
              <a:gd name="adj" fmla="val 9333"/>
            </a:avLst>
          </a:prstGeom>
          <a:solidFill>
            <a:srgbClr val="F4F6F9"/>
          </a:solidFill>
          <a:ln w="12700">
            <a:solidFill>
              <a:srgbClr val="DCE3EB"/>
            </a:solidFill>
            <a:prstDash val="solid"/>
          </a:ln>
        </p:spPr>
      </p:sp>
      <p:sp>
        <p:nvSpPr>
          <p:cNvPr id="48" name="Text 46"/>
          <p:cNvSpPr txBox="1"/>
          <p:nvPr/>
        </p:nvSpPr>
        <p:spPr>
          <a:xfrm>
            <a:off x="8138160" y="4892040"/>
            <a:ext cx="1508760" cy="685800"/>
          </a:xfrm>
          <a:prstGeom prst="rect">
            <a:avLst/>
          </a:prstGeom>
          <a:noFill/>
          <a:ln/>
        </p:spPr>
        <p:txBody>
          <a:bodyPr wrap="square" lIns="0" tIns="0" rIns="0" bIns="0" rtlCol="0" anchor="ctr"/>
          <a:lstStyle/>
          <a:p>
            <a:pPr algn="ctr" indent="0" marL="0">
              <a:buNone/>
            </a:pPr>
            <a:r>
              <a:rPr lang="en-US" sz="1150" b="1" dirty="0">
                <a:solidFill>
                  <a:srgbClr val="16243A"/>
                </a:solidFill>
                <a:latin typeface="Calibri" pitchFamily="34" charset="0"/>
                <a:ea typeface="Calibri" pitchFamily="34" charset="-122"/>
                <a:cs typeface="Calibri" pitchFamily="34" charset="-120"/>
              </a:rPr>
              <a:t>Analyst</a:t>
            </a:r>
            <a:endParaRPr lang="en-US" sz="1150" dirty="0"/>
          </a:p>
          <a:p>
            <a:pPr algn="ctr" indent="0" marL="0">
              <a:buNone/>
            </a:pPr>
            <a:r>
              <a:rPr lang="en-US" sz="1000" dirty="0">
                <a:solidFill>
                  <a:srgbClr val="6A7890"/>
                </a:solidFill>
                <a:latin typeface="Microsoft YaHei" pitchFamily="34" charset="0"/>
                <a:ea typeface="Microsoft YaHei" pitchFamily="34" charset="-122"/>
                <a:cs typeface="Microsoft YaHei" pitchFamily="34" charset="-120"/>
              </a:rPr>
              <a:t>分析师</a:t>
            </a:r>
            <a:endParaRPr lang="en-US" sz="1150" dirty="0"/>
          </a:p>
        </p:txBody>
      </p:sp>
      <p:sp>
        <p:nvSpPr>
          <p:cNvPr id="49" name="Shape 47"/>
          <p:cNvSpPr/>
          <p:nvPr/>
        </p:nvSpPr>
        <p:spPr>
          <a:xfrm>
            <a:off x="9921240" y="4892040"/>
            <a:ext cx="1691640" cy="685800"/>
          </a:xfrm>
          <a:prstGeom prst="roundRect">
            <a:avLst>
              <a:gd name="adj" fmla="val 9333"/>
            </a:avLst>
          </a:prstGeom>
          <a:solidFill>
            <a:srgbClr val="F4F6F9"/>
          </a:solidFill>
          <a:ln w="12700">
            <a:solidFill>
              <a:srgbClr val="DCE3EB"/>
            </a:solidFill>
            <a:prstDash val="solid"/>
          </a:ln>
        </p:spPr>
      </p:sp>
      <p:sp>
        <p:nvSpPr>
          <p:cNvPr id="50" name="Text 48"/>
          <p:cNvSpPr txBox="1"/>
          <p:nvPr/>
        </p:nvSpPr>
        <p:spPr>
          <a:xfrm>
            <a:off x="10012680" y="4892040"/>
            <a:ext cx="1508760" cy="685800"/>
          </a:xfrm>
          <a:prstGeom prst="rect">
            <a:avLst/>
          </a:prstGeom>
          <a:noFill/>
          <a:ln/>
        </p:spPr>
        <p:txBody>
          <a:bodyPr wrap="square" lIns="0" tIns="0" rIns="0" bIns="0" rtlCol="0" anchor="ctr"/>
          <a:lstStyle/>
          <a:p>
            <a:pPr algn="ctr" indent="0" marL="0">
              <a:buNone/>
            </a:pPr>
            <a:r>
              <a:rPr lang="en-US" sz="1150" b="1" dirty="0">
                <a:solidFill>
                  <a:srgbClr val="16243A"/>
                </a:solidFill>
                <a:latin typeface="Calibri" pitchFamily="34" charset="0"/>
                <a:ea typeface="Calibri" pitchFamily="34" charset="-122"/>
                <a:cs typeface="Calibri" pitchFamily="34" charset="-120"/>
              </a:rPr>
              <a:t>Alerts</a:t>
            </a:r>
            <a:endParaRPr lang="en-US" sz="1150" dirty="0"/>
          </a:p>
          <a:p>
            <a:pPr algn="ctr" indent="0" marL="0">
              <a:buNone/>
            </a:pPr>
            <a:r>
              <a:rPr lang="en-US" sz="1000" dirty="0">
                <a:solidFill>
                  <a:srgbClr val="6A7890"/>
                </a:solidFill>
                <a:latin typeface="Microsoft YaHei" pitchFamily="34" charset="0"/>
                <a:ea typeface="Microsoft YaHei" pitchFamily="34" charset="-122"/>
                <a:cs typeface="Microsoft YaHei" pitchFamily="34" charset="-120"/>
              </a:rPr>
              <a:t>预警</a:t>
            </a:r>
            <a:endParaRPr lang="en-US" sz="1150" dirty="0"/>
          </a:p>
        </p:txBody>
      </p:sp>
      <p:sp>
        <p:nvSpPr>
          <p:cNvPr id="51" name="Text 49"/>
          <p:cNvSpPr txBox="1"/>
          <p:nvPr/>
        </p:nvSpPr>
        <p:spPr>
          <a:xfrm>
            <a:off x="548640" y="5760720"/>
            <a:ext cx="11064240" cy="566928"/>
          </a:xfrm>
          <a:prstGeom prst="rect">
            <a:avLst/>
          </a:prstGeom>
          <a:noFill/>
          <a:ln/>
        </p:spPr>
        <p:txBody>
          <a:bodyPr wrap="square" lIns="0" tIns="0" rIns="0" bIns="0" rtlCol="0" anchor="ctr"/>
          <a:lstStyle/>
          <a:p>
            <a:pPr indent="0" marL="0">
              <a:buNone/>
            </a:pPr>
            <a:r>
              <a:rPr lang="en-US" sz="1150" i="1" dirty="0">
                <a:solidFill>
                  <a:srgbClr val="56667D"/>
                </a:solidFill>
                <a:latin typeface="Calibri" pitchFamily="34" charset="0"/>
                <a:ea typeface="Calibri" pitchFamily="34" charset="-122"/>
                <a:cs typeface="Calibri" pitchFamily="34" charset="-120"/>
              </a:rPr>
              <a:t>runner.py executes the stages in order inside one tracked job; every stage writes status, seconds and peak memory. Pages never compute statistics — they read the tables the stages wrote.</a:t>
            </a:r>
            <a:endParaRPr lang="en-US" sz="115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runner.py 在一个受跟踪的任务中按顺序执行各阶段，并记录状态、耗时与内存峰值。页面不做统计计算，只读取各阶段写入的数据表。</a:t>
            </a:r>
            <a:endParaRPr lang="en-US" sz="1150" dirty="0"/>
          </a:p>
        </p:txBody>
      </p:sp>
      <p:sp>
        <p:nvSpPr>
          <p:cNvPr id="52" name="Text 50"/>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RUNTIME ARCHITECTURE</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运行时架构</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Processes, ports and the request path</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进程、端口与请求路径</a:t>
            </a:r>
            <a:endParaRPr lang="en-US" sz="1500" dirty="0"/>
          </a:p>
        </p:txBody>
      </p:sp>
      <p:sp>
        <p:nvSpPr>
          <p:cNvPr id="7" name="Shape 5"/>
          <p:cNvSpPr/>
          <p:nvPr/>
        </p:nvSpPr>
        <p:spPr>
          <a:xfrm>
            <a:off x="548640" y="1737360"/>
            <a:ext cx="2377440" cy="777240"/>
          </a:xfrm>
          <a:prstGeom prst="roundRect">
            <a:avLst>
              <a:gd name="adj" fmla="val 8235"/>
            </a:avLst>
          </a:prstGeom>
          <a:solidFill>
            <a:srgbClr val="FFFFFF"/>
          </a:solidFill>
          <a:ln w="12700">
            <a:solidFill>
              <a:srgbClr val="DCE3EB"/>
            </a:solidFill>
            <a:prstDash val="solid"/>
          </a:ln>
        </p:spPr>
      </p:sp>
      <p:sp>
        <p:nvSpPr>
          <p:cNvPr id="8" name="Text 6"/>
          <p:cNvSpPr txBox="1"/>
          <p:nvPr/>
        </p:nvSpPr>
        <p:spPr>
          <a:xfrm>
            <a:off x="640080" y="1737360"/>
            <a:ext cx="2194560" cy="77724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Browser</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浏览器 · React 客户端组件</a:t>
            </a:r>
            <a:endParaRPr lang="en-US" sz="1250" dirty="0"/>
          </a:p>
          <a:p>
            <a:pPr algn="l" indent="0" marL="0">
              <a:buNone/>
            </a:pPr>
            <a:r>
              <a:rPr lang="en-US" sz="1000" dirty="0">
                <a:solidFill>
                  <a:srgbClr val="56667D"/>
                </a:solidFill>
                <a:latin typeface="Calibri" pitchFamily="34" charset="0"/>
                <a:ea typeface="Calibri" pitchFamily="34" charset="-122"/>
                <a:cs typeface="Calibri" pitchFamily="34" charset="-120"/>
              </a:rPr>
              <a:t>useApi() → fetch('/api/v2/…')</a:t>
            </a:r>
            <a:endParaRPr lang="en-US" sz="1250" dirty="0"/>
          </a:p>
        </p:txBody>
      </p:sp>
      <p:sp>
        <p:nvSpPr>
          <p:cNvPr id="9" name="Shape 7"/>
          <p:cNvSpPr/>
          <p:nvPr/>
        </p:nvSpPr>
        <p:spPr>
          <a:xfrm>
            <a:off x="548640" y="2880360"/>
            <a:ext cx="2377440" cy="777240"/>
          </a:xfrm>
          <a:prstGeom prst="roundRect">
            <a:avLst>
              <a:gd name="adj" fmla="val 8235"/>
            </a:avLst>
          </a:prstGeom>
          <a:solidFill>
            <a:srgbClr val="FFFFFF"/>
          </a:solidFill>
          <a:ln w="12700">
            <a:solidFill>
              <a:srgbClr val="DCE3EB"/>
            </a:solidFill>
            <a:prstDash val="solid"/>
          </a:ln>
        </p:spPr>
      </p:sp>
      <p:sp>
        <p:nvSpPr>
          <p:cNvPr id="10" name="Text 8"/>
          <p:cNvSpPr txBox="1"/>
          <p:nvPr/>
        </p:nvSpPr>
        <p:spPr>
          <a:xfrm>
            <a:off x="640080" y="2880360"/>
            <a:ext cx="2194560" cy="77724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Next.js server  :3000</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Next.js 服务 · 同源代理</a:t>
            </a:r>
            <a:endParaRPr lang="en-US" sz="1250" dirty="0"/>
          </a:p>
          <a:p>
            <a:pPr algn="l" indent="0" marL="0">
              <a:buNone/>
            </a:pPr>
            <a:r>
              <a:rPr lang="en-US" sz="1000" dirty="0">
                <a:solidFill>
                  <a:srgbClr val="56667D"/>
                </a:solidFill>
                <a:latin typeface="Calibri" pitchFamily="34" charset="0"/>
                <a:ea typeface="Calibri" pitchFamily="34" charset="-122"/>
                <a:cs typeface="Calibri" pitchFamily="34" charset="-120"/>
              </a:rPr>
              <a:t>rewrites /api/v2/* → DIP_API_URL</a:t>
            </a:r>
            <a:endParaRPr lang="en-US" sz="1250" dirty="0"/>
          </a:p>
        </p:txBody>
      </p:sp>
      <p:sp>
        <p:nvSpPr>
          <p:cNvPr id="11" name="Shape 9"/>
          <p:cNvSpPr/>
          <p:nvPr/>
        </p:nvSpPr>
        <p:spPr>
          <a:xfrm>
            <a:off x="1737360" y="2514600"/>
            <a:ext cx="0" cy="365760"/>
          </a:xfrm>
          <a:prstGeom prst="line">
            <a:avLst/>
          </a:prstGeom>
          <a:noFill/>
          <a:ln w="19050">
            <a:solidFill>
              <a:srgbClr val="0E7C6B"/>
            </a:solidFill>
            <a:prstDash val="solid"/>
            <a:tailEnd type="triangle"/>
          </a:ln>
        </p:spPr>
      </p:sp>
      <p:sp>
        <p:nvSpPr>
          <p:cNvPr id="12" name="Shape 10"/>
          <p:cNvSpPr/>
          <p:nvPr/>
        </p:nvSpPr>
        <p:spPr>
          <a:xfrm>
            <a:off x="3383280" y="2194560"/>
            <a:ext cx="2834640" cy="1463040"/>
          </a:xfrm>
          <a:prstGeom prst="roundRect">
            <a:avLst>
              <a:gd name="adj" fmla="val 4375"/>
            </a:avLst>
          </a:prstGeom>
          <a:solidFill>
            <a:srgbClr val="E3F2EF"/>
          </a:solidFill>
          <a:ln w="12700">
            <a:solidFill>
              <a:srgbClr val="0E7C6B"/>
            </a:solidFill>
            <a:prstDash val="solid"/>
          </a:ln>
        </p:spPr>
      </p:sp>
      <p:sp>
        <p:nvSpPr>
          <p:cNvPr id="13" name="Text 11"/>
          <p:cNvSpPr txBox="1"/>
          <p:nvPr/>
        </p:nvSpPr>
        <p:spPr>
          <a:xfrm>
            <a:off x="3474720" y="2194560"/>
            <a:ext cx="2651760" cy="146304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FastAPI  :8000</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FastAPI 应用 (src/dip/api/app.py)</a:t>
            </a:r>
            <a:endParaRPr lang="en-US" sz="1250" dirty="0"/>
          </a:p>
          <a:p>
            <a:pPr algn="l" indent="0" marL="0">
              <a:buNone/>
            </a:pPr>
            <a:r>
              <a:rPr lang="en-US" sz="1000" dirty="0">
                <a:solidFill>
                  <a:srgbClr val="56667D"/>
                </a:solidFill>
                <a:latin typeface="Calibri" pitchFamily="34" charset="0"/>
                <a:ea typeface="Calibri" pitchFamily="34" charset="-122"/>
                <a:cs typeface="Calibri" pitchFamily="34" charset="-120"/>
              </a:rPr>
              <a:t>middleware: CORS · audit · auth</a:t>
            </a:r>
            <a:endParaRPr lang="en-US" sz="1250" dirty="0"/>
          </a:p>
          <a:p>
            <a:pPr algn="l" indent="0" marL="0">
              <a:buNone/>
            </a:pPr>
            <a:r>
              <a:rPr lang="en-US" sz="1000" dirty="0">
                <a:solidFill>
                  <a:srgbClr val="56667D"/>
                </a:solidFill>
                <a:latin typeface="Calibri" pitchFamily="34" charset="0"/>
                <a:ea typeface="Calibri" pitchFamily="34" charset="-122"/>
                <a:cs typeface="Calibri" pitchFamily="34" charset="-120"/>
              </a:rPr>
              <a:t>routes: metrics, catalog, intelligence, enterprise, workflow, operations, people, pilot, orgs, auth</a:t>
            </a:r>
            <a:endParaRPr lang="en-US" sz="1250" dirty="0"/>
          </a:p>
        </p:txBody>
      </p:sp>
      <p:sp>
        <p:nvSpPr>
          <p:cNvPr id="14" name="Shape 12"/>
          <p:cNvSpPr/>
          <p:nvPr/>
        </p:nvSpPr>
        <p:spPr>
          <a:xfrm>
            <a:off x="2926080" y="3246120"/>
            <a:ext cx="457200" cy="-137160"/>
          </a:xfrm>
          <a:prstGeom prst="line">
            <a:avLst/>
          </a:prstGeom>
          <a:noFill/>
          <a:ln w="19050">
            <a:solidFill>
              <a:srgbClr val="0E7C6B"/>
            </a:solidFill>
            <a:prstDash val="solid"/>
            <a:tailEnd type="triangle"/>
          </a:ln>
        </p:spPr>
      </p:sp>
      <p:sp>
        <p:nvSpPr>
          <p:cNvPr id="15" name="Shape 13"/>
          <p:cNvSpPr/>
          <p:nvPr/>
        </p:nvSpPr>
        <p:spPr>
          <a:xfrm>
            <a:off x="6766560" y="1645920"/>
            <a:ext cx="2468880" cy="603504"/>
          </a:xfrm>
          <a:prstGeom prst="roundRect">
            <a:avLst>
              <a:gd name="adj" fmla="val 10606"/>
            </a:avLst>
          </a:prstGeom>
          <a:solidFill>
            <a:srgbClr val="FFFFFF"/>
          </a:solidFill>
          <a:ln w="12700">
            <a:solidFill>
              <a:srgbClr val="DCE3EB"/>
            </a:solidFill>
            <a:prstDash val="solid"/>
          </a:ln>
        </p:spPr>
      </p:sp>
      <p:sp>
        <p:nvSpPr>
          <p:cNvPr id="16" name="Text 14"/>
          <p:cNvSpPr txBox="1"/>
          <p:nvPr/>
        </p:nvSpPr>
        <p:spPr>
          <a:xfrm>
            <a:off x="6858000" y="1645920"/>
            <a:ext cx="2286000" cy="603504"/>
          </a:xfrm>
          <a:prstGeom prst="rect">
            <a:avLst/>
          </a:prstGeom>
          <a:noFill/>
          <a:ln/>
        </p:spPr>
        <p:txBody>
          <a:bodyPr wrap="square" lIns="0" tIns="0" rIns="0" bIns="0" rtlCol="0" anchor="ctr"/>
          <a:lstStyle/>
          <a:p>
            <a:pPr algn="l" indent="0" marL="0">
              <a:buNone/>
            </a:pPr>
            <a:r>
              <a:rPr lang="en-US" sz="1150" b="1" dirty="0">
                <a:solidFill>
                  <a:srgbClr val="16243A"/>
                </a:solidFill>
                <a:latin typeface="Calibri" pitchFamily="34" charset="0"/>
                <a:ea typeface="Calibri" pitchFamily="34" charset="-122"/>
                <a:cs typeface="Calibri" pitchFamily="34" charset="-120"/>
              </a:rPr>
              <a:t>Parquet lake + DuckDB</a:t>
            </a:r>
            <a:endParaRPr lang="en-US" sz="11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数据湖（Parquet + DuckDB）</a:t>
            </a:r>
            <a:endParaRPr lang="en-US" sz="1150" dirty="0"/>
          </a:p>
        </p:txBody>
      </p:sp>
      <p:sp>
        <p:nvSpPr>
          <p:cNvPr id="17" name="Shape 15"/>
          <p:cNvSpPr/>
          <p:nvPr/>
        </p:nvSpPr>
        <p:spPr>
          <a:xfrm>
            <a:off x="6217920" y="2926080"/>
            <a:ext cx="548640" cy="-978408"/>
          </a:xfrm>
          <a:prstGeom prst="line">
            <a:avLst/>
          </a:prstGeom>
          <a:noFill/>
          <a:ln w="19050">
            <a:solidFill>
              <a:srgbClr val="0E7C6B"/>
            </a:solidFill>
            <a:prstDash val="solid"/>
            <a:tailEnd type="triangle"/>
          </a:ln>
        </p:spPr>
      </p:sp>
      <p:sp>
        <p:nvSpPr>
          <p:cNvPr id="18" name="Shape 16"/>
          <p:cNvSpPr/>
          <p:nvPr/>
        </p:nvSpPr>
        <p:spPr>
          <a:xfrm>
            <a:off x="6766560" y="2359152"/>
            <a:ext cx="2468880" cy="603504"/>
          </a:xfrm>
          <a:prstGeom prst="roundRect">
            <a:avLst>
              <a:gd name="adj" fmla="val 10606"/>
            </a:avLst>
          </a:prstGeom>
          <a:solidFill>
            <a:srgbClr val="FFFFFF"/>
          </a:solidFill>
          <a:ln w="12700">
            <a:solidFill>
              <a:srgbClr val="DCE3EB"/>
            </a:solidFill>
            <a:prstDash val="solid"/>
          </a:ln>
        </p:spPr>
      </p:sp>
      <p:sp>
        <p:nvSpPr>
          <p:cNvPr id="19" name="Text 17"/>
          <p:cNvSpPr txBox="1"/>
          <p:nvPr/>
        </p:nvSpPr>
        <p:spPr>
          <a:xfrm>
            <a:off x="6858000" y="2359152"/>
            <a:ext cx="2286000" cy="603504"/>
          </a:xfrm>
          <a:prstGeom prst="rect">
            <a:avLst/>
          </a:prstGeom>
          <a:noFill/>
          <a:ln/>
        </p:spPr>
        <p:txBody>
          <a:bodyPr wrap="square" lIns="0" tIns="0" rIns="0" bIns="0" rtlCol="0" anchor="ctr"/>
          <a:lstStyle/>
          <a:p>
            <a:pPr algn="l" indent="0" marL="0">
              <a:buNone/>
            </a:pPr>
            <a:r>
              <a:rPr lang="en-US" sz="1150" b="1" dirty="0">
                <a:solidFill>
                  <a:srgbClr val="16243A"/>
                </a:solidFill>
                <a:latin typeface="Calibri" pitchFamily="34" charset="0"/>
                <a:ea typeface="Calibri" pitchFamily="34" charset="-122"/>
                <a:cs typeface="Calibri" pitchFamily="34" charset="-120"/>
              </a:rPr>
              <a:t>Business DB (SQLAlchemy)</a:t>
            </a:r>
            <a:endParaRPr lang="en-US" sz="11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业务库（SQLAlchemy）</a:t>
            </a:r>
            <a:endParaRPr lang="en-US" sz="1150" dirty="0"/>
          </a:p>
        </p:txBody>
      </p:sp>
      <p:sp>
        <p:nvSpPr>
          <p:cNvPr id="20" name="Shape 18"/>
          <p:cNvSpPr/>
          <p:nvPr/>
        </p:nvSpPr>
        <p:spPr>
          <a:xfrm>
            <a:off x="6217920" y="2926080"/>
            <a:ext cx="548640" cy="-265176"/>
          </a:xfrm>
          <a:prstGeom prst="line">
            <a:avLst/>
          </a:prstGeom>
          <a:noFill/>
          <a:ln w="19050">
            <a:solidFill>
              <a:srgbClr val="0E7C6B"/>
            </a:solidFill>
            <a:prstDash val="solid"/>
            <a:tailEnd type="triangle"/>
          </a:ln>
        </p:spPr>
      </p:sp>
      <p:sp>
        <p:nvSpPr>
          <p:cNvPr id="21" name="Shape 19"/>
          <p:cNvSpPr/>
          <p:nvPr/>
        </p:nvSpPr>
        <p:spPr>
          <a:xfrm>
            <a:off x="6766560" y="3072384"/>
            <a:ext cx="2468880" cy="603504"/>
          </a:xfrm>
          <a:prstGeom prst="roundRect">
            <a:avLst>
              <a:gd name="adj" fmla="val 10606"/>
            </a:avLst>
          </a:prstGeom>
          <a:solidFill>
            <a:srgbClr val="FFFFFF"/>
          </a:solidFill>
          <a:ln w="12700">
            <a:solidFill>
              <a:srgbClr val="DCE3EB"/>
            </a:solidFill>
            <a:prstDash val="solid"/>
          </a:ln>
        </p:spPr>
      </p:sp>
      <p:sp>
        <p:nvSpPr>
          <p:cNvPr id="22" name="Text 20"/>
          <p:cNvSpPr txBox="1"/>
          <p:nvPr/>
        </p:nvSpPr>
        <p:spPr>
          <a:xfrm>
            <a:off x="6858000" y="3072384"/>
            <a:ext cx="2286000" cy="603504"/>
          </a:xfrm>
          <a:prstGeom prst="rect">
            <a:avLst/>
          </a:prstGeom>
          <a:noFill/>
          <a:ln/>
        </p:spPr>
        <p:txBody>
          <a:bodyPr wrap="square" lIns="0" tIns="0" rIns="0" bIns="0" rtlCol="0" anchor="ctr"/>
          <a:lstStyle/>
          <a:p>
            <a:pPr algn="l" indent="0" marL="0">
              <a:buNone/>
            </a:pPr>
            <a:r>
              <a:rPr lang="en-US" sz="1150" b="1" dirty="0">
                <a:solidFill>
                  <a:srgbClr val="16243A"/>
                </a:solidFill>
                <a:latin typeface="Calibri" pitchFamily="34" charset="0"/>
                <a:ea typeface="Calibri" pitchFamily="34" charset="-122"/>
                <a:cs typeface="Calibri" pitchFamily="34" charset="-120"/>
              </a:rPr>
              <a:t>Graph store</a:t>
            </a:r>
            <a:endParaRPr lang="en-US" sz="11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图存储</a:t>
            </a:r>
            <a:endParaRPr lang="en-US" sz="1150" dirty="0"/>
          </a:p>
        </p:txBody>
      </p:sp>
      <p:sp>
        <p:nvSpPr>
          <p:cNvPr id="23" name="Shape 21"/>
          <p:cNvSpPr/>
          <p:nvPr/>
        </p:nvSpPr>
        <p:spPr>
          <a:xfrm>
            <a:off x="6217920" y="2926080"/>
            <a:ext cx="548640" cy="448056"/>
          </a:xfrm>
          <a:prstGeom prst="line">
            <a:avLst/>
          </a:prstGeom>
          <a:noFill/>
          <a:ln w="19050">
            <a:solidFill>
              <a:srgbClr val="0E7C6B"/>
            </a:solidFill>
            <a:prstDash val="solid"/>
            <a:tailEnd type="triangle"/>
          </a:ln>
        </p:spPr>
      </p:sp>
      <p:sp>
        <p:nvSpPr>
          <p:cNvPr id="24" name="Shape 22"/>
          <p:cNvSpPr/>
          <p:nvPr/>
        </p:nvSpPr>
        <p:spPr>
          <a:xfrm>
            <a:off x="6766560" y="3785616"/>
            <a:ext cx="2468880" cy="603504"/>
          </a:xfrm>
          <a:prstGeom prst="roundRect">
            <a:avLst>
              <a:gd name="adj" fmla="val 10606"/>
            </a:avLst>
          </a:prstGeom>
          <a:solidFill>
            <a:srgbClr val="FFFFFF"/>
          </a:solidFill>
          <a:ln w="12700">
            <a:solidFill>
              <a:srgbClr val="DCE3EB"/>
            </a:solidFill>
            <a:prstDash val="solid"/>
          </a:ln>
        </p:spPr>
      </p:sp>
      <p:sp>
        <p:nvSpPr>
          <p:cNvPr id="25" name="Text 23"/>
          <p:cNvSpPr txBox="1"/>
          <p:nvPr/>
        </p:nvSpPr>
        <p:spPr>
          <a:xfrm>
            <a:off x="6858000" y="3785616"/>
            <a:ext cx="2286000" cy="603504"/>
          </a:xfrm>
          <a:prstGeom prst="rect">
            <a:avLst/>
          </a:prstGeom>
          <a:noFill/>
          <a:ln/>
        </p:spPr>
        <p:txBody>
          <a:bodyPr wrap="square" lIns="0" tIns="0" rIns="0" bIns="0" rtlCol="0" anchor="ctr"/>
          <a:lstStyle/>
          <a:p>
            <a:pPr algn="l" indent="0" marL="0">
              <a:buNone/>
            </a:pPr>
            <a:r>
              <a:rPr lang="en-US" sz="1150" b="1" dirty="0">
                <a:solidFill>
                  <a:srgbClr val="16243A"/>
                </a:solidFill>
                <a:latin typeface="Calibri" pitchFamily="34" charset="0"/>
                <a:ea typeface="Calibri" pitchFamily="34" charset="-122"/>
                <a:cs typeface="Calibri" pitchFamily="34" charset="-120"/>
              </a:rPr>
              <a:t>Vector store</a:t>
            </a:r>
            <a:endParaRPr lang="en-US" sz="11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向量存储</a:t>
            </a:r>
            <a:endParaRPr lang="en-US" sz="1150" dirty="0"/>
          </a:p>
        </p:txBody>
      </p:sp>
      <p:sp>
        <p:nvSpPr>
          <p:cNvPr id="26" name="Shape 24"/>
          <p:cNvSpPr/>
          <p:nvPr/>
        </p:nvSpPr>
        <p:spPr>
          <a:xfrm>
            <a:off x="6217920" y="2926080"/>
            <a:ext cx="548640" cy="1161288"/>
          </a:xfrm>
          <a:prstGeom prst="line">
            <a:avLst/>
          </a:prstGeom>
          <a:noFill/>
          <a:ln w="19050">
            <a:solidFill>
              <a:srgbClr val="0E7C6B"/>
            </a:solidFill>
            <a:prstDash val="solid"/>
            <a:tailEnd type="triangle"/>
          </a:ln>
        </p:spPr>
      </p:sp>
      <p:sp>
        <p:nvSpPr>
          <p:cNvPr id="27" name="Shape 25"/>
          <p:cNvSpPr/>
          <p:nvPr/>
        </p:nvSpPr>
        <p:spPr>
          <a:xfrm>
            <a:off x="3383280" y="4114800"/>
            <a:ext cx="2834640" cy="868680"/>
          </a:xfrm>
          <a:prstGeom prst="roundRect">
            <a:avLst>
              <a:gd name="adj" fmla="val 7368"/>
            </a:avLst>
          </a:prstGeom>
          <a:solidFill>
            <a:srgbClr val="FFF7E6"/>
          </a:solidFill>
          <a:ln w="12700">
            <a:solidFill>
              <a:srgbClr val="E9C98A"/>
            </a:solidFill>
            <a:prstDash val="solid"/>
          </a:ln>
        </p:spPr>
      </p:sp>
      <p:sp>
        <p:nvSpPr>
          <p:cNvPr id="28" name="Text 26"/>
          <p:cNvSpPr txBox="1"/>
          <p:nvPr/>
        </p:nvSpPr>
        <p:spPr>
          <a:xfrm>
            <a:off x="3474720" y="4114800"/>
            <a:ext cx="2651760" cy="86868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Job runner</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任务执行器</a:t>
            </a:r>
            <a:endParaRPr lang="en-US" sz="1250" dirty="0"/>
          </a:p>
          <a:p>
            <a:pPr algn="l" indent="0" marL="0">
              <a:buNone/>
            </a:pPr>
            <a:r>
              <a:rPr lang="en-US" sz="1000" dirty="0">
                <a:solidFill>
                  <a:srgbClr val="56667D"/>
                </a:solidFill>
                <a:latin typeface="Calibri" pitchFamily="34" charset="0"/>
                <a:ea typeface="Calibri" pitchFamily="34" charset="-122"/>
                <a:cs typeface="Calibri" pitchFamily="34" charset="-120"/>
              </a:rPr>
              <a:t>thread (default) or queue worker</a:t>
            </a:r>
            <a:endParaRPr lang="en-US" sz="1250" dirty="0"/>
          </a:p>
        </p:txBody>
      </p:sp>
      <p:sp>
        <p:nvSpPr>
          <p:cNvPr id="29" name="Shape 27"/>
          <p:cNvSpPr/>
          <p:nvPr/>
        </p:nvSpPr>
        <p:spPr>
          <a:xfrm>
            <a:off x="4800600" y="4114800"/>
            <a:ext cx="0" cy="-457200"/>
          </a:xfrm>
          <a:prstGeom prst="line">
            <a:avLst/>
          </a:prstGeom>
          <a:noFill/>
          <a:ln w="19050">
            <a:solidFill>
              <a:srgbClr val="0E7C6B"/>
            </a:solidFill>
            <a:prstDash val="solid"/>
            <a:tailEnd type="triangle"/>
          </a:ln>
        </p:spPr>
      </p:sp>
      <p:sp>
        <p:nvSpPr>
          <p:cNvPr id="30" name="Shape 28"/>
          <p:cNvSpPr/>
          <p:nvPr/>
        </p:nvSpPr>
        <p:spPr>
          <a:xfrm>
            <a:off x="548640" y="4114800"/>
            <a:ext cx="2377440" cy="868680"/>
          </a:xfrm>
          <a:prstGeom prst="roundRect">
            <a:avLst>
              <a:gd name="adj" fmla="val 7368"/>
            </a:avLst>
          </a:prstGeom>
          <a:solidFill>
            <a:srgbClr val="F2EEFF"/>
          </a:solidFill>
          <a:ln w="12700">
            <a:solidFill>
              <a:srgbClr val="CFC4F5"/>
            </a:solidFill>
            <a:prstDash val="solid"/>
          </a:ln>
        </p:spPr>
      </p:sp>
      <p:sp>
        <p:nvSpPr>
          <p:cNvPr id="31" name="Text 29"/>
          <p:cNvSpPr txBox="1"/>
          <p:nvPr/>
        </p:nvSpPr>
        <p:spPr>
          <a:xfrm>
            <a:off x="640080" y="4114800"/>
            <a:ext cx="2194560" cy="86868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Gemini (optional)</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Gemini（可选）</a:t>
            </a:r>
            <a:endParaRPr lang="en-US" sz="1250" dirty="0"/>
          </a:p>
          <a:p>
            <a:pPr algn="l" indent="0" marL="0">
              <a:buNone/>
            </a:pPr>
            <a:r>
              <a:rPr lang="en-US" sz="1000" dirty="0">
                <a:solidFill>
                  <a:srgbClr val="56667D"/>
                </a:solidFill>
                <a:latin typeface="Calibri" pitchFamily="34" charset="0"/>
                <a:ea typeface="Calibri" pitchFamily="34" charset="-122"/>
                <a:cs typeface="Calibri" pitchFamily="34" charset="-120"/>
              </a:rPr>
              <a:t>rephrase facts only</a:t>
            </a:r>
            <a:endParaRPr lang="en-US" sz="1250" dirty="0"/>
          </a:p>
        </p:txBody>
      </p:sp>
      <p:sp>
        <p:nvSpPr>
          <p:cNvPr id="32" name="Shape 30"/>
          <p:cNvSpPr/>
          <p:nvPr/>
        </p:nvSpPr>
        <p:spPr>
          <a:xfrm>
            <a:off x="2926080" y="4544568"/>
            <a:ext cx="457200" cy="0"/>
          </a:xfrm>
          <a:prstGeom prst="line">
            <a:avLst/>
          </a:prstGeom>
          <a:noFill/>
          <a:ln w="19050">
            <a:solidFill>
              <a:srgbClr val="0E7C6B"/>
            </a:solidFill>
            <a:prstDash val="solid"/>
            <a:tailEnd type="triangle"/>
          </a:ln>
        </p:spPr>
      </p:sp>
      <p:sp>
        <p:nvSpPr>
          <p:cNvPr id="33" name="Text 31"/>
          <p:cNvSpPr txBox="1"/>
          <p:nvPr/>
        </p:nvSpPr>
        <p:spPr>
          <a:xfrm>
            <a:off x="9509760" y="1645920"/>
            <a:ext cx="2194560" cy="237744"/>
          </a:xfrm>
          <a:prstGeom prst="rect">
            <a:avLst/>
          </a:prstGeom>
          <a:noFill/>
          <a:ln/>
        </p:spPr>
        <p:txBody>
          <a:bodyPr wrap="square" lIns="0" tIns="0" rIns="0" bIns="0" rtlCol="0" anchor="ctr"/>
          <a:lstStyle/>
          <a:p>
            <a:pPr indent="0" marL="0">
              <a:buNone/>
            </a:pPr>
            <a:r>
              <a:rPr lang="en-US" sz="1000" b="1" spc="200" kern="0" dirty="0">
                <a:solidFill>
                  <a:srgbClr val="B7791F"/>
                </a:solidFill>
                <a:latin typeface="Calibri" pitchFamily="34" charset="0"/>
                <a:ea typeface="Calibri" pitchFamily="34" charset="-122"/>
                <a:cs typeface="Calibri" pitchFamily="34" charset="-120"/>
              </a:rPr>
              <a:t>WHY THIS SHAPE</a:t>
            </a:r>
            <a:pPr indent="0" marL="0">
              <a:buNone/>
            </a:pPr>
            <a:r>
              <a:rPr lang="en-US" sz="1000" b="1" dirty="0">
                <a:solidFill>
                  <a:srgbClr val="B7791F"/>
                </a:solidFill>
                <a:latin typeface="Microsoft YaHei" pitchFamily="34" charset="0"/>
                <a:ea typeface="Microsoft YaHei" pitchFamily="34" charset="-122"/>
                <a:cs typeface="Microsoft YaHei" pitchFamily="34" charset="-120"/>
              </a:rPr>
              <a:t>  为何如此设计</a:t>
            </a:r>
            <a:endParaRPr lang="en-US" sz="1000" dirty="0"/>
          </a:p>
        </p:txBody>
      </p:sp>
      <p:sp>
        <p:nvSpPr>
          <p:cNvPr id="34" name="Shape 32"/>
          <p:cNvSpPr/>
          <p:nvPr/>
        </p:nvSpPr>
        <p:spPr>
          <a:xfrm>
            <a:off x="9509760" y="2048256"/>
            <a:ext cx="91440" cy="91440"/>
          </a:xfrm>
          <a:prstGeom prst="ellipse">
            <a:avLst/>
          </a:prstGeom>
          <a:solidFill>
            <a:srgbClr val="0E7C6B"/>
          </a:solidFill>
          <a:ln w="12700">
            <a:solidFill>
              <a:srgbClr val="0E7C6B"/>
            </a:solidFill>
            <a:prstDash val="solid"/>
          </a:ln>
        </p:spPr>
      </p:sp>
      <p:sp>
        <p:nvSpPr>
          <p:cNvPr id="35" name="Text 33"/>
          <p:cNvSpPr txBox="1"/>
          <p:nvPr/>
        </p:nvSpPr>
        <p:spPr>
          <a:xfrm>
            <a:off x="9710928" y="1965960"/>
            <a:ext cx="2084832" cy="82296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One origin: no CORS in production</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同源访问：生产环境无需 CORS</a:t>
            </a:r>
            <a:endParaRPr lang="en-US" sz="1100" dirty="0"/>
          </a:p>
        </p:txBody>
      </p:sp>
      <p:sp>
        <p:nvSpPr>
          <p:cNvPr id="36" name="Shape 34"/>
          <p:cNvSpPr/>
          <p:nvPr/>
        </p:nvSpPr>
        <p:spPr>
          <a:xfrm>
            <a:off x="9509760" y="2916936"/>
            <a:ext cx="91440" cy="91440"/>
          </a:xfrm>
          <a:prstGeom prst="ellipse">
            <a:avLst/>
          </a:prstGeom>
          <a:solidFill>
            <a:srgbClr val="0E7C6B"/>
          </a:solidFill>
          <a:ln w="12700">
            <a:solidFill>
              <a:srgbClr val="0E7C6B"/>
            </a:solidFill>
            <a:prstDash val="solid"/>
          </a:ln>
        </p:spPr>
      </p:sp>
      <p:sp>
        <p:nvSpPr>
          <p:cNvPr id="37" name="Text 35"/>
          <p:cNvSpPr txBox="1"/>
          <p:nvPr/>
        </p:nvSpPr>
        <p:spPr>
          <a:xfrm>
            <a:off x="9710928" y="2834640"/>
            <a:ext cx="2084832" cy="82296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Stateless API: any worker can serve</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无状态接口：可水平扩展</a:t>
            </a:r>
            <a:endParaRPr lang="en-US" sz="1100" dirty="0"/>
          </a:p>
        </p:txBody>
      </p:sp>
      <p:sp>
        <p:nvSpPr>
          <p:cNvPr id="38" name="Shape 36"/>
          <p:cNvSpPr/>
          <p:nvPr/>
        </p:nvSpPr>
        <p:spPr>
          <a:xfrm>
            <a:off x="9509760" y="3785616"/>
            <a:ext cx="91440" cy="91440"/>
          </a:xfrm>
          <a:prstGeom prst="ellipse">
            <a:avLst/>
          </a:prstGeom>
          <a:solidFill>
            <a:srgbClr val="0E7C6B"/>
          </a:solidFill>
          <a:ln w="12700">
            <a:solidFill>
              <a:srgbClr val="0E7C6B"/>
            </a:solidFill>
            <a:prstDash val="solid"/>
          </a:ln>
        </p:spPr>
      </p:sp>
      <p:sp>
        <p:nvSpPr>
          <p:cNvPr id="39" name="Text 37"/>
          <p:cNvSpPr txBox="1"/>
          <p:nvPr/>
        </p:nvSpPr>
        <p:spPr>
          <a:xfrm>
            <a:off x="9710928" y="3703320"/>
            <a:ext cx="2084832" cy="82296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Heavy work off the request path</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重计算不在请求路径上</a:t>
            </a:r>
            <a:endParaRPr lang="en-US" sz="1100" dirty="0"/>
          </a:p>
        </p:txBody>
      </p:sp>
      <p:sp>
        <p:nvSpPr>
          <p:cNvPr id="40" name="Shape 38"/>
          <p:cNvSpPr/>
          <p:nvPr/>
        </p:nvSpPr>
        <p:spPr>
          <a:xfrm>
            <a:off x="9509760" y="4654296"/>
            <a:ext cx="91440" cy="91440"/>
          </a:xfrm>
          <a:prstGeom prst="ellipse">
            <a:avLst/>
          </a:prstGeom>
          <a:solidFill>
            <a:srgbClr val="0E7C6B"/>
          </a:solidFill>
          <a:ln w="12700">
            <a:solidFill>
              <a:srgbClr val="0E7C6B"/>
            </a:solidFill>
            <a:prstDash val="solid"/>
          </a:ln>
        </p:spPr>
      </p:sp>
      <p:sp>
        <p:nvSpPr>
          <p:cNvPr id="41" name="Text 39"/>
          <p:cNvSpPr txBox="1"/>
          <p:nvPr/>
        </p:nvSpPr>
        <p:spPr>
          <a:xfrm>
            <a:off x="9710928" y="4572000"/>
            <a:ext cx="2084832" cy="82296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Every store has an embedded default</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每种存储都有内嵌默认实现</a:t>
            </a:r>
            <a:endParaRPr lang="en-US" sz="1100" dirty="0"/>
          </a:p>
        </p:txBody>
      </p:sp>
      <p:sp>
        <p:nvSpPr>
          <p:cNvPr id="42" name="Text 40"/>
          <p:cNvSpPr txBox="1"/>
          <p:nvPr/>
        </p:nvSpPr>
        <p:spPr>
          <a:xfrm>
            <a:off x="548640" y="5715000"/>
            <a:ext cx="11064240" cy="566928"/>
          </a:xfrm>
          <a:prstGeom prst="rect">
            <a:avLst/>
          </a:prstGeom>
          <a:noFill/>
          <a:ln/>
        </p:spPr>
        <p:txBody>
          <a:bodyPr wrap="square" lIns="0" tIns="0" rIns="0" bIns="0" rtlCol="0" anchor="ctr"/>
          <a:lstStyle/>
          <a:p>
            <a:pPr indent="0" marL="0">
              <a:buNone/>
            </a:pPr>
            <a:r>
              <a:rPr lang="en-US" sz="1150" i="1" dirty="0">
                <a:solidFill>
                  <a:srgbClr val="56667D"/>
                </a:solidFill>
                <a:latin typeface="Calibri" pitchFamily="34" charset="0"/>
                <a:ea typeface="Calibri" pitchFamily="34" charset="-122"/>
                <a:cs typeface="Calibri" pitchFamily="34" charset="-120"/>
              </a:rPr>
              <a:t>next.config.ts: rewrites() maps /api/v2/:path* to http://127.0.0.1:8000 (override DIP_API_URL). FastAPI routers are mounted under /api/v2.</a:t>
            </a:r>
            <a:endParaRPr lang="en-US" sz="115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next.config.ts 通过 rewrites() 将 /api/v2/* 转发到 8000 端口（可用 DIP_API_URL 覆盖）；FastAPI 路由统一挂载在 /api/v2 下。</a:t>
            </a:r>
            <a:endParaRPr lang="en-US" sz="1150" dirty="0"/>
          </a:p>
        </p:txBody>
      </p:sp>
      <p:sp>
        <p:nvSpPr>
          <p:cNvPr id="43" name="Text 41"/>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STORAGE LAYER</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存储层</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How each store is connected</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各存储的连接方式</a:t>
            </a:r>
            <a:endParaRPr lang="en-US" sz="1500" dirty="0"/>
          </a:p>
        </p:txBody>
      </p:sp>
      <p:sp>
        <p:nvSpPr>
          <p:cNvPr id="7" name="Shape 5"/>
          <p:cNvSpPr/>
          <p:nvPr/>
        </p:nvSpPr>
        <p:spPr>
          <a:xfrm>
            <a:off x="548640" y="1691640"/>
            <a:ext cx="1828800" cy="896112"/>
          </a:xfrm>
          <a:prstGeom prst="roundRect">
            <a:avLst>
              <a:gd name="adj" fmla="val 7143"/>
            </a:avLst>
          </a:prstGeom>
          <a:solidFill>
            <a:srgbClr val="E3F2EF"/>
          </a:solidFill>
          <a:ln w="12700">
            <a:solidFill>
              <a:srgbClr val="0E7C6B"/>
            </a:solidFill>
            <a:prstDash val="solid"/>
          </a:ln>
        </p:spPr>
      </p:sp>
      <p:sp>
        <p:nvSpPr>
          <p:cNvPr id="8" name="Text 6"/>
          <p:cNvSpPr txBox="1"/>
          <p:nvPr/>
        </p:nvSpPr>
        <p:spPr>
          <a:xfrm>
            <a:off x="640080" y="1691640"/>
            <a:ext cx="1645920" cy="896112"/>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Business DB</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业务数据库</a:t>
            </a:r>
            <a:endParaRPr lang="en-US" sz="1250" dirty="0"/>
          </a:p>
        </p:txBody>
      </p:sp>
      <p:sp>
        <p:nvSpPr>
          <p:cNvPr id="9" name="Text 7"/>
          <p:cNvSpPr txBox="1"/>
          <p:nvPr/>
        </p:nvSpPr>
        <p:spPr>
          <a:xfrm>
            <a:off x="2514600" y="1691640"/>
            <a:ext cx="9144000" cy="896112"/>
          </a:xfrm>
          <a:prstGeom prst="rect">
            <a:avLst/>
          </a:prstGeom>
          <a:solidFill>
            <a:srgbClr val="F4F6F9"/>
          </a:solidFill>
          <a:ln w="9525">
            <a:solidFill>
              <a:srgbClr val="DCE3EB"/>
            </a:solidFill>
          </a:ln>
        </p:spPr>
        <p:txBody>
          <a:bodyPr wrap="square" lIns="101600" tIns="101600" rIns="101600" bIns="101600" rtlCol="0" anchor="t"/>
          <a:lstStyle/>
          <a:p>
            <a:pPr indent="0" marL="0">
              <a:buNone/>
            </a:pPr>
            <a:r>
              <a:rPr lang="en-US" sz="1000" dirty="0">
                <a:solidFill>
                  <a:srgbClr val="16243A"/>
                </a:solidFill>
                <a:latin typeface="Courier New" pitchFamily="34" charset="0"/>
                <a:ea typeface="Courier New" pitchFamily="34" charset="-122"/>
                <a:cs typeface="Courier New" pitchFamily="34" charset="-120"/>
              </a:rPr>
              <a:t>settings.business_url = DIP_POSTGRES_URL or sqlite:///data/platform/business.db</a:t>
            </a:r>
            <a:endParaRPr lang="en-US" sz="1000" dirty="0"/>
          </a:p>
          <a:p>
            <a:pPr indent="0" marL="0">
              <a:buNone/>
            </a:pPr>
            <a:r>
              <a:rPr lang="en-US" sz="1000" dirty="0">
                <a:solidFill>
                  <a:srgbClr val="16243A"/>
                </a:solidFill>
                <a:latin typeface="Courier New" pitchFamily="34" charset="0"/>
                <a:ea typeface="Courier New" pitchFamily="34" charset="-122"/>
                <a:cs typeface="Courier New" pitchFamily="34" charset="-120"/>
              </a:rPr>
              <a:t>create_engine(url) — cached; create_all() + additive migrate() + seed permissions</a:t>
            </a:r>
            <a:endParaRPr lang="en-US" sz="1000" dirty="0"/>
          </a:p>
          <a:p>
            <a:pPr indent="0" marL="0">
              <a:buNone/>
            </a:pPr>
            <a:r>
              <a:rPr lang="en-US" sz="1000" dirty="0">
                <a:solidFill>
                  <a:srgbClr val="16243A"/>
                </a:solidFill>
                <a:latin typeface="Courier New" pitchFamily="34" charset="0"/>
                <a:ea typeface="Courier New" pitchFamily="34" charset="-122"/>
                <a:cs typeface="Courier New" pitchFamily="34" charset="-120"/>
              </a:rPr>
              <a:t>with business.session() as s: …   (29 tables: users, markets, jobs, events, alerts, projects, audit_log …)</a:t>
            </a:r>
            <a:endParaRPr lang="en-US" sz="1000" dirty="0"/>
          </a:p>
        </p:txBody>
      </p:sp>
      <p:sp>
        <p:nvSpPr>
          <p:cNvPr id="10" name="Shape 8"/>
          <p:cNvSpPr/>
          <p:nvPr/>
        </p:nvSpPr>
        <p:spPr>
          <a:xfrm>
            <a:off x="548640" y="2715768"/>
            <a:ext cx="1828800" cy="896112"/>
          </a:xfrm>
          <a:prstGeom prst="roundRect">
            <a:avLst>
              <a:gd name="adj" fmla="val 7143"/>
            </a:avLst>
          </a:prstGeom>
          <a:solidFill>
            <a:srgbClr val="E3F2EF"/>
          </a:solidFill>
          <a:ln w="12700">
            <a:solidFill>
              <a:srgbClr val="0E7C6B"/>
            </a:solidFill>
            <a:prstDash val="solid"/>
          </a:ln>
        </p:spPr>
      </p:sp>
      <p:sp>
        <p:nvSpPr>
          <p:cNvPr id="11" name="Text 9"/>
          <p:cNvSpPr txBox="1"/>
          <p:nvPr/>
        </p:nvSpPr>
        <p:spPr>
          <a:xfrm>
            <a:off x="640080" y="2715768"/>
            <a:ext cx="1645920" cy="896112"/>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Data lake</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数据湖</a:t>
            </a:r>
            <a:endParaRPr lang="en-US" sz="1250" dirty="0"/>
          </a:p>
        </p:txBody>
      </p:sp>
      <p:sp>
        <p:nvSpPr>
          <p:cNvPr id="12" name="Text 10"/>
          <p:cNvSpPr txBox="1"/>
          <p:nvPr/>
        </p:nvSpPr>
        <p:spPr>
          <a:xfrm>
            <a:off x="2514600" y="2715768"/>
            <a:ext cx="9144000" cy="896112"/>
          </a:xfrm>
          <a:prstGeom prst="rect">
            <a:avLst/>
          </a:prstGeom>
          <a:solidFill>
            <a:srgbClr val="F4F6F9"/>
          </a:solidFill>
          <a:ln w="9525">
            <a:solidFill>
              <a:srgbClr val="DCE3EB"/>
            </a:solidFill>
          </a:ln>
        </p:spPr>
        <p:txBody>
          <a:bodyPr wrap="square" lIns="101600" tIns="101600" rIns="101600" bIns="101600" rtlCol="0" anchor="t"/>
          <a:lstStyle/>
          <a:p>
            <a:pPr indent="0" marL="0">
              <a:buNone/>
            </a:pPr>
            <a:r>
              <a:rPr lang="en-US" sz="1000" dirty="0">
                <a:solidFill>
                  <a:srgbClr val="16243A"/>
                </a:solidFill>
                <a:latin typeface="Courier New" pitchFamily="34" charset="0"/>
                <a:ea typeface="Courier New" pitchFamily="34" charset="-122"/>
                <a:cs typeface="Courier New" pitchFamily="34" charset="-120"/>
              </a:rPr>
              <a:t>&lt;DIP_LAKE_DIR&gt;/curated/&lt;table&gt;/market=&lt;name&gt;/data.parquet   (one file per market)</a:t>
            </a:r>
            <a:endParaRPr lang="en-US" sz="1000" dirty="0"/>
          </a:p>
          <a:p>
            <a:pPr indent="0" marL="0">
              <a:buNone/>
            </a:pPr>
            <a:r>
              <a:rPr lang="en-US" sz="1000" dirty="0">
                <a:solidFill>
                  <a:srgbClr val="16243A"/>
                </a:solidFill>
                <a:latin typeface="Courier New" pitchFamily="34" charset="0"/>
                <a:ea typeface="Courier New" pitchFamily="34" charset="-122"/>
                <a:cs typeface="Courier New" pitchFamily="34" charset="-120"/>
              </a:rPr>
              <a:t>lake.read_curated(table, market) → DuckDB: SELECT … FROM read_parquet(path, hive_partitioning=true)</a:t>
            </a:r>
            <a:endParaRPr lang="en-US" sz="1000" dirty="0"/>
          </a:p>
        </p:txBody>
      </p:sp>
      <p:sp>
        <p:nvSpPr>
          <p:cNvPr id="13" name="Shape 11"/>
          <p:cNvSpPr/>
          <p:nvPr/>
        </p:nvSpPr>
        <p:spPr>
          <a:xfrm>
            <a:off x="548640" y="3739896"/>
            <a:ext cx="1828800" cy="896112"/>
          </a:xfrm>
          <a:prstGeom prst="roundRect">
            <a:avLst>
              <a:gd name="adj" fmla="val 7143"/>
            </a:avLst>
          </a:prstGeom>
          <a:solidFill>
            <a:srgbClr val="E3F2EF"/>
          </a:solidFill>
          <a:ln w="12700">
            <a:solidFill>
              <a:srgbClr val="0E7C6B"/>
            </a:solidFill>
            <a:prstDash val="solid"/>
          </a:ln>
        </p:spPr>
      </p:sp>
      <p:sp>
        <p:nvSpPr>
          <p:cNvPr id="14" name="Text 12"/>
          <p:cNvSpPr txBox="1"/>
          <p:nvPr/>
        </p:nvSpPr>
        <p:spPr>
          <a:xfrm>
            <a:off x="640080" y="3739896"/>
            <a:ext cx="1645920" cy="896112"/>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Graph</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图存储</a:t>
            </a:r>
            <a:endParaRPr lang="en-US" sz="1250" dirty="0"/>
          </a:p>
        </p:txBody>
      </p:sp>
      <p:sp>
        <p:nvSpPr>
          <p:cNvPr id="15" name="Text 13"/>
          <p:cNvSpPr txBox="1"/>
          <p:nvPr/>
        </p:nvSpPr>
        <p:spPr>
          <a:xfrm>
            <a:off x="2514600" y="3739896"/>
            <a:ext cx="9144000" cy="896112"/>
          </a:xfrm>
          <a:prstGeom prst="rect">
            <a:avLst/>
          </a:prstGeom>
          <a:solidFill>
            <a:srgbClr val="F4F6F9"/>
          </a:solidFill>
          <a:ln w="9525">
            <a:solidFill>
              <a:srgbClr val="DCE3EB"/>
            </a:solidFill>
          </a:ln>
        </p:spPr>
        <p:txBody>
          <a:bodyPr wrap="square" lIns="101600" tIns="101600" rIns="101600" bIns="101600" rtlCol="0" anchor="t"/>
          <a:lstStyle/>
          <a:p>
            <a:pPr indent="0" marL="0">
              <a:buNone/>
            </a:pPr>
            <a:r>
              <a:rPr lang="en-US" sz="1000" dirty="0">
                <a:solidFill>
                  <a:srgbClr val="16243A"/>
                </a:solidFill>
                <a:latin typeface="Courier New" pitchFamily="34" charset="0"/>
                <a:ea typeface="Courier New" pitchFamily="34" charset="-122"/>
                <a:cs typeface="Courier New" pitchFamily="34" charset="-120"/>
              </a:rPr>
              <a:t>get_graph_store(): DIP_NEO4J_URI set → Neo4jGraphStore, else EmbeddedGraphStore (NetworkX, persisted to graph.duckdb)</a:t>
            </a:r>
            <a:endParaRPr lang="en-US" sz="1000" dirty="0"/>
          </a:p>
        </p:txBody>
      </p:sp>
      <p:sp>
        <p:nvSpPr>
          <p:cNvPr id="16" name="Shape 14"/>
          <p:cNvSpPr/>
          <p:nvPr/>
        </p:nvSpPr>
        <p:spPr>
          <a:xfrm>
            <a:off x="548640" y="4764024"/>
            <a:ext cx="1828800" cy="896112"/>
          </a:xfrm>
          <a:prstGeom prst="roundRect">
            <a:avLst>
              <a:gd name="adj" fmla="val 7143"/>
            </a:avLst>
          </a:prstGeom>
          <a:solidFill>
            <a:srgbClr val="E3F2EF"/>
          </a:solidFill>
          <a:ln w="12700">
            <a:solidFill>
              <a:srgbClr val="0E7C6B"/>
            </a:solidFill>
            <a:prstDash val="solid"/>
          </a:ln>
        </p:spPr>
      </p:sp>
      <p:sp>
        <p:nvSpPr>
          <p:cNvPr id="17" name="Text 15"/>
          <p:cNvSpPr txBox="1"/>
          <p:nvPr/>
        </p:nvSpPr>
        <p:spPr>
          <a:xfrm>
            <a:off x="640080" y="4764024"/>
            <a:ext cx="1645920" cy="896112"/>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Vectors</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向量库</a:t>
            </a:r>
            <a:endParaRPr lang="en-US" sz="1250" dirty="0"/>
          </a:p>
        </p:txBody>
      </p:sp>
      <p:sp>
        <p:nvSpPr>
          <p:cNvPr id="18" name="Text 16"/>
          <p:cNvSpPr txBox="1"/>
          <p:nvPr/>
        </p:nvSpPr>
        <p:spPr>
          <a:xfrm>
            <a:off x="2514600" y="4764024"/>
            <a:ext cx="9144000" cy="896112"/>
          </a:xfrm>
          <a:prstGeom prst="rect">
            <a:avLst/>
          </a:prstGeom>
          <a:solidFill>
            <a:srgbClr val="F4F6F9"/>
          </a:solidFill>
          <a:ln w="9525">
            <a:solidFill>
              <a:srgbClr val="DCE3EB"/>
            </a:solidFill>
          </a:ln>
        </p:spPr>
        <p:txBody>
          <a:bodyPr wrap="square" lIns="101600" tIns="101600" rIns="101600" bIns="101600" rtlCol="0" anchor="t"/>
          <a:lstStyle/>
          <a:p>
            <a:pPr indent="0" marL="0">
              <a:buNone/>
            </a:pPr>
            <a:r>
              <a:rPr lang="en-US" sz="1000" dirty="0">
                <a:solidFill>
                  <a:srgbClr val="16243A"/>
                </a:solidFill>
                <a:latin typeface="Courier New" pitchFamily="34" charset="0"/>
                <a:ea typeface="Courier New" pitchFamily="34" charset="-122"/>
                <a:cs typeface="Courier New" pitchFamily="34" charset="-120"/>
              </a:rPr>
              <a:t>get_vector_store(): Qdrant client — local file mode, or server with DIP_QDRANT_URL / DIP_QDRANT_API_KEY</a:t>
            </a:r>
            <a:endParaRPr lang="en-US" sz="1000" dirty="0"/>
          </a:p>
        </p:txBody>
      </p:sp>
      <p:sp>
        <p:nvSpPr>
          <p:cNvPr id="19" name="Text 17"/>
          <p:cNvSpPr txBox="1"/>
          <p:nvPr/>
        </p:nvSpPr>
        <p:spPr>
          <a:xfrm>
            <a:off x="548640" y="5852160"/>
            <a:ext cx="11064240" cy="566928"/>
          </a:xfrm>
          <a:prstGeom prst="rect">
            <a:avLst/>
          </a:prstGeom>
          <a:noFill/>
          <a:ln/>
        </p:spPr>
        <p:txBody>
          <a:bodyPr wrap="square" lIns="0" tIns="0" rIns="0" bIns="0" rtlCol="0" anchor="ctr"/>
          <a:lstStyle/>
          <a:p>
            <a:pPr indent="0" marL="0">
              <a:buNone/>
            </a:pPr>
            <a:r>
              <a:rPr lang="en-US" sz="1150" i="1" dirty="0">
                <a:solidFill>
                  <a:srgbClr val="56667D"/>
                </a:solidFill>
                <a:latin typeface="Calibri" pitchFamily="34" charset="0"/>
                <a:ea typeface="Calibri" pitchFamily="34" charset="-122"/>
                <a:cs typeface="Calibri" pitchFamily="34" charset="-120"/>
              </a:rPr>
              <a:t>All switches are read once by settings.py (a frozen dataclass behind lru_cache). Migration is additive only: missing nullable columns are added, nothing is dropped or rewritten.</a:t>
            </a:r>
            <a:endParaRPr lang="en-US" sz="115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所有开关由 settings.py 一次性读取（冻结数据类 + lru_cache）。迁移仅做增量：只新增缺失的可空列，不删除、不重写。</a:t>
            </a:r>
            <a:endParaRPr lang="en-US" sz="1150" dirty="0"/>
          </a:p>
        </p:txBody>
      </p:sp>
      <p:sp>
        <p:nvSpPr>
          <p:cNvPr id="20" name="Text 18"/>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JOB EXECUTION</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任务执行</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What happens after you press “Process dataset”</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点击“处理数据集”之后发生了什么</a:t>
            </a:r>
            <a:endParaRPr lang="en-US" sz="1500" dirty="0"/>
          </a:p>
        </p:txBody>
      </p:sp>
      <p:sp>
        <p:nvSpPr>
          <p:cNvPr id="7" name="Shape 5"/>
          <p:cNvSpPr/>
          <p:nvPr/>
        </p:nvSpPr>
        <p:spPr>
          <a:xfrm>
            <a:off x="548640" y="1764792"/>
            <a:ext cx="411480" cy="411480"/>
          </a:xfrm>
          <a:prstGeom prst="ellipse">
            <a:avLst/>
          </a:prstGeom>
          <a:solidFill>
            <a:srgbClr val="0E7C6B"/>
          </a:solidFill>
          <a:ln w="12700">
            <a:solidFill>
              <a:srgbClr val="0E7C6B"/>
            </a:solidFill>
            <a:prstDash val="solid"/>
          </a:ln>
        </p:spPr>
      </p:sp>
      <p:sp>
        <p:nvSpPr>
          <p:cNvPr id="8" name="Text 6"/>
          <p:cNvSpPr txBox="1"/>
          <p:nvPr/>
        </p:nvSpPr>
        <p:spPr>
          <a:xfrm>
            <a:off x="548640" y="176479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143000" y="1691640"/>
            <a:ext cx="2103120" cy="603504"/>
          </a:xfrm>
          <a:prstGeom prst="rect">
            <a:avLst/>
          </a:prstGeom>
          <a:noFill/>
          <a:ln/>
        </p:spPr>
        <p:txBody>
          <a:bodyPr wrap="square" lIns="0" tIns="0" rIns="0" bIns="0" rtlCol="0" anchor="ctr"/>
          <a:lstStyle/>
          <a:p>
            <a:pPr indent="0" marL="0">
              <a:buNone/>
            </a:pPr>
            <a:r>
              <a:rPr lang="en-US" sz="1300" b="1" dirty="0">
                <a:solidFill>
                  <a:srgbClr val="16243A"/>
                </a:solidFill>
                <a:latin typeface="Calibri" pitchFamily="34" charset="0"/>
                <a:ea typeface="Calibri" pitchFamily="34" charset="-122"/>
                <a:cs typeface="Calibri" pitchFamily="34" charset="-120"/>
              </a:rPr>
              <a:t>POST /datasets</a:t>
            </a:r>
            <a:endParaRPr lang="en-US" sz="130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上传接口</a:t>
            </a:r>
            <a:endParaRPr lang="en-US" sz="1300" dirty="0"/>
          </a:p>
        </p:txBody>
      </p:sp>
      <p:sp>
        <p:nvSpPr>
          <p:cNvPr id="10" name="Text 8"/>
          <p:cNvSpPr txBox="1"/>
          <p:nvPr/>
        </p:nvSpPr>
        <p:spPr>
          <a:xfrm>
            <a:off x="3291840" y="1691640"/>
            <a:ext cx="4206240" cy="60350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file + market + snapshot_date → returns job_id immediately</a:t>
            </a:r>
            <a:endParaRPr lang="en-US" sz="1150" dirty="0"/>
          </a:p>
        </p:txBody>
      </p:sp>
      <p:sp>
        <p:nvSpPr>
          <p:cNvPr id="11" name="Shape 9"/>
          <p:cNvSpPr/>
          <p:nvPr/>
        </p:nvSpPr>
        <p:spPr>
          <a:xfrm>
            <a:off x="548640" y="2496312"/>
            <a:ext cx="411480" cy="411480"/>
          </a:xfrm>
          <a:prstGeom prst="ellipse">
            <a:avLst/>
          </a:prstGeom>
          <a:solidFill>
            <a:srgbClr val="0E7C6B"/>
          </a:solidFill>
          <a:ln w="12700">
            <a:solidFill>
              <a:srgbClr val="0E7C6B"/>
            </a:solidFill>
            <a:prstDash val="solid"/>
          </a:ln>
        </p:spPr>
      </p:sp>
      <p:sp>
        <p:nvSpPr>
          <p:cNvPr id="12" name="Text 10"/>
          <p:cNvSpPr txBox="1"/>
          <p:nvPr/>
        </p:nvSpPr>
        <p:spPr>
          <a:xfrm>
            <a:off x="548640" y="249631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143000" y="2423160"/>
            <a:ext cx="2103120" cy="603504"/>
          </a:xfrm>
          <a:prstGeom prst="rect">
            <a:avLst/>
          </a:prstGeom>
          <a:noFill/>
          <a:ln/>
        </p:spPr>
        <p:txBody>
          <a:bodyPr wrap="square" lIns="0" tIns="0" rIns="0" bIns="0" rtlCol="0" anchor="ctr"/>
          <a:lstStyle/>
          <a:p>
            <a:pPr indent="0" marL="0">
              <a:buNone/>
            </a:pPr>
            <a:r>
              <a:rPr lang="en-US" sz="1300" b="1" dirty="0">
                <a:solidFill>
                  <a:srgbClr val="16243A"/>
                </a:solidFill>
                <a:latin typeface="Calibri" pitchFamily="34" charset="0"/>
                <a:ea typeface="Calibri" pitchFamily="34" charset="-122"/>
                <a:cs typeface="Calibri" pitchFamily="34" charset="-120"/>
              </a:rPr>
              <a:t>Dispatch</a:t>
            </a:r>
            <a:endParaRPr lang="en-US" sz="130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分派</a:t>
            </a:r>
            <a:endParaRPr lang="en-US" sz="1300" dirty="0"/>
          </a:p>
        </p:txBody>
      </p:sp>
      <p:sp>
        <p:nvSpPr>
          <p:cNvPr id="14" name="Text 12"/>
          <p:cNvSpPr txBox="1"/>
          <p:nvPr/>
        </p:nvSpPr>
        <p:spPr>
          <a:xfrm>
            <a:off x="3291840" y="2423160"/>
            <a:ext cx="4206240" cy="60350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DIP_JOB_MODE=thread → background thread; =queue → job_queue row, picked by `dmis.py worker`</a:t>
            </a:r>
            <a:endParaRPr lang="en-US" sz="1150" dirty="0"/>
          </a:p>
        </p:txBody>
      </p:sp>
      <p:sp>
        <p:nvSpPr>
          <p:cNvPr id="15" name="Shape 13"/>
          <p:cNvSpPr/>
          <p:nvPr/>
        </p:nvSpPr>
        <p:spPr>
          <a:xfrm>
            <a:off x="548640" y="3227832"/>
            <a:ext cx="411480" cy="411480"/>
          </a:xfrm>
          <a:prstGeom prst="ellipse">
            <a:avLst/>
          </a:prstGeom>
          <a:solidFill>
            <a:srgbClr val="0E7C6B"/>
          </a:solidFill>
          <a:ln w="12700">
            <a:solidFill>
              <a:srgbClr val="0E7C6B"/>
            </a:solidFill>
            <a:prstDash val="solid"/>
          </a:ln>
        </p:spPr>
      </p:sp>
      <p:sp>
        <p:nvSpPr>
          <p:cNvPr id="16" name="Text 14"/>
          <p:cNvSpPr txBox="1"/>
          <p:nvPr/>
        </p:nvSpPr>
        <p:spPr>
          <a:xfrm>
            <a:off x="548640" y="322783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143000" y="3154680"/>
            <a:ext cx="2103120" cy="603504"/>
          </a:xfrm>
          <a:prstGeom prst="rect">
            <a:avLst/>
          </a:prstGeom>
          <a:noFill/>
          <a:ln/>
        </p:spPr>
        <p:txBody>
          <a:bodyPr wrap="square" lIns="0" tIns="0" rIns="0" bIns="0" rtlCol="0" anchor="ctr"/>
          <a:lstStyle/>
          <a:p>
            <a:pPr indent="0" marL="0">
              <a:buNone/>
            </a:pPr>
            <a:r>
              <a:rPr lang="en-US" sz="1300" b="1" dirty="0">
                <a:solidFill>
                  <a:srgbClr val="16243A"/>
                </a:solidFill>
                <a:latin typeface="Calibri" pitchFamily="34" charset="0"/>
                <a:ea typeface="Calibri" pitchFamily="34" charset="-122"/>
                <a:cs typeface="Calibri" pitchFamily="34" charset="-120"/>
              </a:rPr>
              <a:t>StageTracker</a:t>
            </a:r>
            <a:endParaRPr lang="en-US" sz="130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阶段跟踪</a:t>
            </a:r>
            <a:endParaRPr lang="en-US" sz="1300" dirty="0"/>
          </a:p>
        </p:txBody>
      </p:sp>
      <p:sp>
        <p:nvSpPr>
          <p:cNvPr id="18" name="Text 16"/>
          <p:cNvSpPr txBox="1"/>
          <p:nvPr/>
        </p:nvSpPr>
        <p:spPr>
          <a:xfrm>
            <a:off x="3291840" y="3154680"/>
            <a:ext cx="4206240" cy="60350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tr.run(name, fn): status, seconds, peak_mb appended to jobs.stages</a:t>
            </a:r>
            <a:endParaRPr lang="en-US" sz="1150" dirty="0"/>
          </a:p>
        </p:txBody>
      </p:sp>
      <p:sp>
        <p:nvSpPr>
          <p:cNvPr id="19" name="Shape 17"/>
          <p:cNvSpPr/>
          <p:nvPr/>
        </p:nvSpPr>
        <p:spPr>
          <a:xfrm>
            <a:off x="548640" y="3959352"/>
            <a:ext cx="411480" cy="411480"/>
          </a:xfrm>
          <a:prstGeom prst="ellipse">
            <a:avLst/>
          </a:prstGeom>
          <a:solidFill>
            <a:srgbClr val="0E7C6B"/>
          </a:solidFill>
          <a:ln w="12700">
            <a:solidFill>
              <a:srgbClr val="0E7C6B"/>
            </a:solidFill>
            <a:prstDash val="solid"/>
          </a:ln>
        </p:spPr>
      </p:sp>
      <p:sp>
        <p:nvSpPr>
          <p:cNvPr id="20" name="Text 18"/>
          <p:cNvSpPr txBox="1"/>
          <p:nvPr/>
        </p:nvSpPr>
        <p:spPr>
          <a:xfrm>
            <a:off x="548640" y="395935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1143000" y="3886200"/>
            <a:ext cx="2103120" cy="603504"/>
          </a:xfrm>
          <a:prstGeom prst="rect">
            <a:avLst/>
          </a:prstGeom>
          <a:noFill/>
          <a:ln/>
        </p:spPr>
        <p:txBody>
          <a:bodyPr wrap="square" lIns="0" tIns="0" rIns="0" bIns="0" rtlCol="0" anchor="ctr"/>
          <a:lstStyle/>
          <a:p>
            <a:pPr indent="0" marL="0">
              <a:buNone/>
            </a:pPr>
            <a:r>
              <a:rPr lang="en-US" sz="1300" b="1" dirty="0">
                <a:solidFill>
                  <a:srgbClr val="16243A"/>
                </a:solidFill>
                <a:latin typeface="Calibri" pitchFamily="34" charset="0"/>
                <a:ea typeface="Calibri" pitchFamily="34" charset="-122"/>
                <a:cs typeface="Calibri" pitchFamily="34" charset="-120"/>
              </a:rPr>
              <a:t>Stages 1–10</a:t>
            </a:r>
            <a:endParaRPr lang="en-US" sz="130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十个阶段</a:t>
            </a:r>
            <a:endParaRPr lang="en-US" sz="1300" dirty="0"/>
          </a:p>
        </p:txBody>
      </p:sp>
      <p:sp>
        <p:nvSpPr>
          <p:cNvPr id="22" name="Text 20"/>
          <p:cNvSpPr txBox="1"/>
          <p:nvPr/>
        </p:nvSpPr>
        <p:spPr>
          <a:xfrm>
            <a:off x="3291840" y="3886200"/>
            <a:ext cx="4206240" cy="60350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each returns frames used by the next; failures mark the job failed with the error</a:t>
            </a:r>
            <a:endParaRPr lang="en-US" sz="1150" dirty="0"/>
          </a:p>
        </p:txBody>
      </p:sp>
      <p:sp>
        <p:nvSpPr>
          <p:cNvPr id="23" name="Shape 21"/>
          <p:cNvSpPr/>
          <p:nvPr/>
        </p:nvSpPr>
        <p:spPr>
          <a:xfrm>
            <a:off x="548640" y="4690872"/>
            <a:ext cx="411480" cy="411480"/>
          </a:xfrm>
          <a:prstGeom prst="ellipse">
            <a:avLst/>
          </a:prstGeom>
          <a:solidFill>
            <a:srgbClr val="0E7C6B"/>
          </a:solidFill>
          <a:ln w="12700">
            <a:solidFill>
              <a:srgbClr val="0E7C6B"/>
            </a:solidFill>
            <a:prstDash val="solid"/>
          </a:ln>
        </p:spPr>
      </p:sp>
      <p:sp>
        <p:nvSpPr>
          <p:cNvPr id="24" name="Text 22"/>
          <p:cNvSpPr txBox="1"/>
          <p:nvPr/>
        </p:nvSpPr>
        <p:spPr>
          <a:xfrm>
            <a:off x="548640" y="469087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1143000" y="4617720"/>
            <a:ext cx="2103120" cy="603504"/>
          </a:xfrm>
          <a:prstGeom prst="rect">
            <a:avLst/>
          </a:prstGeom>
          <a:noFill/>
          <a:ln/>
        </p:spPr>
        <p:txBody>
          <a:bodyPr wrap="square" lIns="0" tIns="0" rIns="0" bIns="0" rtlCol="0" anchor="ctr"/>
          <a:lstStyle/>
          <a:p>
            <a:pPr indent="0" marL="0">
              <a:buNone/>
            </a:pPr>
            <a:r>
              <a:rPr lang="en-US" sz="1300" b="1" dirty="0">
                <a:solidFill>
                  <a:srgbClr val="16243A"/>
                </a:solidFill>
                <a:latin typeface="Calibri" pitchFamily="34" charset="0"/>
                <a:ea typeface="Calibri" pitchFamily="34" charset="-122"/>
                <a:cs typeface="Calibri" pitchFamily="34" charset="-120"/>
              </a:rPr>
              <a:t>Lake + events</a:t>
            </a:r>
            <a:endParaRPr lang="en-US" sz="130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写湖与事件</a:t>
            </a:r>
            <a:endParaRPr lang="en-US" sz="1300" dirty="0"/>
          </a:p>
        </p:txBody>
      </p:sp>
      <p:sp>
        <p:nvSpPr>
          <p:cNvPr id="26" name="Text 24"/>
          <p:cNvSpPr txBox="1"/>
          <p:nvPr/>
        </p:nvSpPr>
        <p:spPr>
          <a:xfrm>
            <a:off x="3291840" y="4617720"/>
            <a:ext cx="4206240" cy="60350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curated tables written per market; significance-tested events → alerts for owners</a:t>
            </a:r>
            <a:endParaRPr lang="en-US" sz="1150" dirty="0"/>
          </a:p>
        </p:txBody>
      </p:sp>
      <p:sp>
        <p:nvSpPr>
          <p:cNvPr id="27" name="Shape 25"/>
          <p:cNvSpPr/>
          <p:nvPr/>
        </p:nvSpPr>
        <p:spPr>
          <a:xfrm>
            <a:off x="548640" y="5422392"/>
            <a:ext cx="411480" cy="411480"/>
          </a:xfrm>
          <a:prstGeom prst="ellipse">
            <a:avLst/>
          </a:prstGeom>
          <a:solidFill>
            <a:srgbClr val="0E7C6B"/>
          </a:solidFill>
          <a:ln w="12700">
            <a:solidFill>
              <a:srgbClr val="0E7C6B"/>
            </a:solidFill>
            <a:prstDash val="solid"/>
          </a:ln>
        </p:spPr>
      </p:sp>
      <p:sp>
        <p:nvSpPr>
          <p:cNvPr id="28" name="Text 26"/>
          <p:cNvSpPr txBox="1"/>
          <p:nvPr/>
        </p:nvSpPr>
        <p:spPr>
          <a:xfrm>
            <a:off x="548640" y="542239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9" name="Text 27"/>
          <p:cNvSpPr txBox="1"/>
          <p:nvPr/>
        </p:nvSpPr>
        <p:spPr>
          <a:xfrm>
            <a:off x="1143000" y="5349240"/>
            <a:ext cx="2103120" cy="603504"/>
          </a:xfrm>
          <a:prstGeom prst="rect">
            <a:avLst/>
          </a:prstGeom>
          <a:noFill/>
          <a:ln/>
        </p:spPr>
        <p:txBody>
          <a:bodyPr wrap="square" lIns="0" tIns="0" rIns="0" bIns="0" rtlCol="0" anchor="ctr"/>
          <a:lstStyle/>
          <a:p>
            <a:pPr indent="0" marL="0">
              <a:buNone/>
            </a:pPr>
            <a:r>
              <a:rPr lang="en-US" sz="1300" b="1" dirty="0">
                <a:solidFill>
                  <a:srgbClr val="16243A"/>
                </a:solidFill>
                <a:latin typeface="Calibri" pitchFamily="34" charset="0"/>
                <a:ea typeface="Calibri" pitchFamily="34" charset="-122"/>
                <a:cs typeface="Calibri" pitchFamily="34" charset="-120"/>
              </a:rPr>
              <a:t>Cache bump</a:t>
            </a:r>
            <a:endParaRPr lang="en-US" sz="130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缓存失效</a:t>
            </a:r>
            <a:endParaRPr lang="en-US" sz="1300" dirty="0"/>
          </a:p>
        </p:txBody>
      </p:sp>
      <p:sp>
        <p:nvSpPr>
          <p:cNvPr id="30" name="Text 28"/>
          <p:cNvSpPr txBox="1"/>
          <p:nvPr/>
        </p:nvSpPr>
        <p:spPr>
          <a:xfrm>
            <a:off x="3291840" y="5349240"/>
            <a:ext cx="4206240" cy="60350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market run_id / updated_at change → response cache and board cache invalidate</a:t>
            </a:r>
            <a:endParaRPr lang="en-US" sz="1150" dirty="0"/>
          </a:p>
        </p:txBody>
      </p:sp>
      <p:sp>
        <p:nvSpPr>
          <p:cNvPr id="31" name="Text 29"/>
          <p:cNvSpPr txBox="1"/>
          <p:nvPr/>
        </p:nvSpPr>
        <p:spPr>
          <a:xfrm>
            <a:off x="7955280" y="1691640"/>
            <a:ext cx="3657600" cy="237744"/>
          </a:xfrm>
          <a:prstGeom prst="rect">
            <a:avLst/>
          </a:prstGeom>
          <a:noFill/>
          <a:ln/>
        </p:spPr>
        <p:txBody>
          <a:bodyPr wrap="square" lIns="0" tIns="0" rIns="0" bIns="0" rtlCol="0" anchor="ctr"/>
          <a:lstStyle/>
          <a:p>
            <a:pPr indent="0" marL="0">
              <a:buNone/>
            </a:pPr>
            <a:r>
              <a:rPr lang="en-US" sz="1000" b="1" spc="200" kern="0" dirty="0">
                <a:solidFill>
                  <a:srgbClr val="B7791F"/>
                </a:solidFill>
                <a:latin typeface="Calibri" pitchFamily="34" charset="0"/>
                <a:ea typeface="Calibri" pitchFamily="34" charset="-122"/>
                <a:cs typeface="Calibri" pitchFamily="34" charset="-120"/>
              </a:rPr>
              <a:t>GUARANTEES</a:t>
            </a:r>
            <a:pPr indent="0" marL="0">
              <a:buNone/>
            </a:pPr>
            <a:r>
              <a:rPr lang="en-US" sz="1000" b="1" dirty="0">
                <a:solidFill>
                  <a:srgbClr val="B7791F"/>
                </a:solidFill>
                <a:latin typeface="Microsoft YaHei" pitchFamily="34" charset="0"/>
                <a:ea typeface="Microsoft YaHei" pitchFamily="34" charset="-122"/>
                <a:cs typeface="Microsoft YaHei" pitchFamily="34" charset="-120"/>
              </a:rPr>
              <a:t>  保证</a:t>
            </a:r>
            <a:endParaRPr lang="en-US" sz="1000" dirty="0"/>
          </a:p>
        </p:txBody>
      </p:sp>
      <p:sp>
        <p:nvSpPr>
          <p:cNvPr id="32" name="Shape 30"/>
          <p:cNvSpPr/>
          <p:nvPr/>
        </p:nvSpPr>
        <p:spPr>
          <a:xfrm>
            <a:off x="7955280" y="2093976"/>
            <a:ext cx="91440" cy="91440"/>
          </a:xfrm>
          <a:prstGeom prst="ellipse">
            <a:avLst/>
          </a:prstGeom>
          <a:solidFill>
            <a:srgbClr val="0E7C6B"/>
          </a:solidFill>
          <a:ln w="12700">
            <a:solidFill>
              <a:srgbClr val="0E7C6B"/>
            </a:solidFill>
            <a:prstDash val="solid"/>
          </a:ln>
        </p:spPr>
      </p:sp>
      <p:sp>
        <p:nvSpPr>
          <p:cNvPr id="33" name="Text 31"/>
          <p:cNvSpPr txBox="1"/>
          <p:nvPr/>
        </p:nvSpPr>
        <p:spPr>
          <a:xfrm>
            <a:off x="8156448" y="2011680"/>
            <a:ext cx="3547872" cy="73152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Raw files are never modified: stored as immutable evidence</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原始文件永不修改，作为不可变证据保存</a:t>
            </a:r>
            <a:endParaRPr lang="en-US" sz="1150" dirty="0"/>
          </a:p>
        </p:txBody>
      </p:sp>
      <p:sp>
        <p:nvSpPr>
          <p:cNvPr id="34" name="Shape 32"/>
          <p:cNvSpPr/>
          <p:nvPr/>
        </p:nvSpPr>
        <p:spPr>
          <a:xfrm>
            <a:off x="7955280" y="2871216"/>
            <a:ext cx="91440" cy="91440"/>
          </a:xfrm>
          <a:prstGeom prst="ellipse">
            <a:avLst/>
          </a:prstGeom>
          <a:solidFill>
            <a:srgbClr val="0E7C6B"/>
          </a:solidFill>
          <a:ln w="12700">
            <a:solidFill>
              <a:srgbClr val="0E7C6B"/>
            </a:solidFill>
            <a:prstDash val="solid"/>
          </a:ln>
        </p:spPr>
      </p:sp>
      <p:sp>
        <p:nvSpPr>
          <p:cNvPr id="35" name="Text 33"/>
          <p:cNvSpPr txBox="1"/>
          <p:nvPr/>
        </p:nvSpPr>
        <p:spPr>
          <a:xfrm>
            <a:off x="8156448" y="2788920"/>
            <a:ext cx="3547872" cy="73152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Same upload twice → detected by content hash</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重复上传通过内容哈希识别</a:t>
            </a:r>
            <a:endParaRPr lang="en-US" sz="1150" dirty="0"/>
          </a:p>
        </p:txBody>
      </p:sp>
      <p:sp>
        <p:nvSpPr>
          <p:cNvPr id="36" name="Shape 34"/>
          <p:cNvSpPr/>
          <p:nvPr/>
        </p:nvSpPr>
        <p:spPr>
          <a:xfrm>
            <a:off x="7955280" y="3648456"/>
            <a:ext cx="91440" cy="91440"/>
          </a:xfrm>
          <a:prstGeom prst="ellipse">
            <a:avLst/>
          </a:prstGeom>
          <a:solidFill>
            <a:srgbClr val="0E7C6B"/>
          </a:solidFill>
          <a:ln w="12700">
            <a:solidFill>
              <a:srgbClr val="0E7C6B"/>
            </a:solidFill>
            <a:prstDash val="solid"/>
          </a:ln>
        </p:spPr>
      </p:sp>
      <p:sp>
        <p:nvSpPr>
          <p:cNvPr id="37" name="Text 35"/>
          <p:cNvSpPr txBox="1"/>
          <p:nvPr/>
        </p:nvSpPr>
        <p:spPr>
          <a:xfrm>
            <a:off x="8156448" y="3566160"/>
            <a:ext cx="3547872" cy="73152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Same snapshot period twice → history row replaced, not double-counted</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同一快照期重复上传 → 替换历史记录，不重复计数</a:t>
            </a:r>
            <a:endParaRPr lang="en-US" sz="1150" dirty="0"/>
          </a:p>
        </p:txBody>
      </p:sp>
      <p:sp>
        <p:nvSpPr>
          <p:cNvPr id="38" name="Shape 36"/>
          <p:cNvSpPr/>
          <p:nvPr/>
        </p:nvSpPr>
        <p:spPr>
          <a:xfrm>
            <a:off x="7955280" y="4425696"/>
            <a:ext cx="91440" cy="91440"/>
          </a:xfrm>
          <a:prstGeom prst="ellipse">
            <a:avLst/>
          </a:prstGeom>
          <a:solidFill>
            <a:srgbClr val="0E7C6B"/>
          </a:solidFill>
          <a:ln w="12700">
            <a:solidFill>
              <a:srgbClr val="0E7C6B"/>
            </a:solidFill>
            <a:prstDash val="solid"/>
          </a:ln>
        </p:spPr>
      </p:sp>
      <p:sp>
        <p:nvSpPr>
          <p:cNvPr id="39" name="Text 37"/>
          <p:cNvSpPr txBox="1"/>
          <p:nvPr/>
        </p:nvSpPr>
        <p:spPr>
          <a:xfrm>
            <a:off x="8156448" y="4343400"/>
            <a:ext cx="3547872" cy="73152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Every excluded row keeps excluded_reason</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每条被排除的记录都保留排除原因</a:t>
            </a:r>
            <a:endParaRPr lang="en-US" sz="1150" dirty="0"/>
          </a:p>
        </p:txBody>
      </p:sp>
      <p:sp>
        <p:nvSpPr>
          <p:cNvPr id="40" name="Shape 38"/>
          <p:cNvSpPr/>
          <p:nvPr/>
        </p:nvSpPr>
        <p:spPr>
          <a:xfrm>
            <a:off x="7955280" y="5202936"/>
            <a:ext cx="91440" cy="91440"/>
          </a:xfrm>
          <a:prstGeom prst="ellipse">
            <a:avLst/>
          </a:prstGeom>
          <a:solidFill>
            <a:srgbClr val="0E7C6B"/>
          </a:solidFill>
          <a:ln w="12700">
            <a:solidFill>
              <a:srgbClr val="0E7C6B"/>
            </a:solidFill>
            <a:prstDash val="solid"/>
          </a:ln>
        </p:spPr>
      </p:sp>
      <p:sp>
        <p:nvSpPr>
          <p:cNvPr id="41" name="Text 39"/>
          <p:cNvSpPr txBox="1"/>
          <p:nvPr/>
        </p:nvSpPr>
        <p:spPr>
          <a:xfrm>
            <a:off x="8156448" y="5120640"/>
            <a:ext cx="3547872" cy="73152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Stage timings visible live on Data Operations</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阶段耗时在数据运营页实时可见</a:t>
            </a:r>
            <a:endParaRPr lang="en-US" sz="1150" dirty="0"/>
          </a:p>
        </p:txBody>
      </p:sp>
      <p:sp>
        <p:nvSpPr>
          <p:cNvPr id="42" name="Text 40"/>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STAGE 1 · INGESTION</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第一阶段 · 数据接入</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Schema detection without hard-coded columns</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无需硬编码列名的自动字段识别</a:t>
            </a:r>
            <a:endParaRPr lang="en-US" sz="1500" dirty="0"/>
          </a:p>
        </p:txBody>
      </p:sp>
      <p:sp>
        <p:nvSpPr>
          <p:cNvPr id="7" name="Text 5"/>
          <p:cNvSpPr txBox="1"/>
          <p:nvPr/>
        </p:nvSpPr>
        <p:spPr>
          <a:xfrm>
            <a:off x="548640" y="1645920"/>
            <a:ext cx="548640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ALGORITHM</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算法</a:t>
            </a:r>
            <a:endParaRPr lang="en-US" sz="1000" dirty="0"/>
          </a:p>
        </p:txBody>
      </p:sp>
      <p:sp>
        <p:nvSpPr>
          <p:cNvPr id="8" name="Shape 6"/>
          <p:cNvSpPr/>
          <p:nvPr/>
        </p:nvSpPr>
        <p:spPr>
          <a:xfrm>
            <a:off x="548640" y="2048256"/>
            <a:ext cx="91440" cy="91440"/>
          </a:xfrm>
          <a:prstGeom prst="ellipse">
            <a:avLst/>
          </a:prstGeom>
          <a:solidFill>
            <a:srgbClr val="0E7C6B"/>
          </a:solidFill>
          <a:ln w="12700">
            <a:solidFill>
              <a:srgbClr val="0E7C6B"/>
            </a:solidFill>
            <a:prstDash val="solid"/>
          </a:ln>
        </p:spPr>
      </p:sp>
      <p:sp>
        <p:nvSpPr>
          <p:cNvPr id="9" name="Text 7"/>
          <p:cNvSpPr txBox="1"/>
          <p:nvPr/>
        </p:nvSpPr>
        <p:spPr>
          <a:xfrm>
            <a:off x="749808" y="1965960"/>
            <a:ext cx="5559552" cy="822960"/>
          </a:xfrm>
          <a:prstGeom prst="rect">
            <a:avLst/>
          </a:prstGeom>
          <a:noFill/>
          <a:ln/>
        </p:spPr>
        <p:txBody>
          <a:bodyPr wrap="square" lIns="0" tIns="0" rIns="0" bIns="0" rtlCol="0" anchor="t"/>
          <a:lstStyle/>
          <a:p>
            <a:pPr indent="0" marL="0">
              <a:spcAft>
                <a:spcPts val="100"/>
              </a:spcAft>
              <a:buNone/>
            </a:pPr>
            <a:r>
              <a:rPr lang="en-US" sz="1250" b="1" dirty="0">
                <a:solidFill>
                  <a:srgbClr val="16243A"/>
                </a:solidFill>
                <a:latin typeface="Calibri" pitchFamily="34" charset="0"/>
                <a:ea typeface="Calibri" pitchFamily="34" charset="-122"/>
                <a:cs typeface="Calibri" pitchFamily="34" charset="-120"/>
              </a:rPr>
              <a:t>Header evidence: </a:t>
            </a:r>
            <a:pPr indent="0" marL="0">
              <a:spcAft>
                <a:spcPts val="100"/>
              </a:spcAft>
              <a:buNone/>
            </a:pPr>
            <a:r>
              <a:rPr lang="en-US" sz="1250" dirty="0">
                <a:solidFill>
                  <a:srgbClr val="16243A"/>
                </a:solidFill>
                <a:latin typeface="Calibri" pitchFamily="34" charset="0"/>
                <a:ea typeface="Calibri" pitchFamily="34" charset="-122"/>
                <a:cs typeface="Calibri" pitchFamily="34" charset="-120"/>
              </a:rPr>
              <a:t>column name vs synonym lists (exact, token, fuzzy) in schema_synonyms.yaml — Chinese headers included</a:t>
            </a:r>
            <a:endParaRPr lang="en-US" sz="125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表头证据：列名与同义词表匹配（精确、分词、模糊），支持中文表头</a:t>
            </a:r>
            <a:endParaRPr lang="en-US" sz="1250" dirty="0"/>
          </a:p>
        </p:txBody>
      </p:sp>
      <p:sp>
        <p:nvSpPr>
          <p:cNvPr id="10" name="Shape 8"/>
          <p:cNvSpPr/>
          <p:nvPr/>
        </p:nvSpPr>
        <p:spPr>
          <a:xfrm>
            <a:off x="548640" y="2916936"/>
            <a:ext cx="91440" cy="91440"/>
          </a:xfrm>
          <a:prstGeom prst="ellipse">
            <a:avLst/>
          </a:prstGeom>
          <a:solidFill>
            <a:srgbClr val="0E7C6B"/>
          </a:solidFill>
          <a:ln w="12700">
            <a:solidFill>
              <a:srgbClr val="0E7C6B"/>
            </a:solidFill>
            <a:prstDash val="solid"/>
          </a:ln>
        </p:spPr>
      </p:sp>
      <p:sp>
        <p:nvSpPr>
          <p:cNvPr id="11" name="Text 9"/>
          <p:cNvSpPr txBox="1"/>
          <p:nvPr/>
        </p:nvSpPr>
        <p:spPr>
          <a:xfrm>
            <a:off x="749808" y="2834640"/>
            <a:ext cx="5559552" cy="822960"/>
          </a:xfrm>
          <a:prstGeom prst="rect">
            <a:avLst/>
          </a:prstGeom>
          <a:noFill/>
          <a:ln/>
        </p:spPr>
        <p:txBody>
          <a:bodyPr wrap="square" lIns="0" tIns="0" rIns="0" bIns="0" rtlCol="0" anchor="t"/>
          <a:lstStyle/>
          <a:p>
            <a:pPr indent="0" marL="0">
              <a:spcAft>
                <a:spcPts val="100"/>
              </a:spcAft>
              <a:buNone/>
            </a:pPr>
            <a:r>
              <a:rPr lang="en-US" sz="1250" b="1" dirty="0">
                <a:solidFill>
                  <a:srgbClr val="16243A"/>
                </a:solidFill>
                <a:latin typeface="Calibri" pitchFamily="34" charset="0"/>
                <a:ea typeface="Calibri" pitchFamily="34" charset="-122"/>
                <a:cs typeface="Calibri" pitchFamily="34" charset="-120"/>
              </a:rPr>
              <a:t>Value evidence: </a:t>
            </a:r>
            <a:pPr indent="0" marL="0">
              <a:spcAft>
                <a:spcPts val="100"/>
              </a:spcAft>
              <a:buNone/>
            </a:pPr>
            <a:r>
              <a:rPr lang="en-US" sz="1250" dirty="0">
                <a:solidFill>
                  <a:srgbClr val="16243A"/>
                </a:solidFill>
                <a:latin typeface="Calibri" pitchFamily="34" charset="0"/>
                <a:ea typeface="Calibri" pitchFamily="34" charset="-122"/>
                <a:cs typeface="Calibri" pitchFamily="34" charset="-120"/>
              </a:rPr>
              <a:t>profile of values — numeric / integer share, range, URL share, date-parse share, text length, uniqueness, ASIN pattern</a:t>
            </a:r>
            <a:endParaRPr lang="en-US" sz="125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取值证据：数值占比、整数占比、范围、URL 占比、日期解析率、文本长度、唯一性、ASIN 模式</a:t>
            </a:r>
            <a:endParaRPr lang="en-US" sz="1250" dirty="0"/>
          </a:p>
        </p:txBody>
      </p:sp>
      <p:sp>
        <p:nvSpPr>
          <p:cNvPr id="12" name="Shape 10"/>
          <p:cNvSpPr/>
          <p:nvPr/>
        </p:nvSpPr>
        <p:spPr>
          <a:xfrm>
            <a:off x="548640" y="3785616"/>
            <a:ext cx="91440" cy="91440"/>
          </a:xfrm>
          <a:prstGeom prst="ellipse">
            <a:avLst/>
          </a:prstGeom>
          <a:solidFill>
            <a:srgbClr val="0E7C6B"/>
          </a:solidFill>
          <a:ln w="12700">
            <a:solidFill>
              <a:srgbClr val="0E7C6B"/>
            </a:solidFill>
            <a:prstDash val="solid"/>
          </a:ln>
        </p:spPr>
      </p:sp>
      <p:sp>
        <p:nvSpPr>
          <p:cNvPr id="13" name="Text 11"/>
          <p:cNvSpPr txBox="1"/>
          <p:nvPr/>
        </p:nvSpPr>
        <p:spPr>
          <a:xfrm>
            <a:off x="749808" y="3703320"/>
            <a:ext cx="5559552" cy="822960"/>
          </a:xfrm>
          <a:prstGeom prst="rect">
            <a:avLst/>
          </a:prstGeom>
          <a:noFill/>
          <a:ln/>
        </p:spPr>
        <p:txBody>
          <a:bodyPr wrap="square" lIns="0" tIns="0" rIns="0" bIns="0" rtlCol="0" anchor="t"/>
          <a:lstStyle/>
          <a:p>
            <a:pPr indent="0" marL="0">
              <a:spcAft>
                <a:spcPts val="100"/>
              </a:spcAft>
              <a:buNone/>
            </a:pPr>
            <a:r>
              <a:rPr lang="en-US" sz="1250" b="1" dirty="0">
                <a:solidFill>
                  <a:srgbClr val="16243A"/>
                </a:solidFill>
                <a:latin typeface="Calibri" pitchFamily="34" charset="0"/>
                <a:ea typeface="Calibri" pitchFamily="34" charset="-122"/>
                <a:cs typeface="Calibri" pitchFamily="34" charset="-120"/>
              </a:rPr>
              <a:t>Optimal assignment: </a:t>
            </a:r>
            <a:pPr indent="0" marL="0">
              <a:spcAft>
                <a:spcPts val="100"/>
              </a:spcAft>
              <a:buNone/>
            </a:pPr>
            <a:r>
              <a:rPr lang="en-US" sz="1250" dirty="0">
                <a:solidFill>
                  <a:srgbClr val="16243A"/>
                </a:solidFill>
                <a:latin typeface="Calibri" pitchFamily="34" charset="0"/>
                <a:ea typeface="Calibri" pitchFamily="34" charset="-122"/>
                <a:cs typeface="Calibri" pitchFamily="34" charset="-120"/>
              </a:rPr>
              <a:t>Hungarian algorithm (scipy linear_sum_assignment) so no two fields claim one column</a:t>
            </a:r>
            <a:endParaRPr lang="en-US" sz="125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最优匹配：匈牙利算法保证一个列只对应一个字段</a:t>
            </a:r>
            <a:endParaRPr lang="en-US" sz="1250" dirty="0"/>
          </a:p>
        </p:txBody>
      </p:sp>
      <p:sp>
        <p:nvSpPr>
          <p:cNvPr id="14" name="Shape 12"/>
          <p:cNvSpPr/>
          <p:nvPr/>
        </p:nvSpPr>
        <p:spPr>
          <a:xfrm>
            <a:off x="548640" y="4654296"/>
            <a:ext cx="91440" cy="91440"/>
          </a:xfrm>
          <a:prstGeom prst="ellipse">
            <a:avLst/>
          </a:prstGeom>
          <a:solidFill>
            <a:srgbClr val="0E7C6B"/>
          </a:solidFill>
          <a:ln w="12700">
            <a:solidFill>
              <a:srgbClr val="0E7C6B"/>
            </a:solidFill>
            <a:prstDash val="solid"/>
          </a:ln>
        </p:spPr>
      </p:sp>
      <p:sp>
        <p:nvSpPr>
          <p:cNvPr id="15" name="Text 13"/>
          <p:cNvSpPr txBox="1"/>
          <p:nvPr/>
        </p:nvSpPr>
        <p:spPr>
          <a:xfrm>
            <a:off x="749808" y="4572000"/>
            <a:ext cx="5559552" cy="822960"/>
          </a:xfrm>
          <a:prstGeom prst="rect">
            <a:avLst/>
          </a:prstGeom>
          <a:noFill/>
          <a:ln/>
        </p:spPr>
        <p:txBody>
          <a:bodyPr wrap="square" lIns="0" tIns="0" rIns="0" bIns="0" rtlCol="0" anchor="t"/>
          <a:lstStyle/>
          <a:p>
            <a:pPr indent="0" marL="0">
              <a:spcAft>
                <a:spcPts val="100"/>
              </a:spcAft>
              <a:buNone/>
            </a:pPr>
            <a:r>
              <a:rPr lang="en-US" sz="1250" b="1" dirty="0">
                <a:solidFill>
                  <a:srgbClr val="16243A"/>
                </a:solidFill>
                <a:latin typeface="Calibri" pitchFamily="34" charset="0"/>
                <a:ea typeface="Calibri" pitchFamily="34" charset="-122"/>
                <a:cs typeface="Calibri" pitchFamily="34" charset="-120"/>
              </a:rPr>
              <a:t>SellerSprite adapter: </a:t>
            </a:r>
            <a:pPr indent="0" marL="0">
              <a:spcAft>
                <a:spcPts val="100"/>
              </a:spcAft>
              <a:buNone/>
            </a:pPr>
            <a:r>
              <a:rPr lang="en-US" sz="1250" dirty="0">
                <a:solidFill>
                  <a:srgbClr val="16243A"/>
                </a:solidFill>
                <a:latin typeface="Calibri" pitchFamily="34" charset="0"/>
                <a:ea typeface="Calibri" pitchFamily="34" charset="-122"/>
                <a:cs typeface="Calibri" pitchFamily="34" charset="-120"/>
              </a:rPr>
              <a:t>known mapping pinned; other sources go through the detector</a:t>
            </a:r>
            <a:endParaRPr lang="en-US" sz="125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卖家精灵适配器：固定映射；其它来源走自动识别</a:t>
            </a:r>
            <a:endParaRPr lang="en-US" sz="1250" dirty="0"/>
          </a:p>
        </p:txBody>
      </p:sp>
      <p:sp>
        <p:nvSpPr>
          <p:cNvPr id="16" name="Text 14"/>
          <p:cNvSpPr txBox="1"/>
          <p:nvPr/>
        </p:nvSpPr>
        <p:spPr>
          <a:xfrm>
            <a:off x="6675120" y="1645920"/>
            <a:ext cx="502920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RECORD IDENTITY &amp; SCALE</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记录标识与规模</a:t>
            </a:r>
            <a:endParaRPr lang="en-US" sz="1000" dirty="0"/>
          </a:p>
        </p:txBody>
      </p:sp>
      <p:sp>
        <p:nvSpPr>
          <p:cNvPr id="17" name="Text 15"/>
          <p:cNvSpPr txBox="1"/>
          <p:nvPr/>
        </p:nvSpPr>
        <p:spPr>
          <a:xfrm>
            <a:off x="6675120" y="1965960"/>
            <a:ext cx="4983480" cy="960120"/>
          </a:xfrm>
          <a:prstGeom prst="rect">
            <a:avLst/>
          </a:prstGeom>
          <a:solidFill>
            <a:srgbClr val="F4F6F9"/>
          </a:solidFill>
          <a:ln w="9525">
            <a:solidFill>
              <a:srgbClr val="DCE3EB"/>
            </a:solidFill>
          </a:ln>
        </p:spPr>
        <p:txBody>
          <a:bodyPr wrap="square" lIns="101600" tIns="101600" rIns="101600" bIns="101600" rtlCol="0" anchor="t"/>
          <a:lstStyle/>
          <a:p>
            <a:pPr indent="0" marL="0">
              <a:buNone/>
            </a:pPr>
            <a:r>
              <a:rPr lang="en-US" sz="1050" dirty="0">
                <a:solidFill>
                  <a:srgbClr val="16243A"/>
                </a:solidFill>
                <a:latin typeface="Courier New" pitchFamily="34" charset="0"/>
                <a:ea typeface="Courier New" pitchFamily="34" charset="-122"/>
                <a:cs typeface="Courier New" pitchFamily="34" charset="-120"/>
              </a:rPr>
              <a:t>record_id = sha1(source | native_id | timestamp)</a:t>
            </a:r>
            <a:endParaRPr lang="en-US" sz="1050" dirty="0"/>
          </a:p>
          <a:p>
            <a:pPr indent="0" marL="0">
              <a:buNone/>
            </a:pPr>
            <a:r>
              <a:rPr lang="en-US" sz="1050" dirty="0">
                <a:solidFill>
                  <a:srgbClr val="16243A"/>
                </a:solidFill>
                <a:latin typeface="Courier New" pitchFamily="34" charset="0"/>
                <a:ea typeface="Courier New" pitchFamily="34" charset="-122"/>
                <a:cs typeface="Courier New" pitchFamily="34" charset="-120"/>
              </a:rPr>
              <a:t>ASIN_RE   = ^(B0[0-9A-Z]{8}|[0-9]{9}[0-9X])$</a:t>
            </a:r>
            <a:endParaRPr lang="en-US" sz="1050" dirty="0"/>
          </a:p>
          <a:p>
            <a:pPr indent="0" marL="0">
              <a:buNone/>
            </a:pPr>
            <a:r>
              <a:rPr lang="en-US" sz="1050" dirty="0">
                <a:solidFill>
                  <a:srgbClr val="16243A"/>
                </a:solidFill>
                <a:latin typeface="Courier New" pitchFamily="34" charset="0"/>
                <a:ea typeface="Courier New" pitchFamily="34" charset="-122"/>
                <a:cs typeface="Courier New" pitchFamily="34" charset="-120"/>
              </a:rPr>
              <a:t>unmapped columns → one JSON `attributes` field</a:t>
            </a:r>
            <a:endParaRPr lang="en-US" sz="1050" dirty="0"/>
          </a:p>
        </p:txBody>
      </p:sp>
      <p:sp>
        <p:nvSpPr>
          <p:cNvPr id="18" name="Shape 16"/>
          <p:cNvSpPr/>
          <p:nvPr/>
        </p:nvSpPr>
        <p:spPr>
          <a:xfrm>
            <a:off x="6675120" y="3191256"/>
            <a:ext cx="91440" cy="91440"/>
          </a:xfrm>
          <a:prstGeom prst="ellipse">
            <a:avLst/>
          </a:prstGeom>
          <a:solidFill>
            <a:srgbClr val="0E7C6B"/>
          </a:solidFill>
          <a:ln w="12700">
            <a:solidFill>
              <a:srgbClr val="0E7C6B"/>
            </a:solidFill>
            <a:prstDash val="solid"/>
          </a:ln>
        </p:spPr>
      </p:sp>
      <p:sp>
        <p:nvSpPr>
          <p:cNvPr id="19" name="Text 17"/>
          <p:cNvSpPr txBox="1"/>
          <p:nvPr/>
        </p:nvSpPr>
        <p:spPr>
          <a:xfrm>
            <a:off x="6876288" y="3108960"/>
            <a:ext cx="4782312" cy="795528"/>
          </a:xfrm>
          <a:prstGeom prst="rect">
            <a:avLst/>
          </a:prstGeom>
          <a:noFill/>
          <a:ln/>
        </p:spPr>
        <p:txBody>
          <a:bodyPr wrap="square" lIns="0" tIns="0" rIns="0" bIns="0" rtlCol="0" anchor="t"/>
          <a:lstStyle/>
          <a:p>
            <a:pPr indent="0" marL="0">
              <a:spcAft>
                <a:spcPts val="100"/>
              </a:spcAft>
              <a:buNone/>
            </a:pPr>
            <a:r>
              <a:rPr lang="en-US" sz="1200" b="1" dirty="0">
                <a:solidFill>
                  <a:srgbClr val="16243A"/>
                </a:solidFill>
                <a:latin typeface="Calibri" pitchFamily="34" charset="0"/>
                <a:ea typeface="Calibri" pitchFamily="34" charset="-122"/>
                <a:cs typeface="Calibri" pitchFamily="34" charset="-120"/>
              </a:rPr>
              <a:t>Polars path for large files: </a:t>
            </a:r>
            <a:pPr indent="0" marL="0">
              <a:spcAft>
                <a:spcPts val="100"/>
              </a:spcAft>
              <a:buNone/>
            </a:pPr>
            <a:r>
              <a:rPr lang="en-US" sz="1200" dirty="0">
                <a:solidFill>
                  <a:srgbClr val="16243A"/>
                </a:solidFill>
                <a:latin typeface="Calibri" pitchFamily="34" charset="0"/>
                <a:ea typeface="Calibri" pitchFamily="34" charset="-122"/>
                <a:cs typeface="Calibri" pitchFamily="34" charset="-120"/>
              </a:rPr>
              <a:t>CSV scanned lazily, raw zone streamed to Parquet, all parsing as vectorised expressions</a:t>
            </a:r>
            <a:endParaRPr lang="en-US" sz="120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大文件走 Polars：惰性扫描 CSV，原始区流式写入 Parquet，解析全部向量化</a:t>
            </a:r>
            <a:endParaRPr lang="en-US" sz="1200" dirty="0"/>
          </a:p>
        </p:txBody>
      </p:sp>
      <p:sp>
        <p:nvSpPr>
          <p:cNvPr id="20" name="Shape 18"/>
          <p:cNvSpPr/>
          <p:nvPr/>
        </p:nvSpPr>
        <p:spPr>
          <a:xfrm>
            <a:off x="6675120" y="4032504"/>
            <a:ext cx="91440" cy="91440"/>
          </a:xfrm>
          <a:prstGeom prst="ellipse">
            <a:avLst/>
          </a:prstGeom>
          <a:solidFill>
            <a:srgbClr val="0E7C6B"/>
          </a:solidFill>
          <a:ln w="12700">
            <a:solidFill>
              <a:srgbClr val="0E7C6B"/>
            </a:solidFill>
            <a:prstDash val="solid"/>
          </a:ln>
        </p:spPr>
      </p:sp>
      <p:sp>
        <p:nvSpPr>
          <p:cNvPr id="21" name="Text 19"/>
          <p:cNvSpPr txBox="1"/>
          <p:nvPr/>
        </p:nvSpPr>
        <p:spPr>
          <a:xfrm>
            <a:off x="6876288" y="3950208"/>
            <a:ext cx="4782312" cy="795528"/>
          </a:xfrm>
          <a:prstGeom prst="rect">
            <a:avLst/>
          </a:prstGeom>
          <a:noFill/>
          <a:ln/>
        </p:spPr>
        <p:txBody>
          <a:bodyPr wrap="square" lIns="0" tIns="0" rIns="0" bIns="0" rtlCol="0" anchor="t"/>
          <a:lstStyle/>
          <a:p>
            <a:pPr indent="0" marL="0">
              <a:spcAft>
                <a:spcPts val="100"/>
              </a:spcAft>
              <a:buNone/>
            </a:pPr>
            <a:r>
              <a:rPr lang="en-US" sz="1200" b="1" dirty="0">
                <a:solidFill>
                  <a:srgbClr val="16243A"/>
                </a:solidFill>
                <a:latin typeface="Calibri" pitchFamily="34" charset="0"/>
                <a:ea typeface="Calibri" pitchFamily="34" charset="-122"/>
                <a:cs typeface="Calibri" pitchFamily="34" charset="-120"/>
              </a:rPr>
              <a:t>Identical results: </a:t>
            </a:r>
            <a:pPr indent="0" marL="0">
              <a:spcAft>
                <a:spcPts val="100"/>
              </a:spcAft>
              <a:buNone/>
            </a:pPr>
            <a:r>
              <a:rPr lang="en-US" sz="1200" dirty="0">
                <a:solidFill>
                  <a:srgbClr val="16243A"/>
                </a:solidFill>
                <a:latin typeface="Calibri" pitchFamily="34" charset="0"/>
                <a:ea typeface="Calibri" pitchFamily="34" charset="-122"/>
                <a:cs typeface="Calibri" pitchFamily="34" charset="-120"/>
              </a:rPr>
              <a:t>pandas and Polars paths share the detector and the id formula</a:t>
            </a:r>
            <a:endParaRPr lang="en-US" sz="120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两条路径共用识别器与 ID 公式，结果一致</a:t>
            </a:r>
            <a:endParaRPr lang="en-US" sz="1200" dirty="0"/>
          </a:p>
        </p:txBody>
      </p:sp>
      <p:sp>
        <p:nvSpPr>
          <p:cNvPr id="22" name="Shape 20"/>
          <p:cNvSpPr/>
          <p:nvPr/>
        </p:nvSpPr>
        <p:spPr>
          <a:xfrm>
            <a:off x="6675120" y="4873752"/>
            <a:ext cx="91440" cy="91440"/>
          </a:xfrm>
          <a:prstGeom prst="ellipse">
            <a:avLst/>
          </a:prstGeom>
          <a:solidFill>
            <a:srgbClr val="0E7C6B"/>
          </a:solidFill>
          <a:ln w="12700">
            <a:solidFill>
              <a:srgbClr val="0E7C6B"/>
            </a:solidFill>
            <a:prstDash val="solid"/>
          </a:ln>
        </p:spPr>
      </p:sp>
      <p:sp>
        <p:nvSpPr>
          <p:cNvPr id="23" name="Text 21"/>
          <p:cNvSpPr txBox="1"/>
          <p:nvPr/>
        </p:nvSpPr>
        <p:spPr>
          <a:xfrm>
            <a:off x="6876288" y="4791456"/>
            <a:ext cx="4782312" cy="795528"/>
          </a:xfrm>
          <a:prstGeom prst="rect">
            <a:avLst/>
          </a:prstGeom>
          <a:noFill/>
          <a:ln/>
        </p:spPr>
        <p:txBody>
          <a:bodyPr wrap="square" lIns="0" tIns="0" rIns="0" bIns="0" rtlCol="0" anchor="t"/>
          <a:lstStyle/>
          <a:p>
            <a:pPr indent="0" marL="0">
              <a:spcAft>
                <a:spcPts val="100"/>
              </a:spcAft>
              <a:buNone/>
            </a:pPr>
            <a:r>
              <a:rPr lang="en-US" sz="1200" dirty="0">
                <a:solidFill>
                  <a:srgbClr val="16243A"/>
                </a:solidFill>
                <a:latin typeface="Calibri" pitchFamily="34" charset="0"/>
                <a:ea typeface="Calibri" pitchFamily="34" charset="-122"/>
                <a:cs typeface="Calibri" pitchFamily="34" charset="-120"/>
              </a:rPr>
              <a:t>Hard rejections carry a reason (e.g. missing title, invalid price)</a:t>
            </a:r>
            <a:endParaRPr lang="en-US" sz="120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硬性拒绝均附原因（如缺少标题、价格无效）</a:t>
            </a:r>
            <a:endParaRPr lang="en-US" sz="1200" dirty="0"/>
          </a:p>
        </p:txBody>
      </p:sp>
      <p:sp>
        <p:nvSpPr>
          <p:cNvPr id="24" name="Text 22"/>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STAGE 2 · DATA QUALITY</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第二阶段 · 数据质量</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Flag, score, never delete</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只标记与评分，从不删除</a:t>
            </a:r>
            <a:endParaRPr lang="en-US" sz="1500" dirty="0"/>
          </a:p>
        </p:txBody>
      </p:sp>
      <p:sp>
        <p:nvSpPr>
          <p:cNvPr id="7" name="Shape 5"/>
          <p:cNvSpPr/>
          <p:nvPr/>
        </p:nvSpPr>
        <p:spPr>
          <a:xfrm>
            <a:off x="548640" y="1737360"/>
            <a:ext cx="2606040" cy="2148840"/>
          </a:xfrm>
          <a:prstGeom prst="roundRect">
            <a:avLst>
              <a:gd name="adj" fmla="val 3404"/>
            </a:avLst>
          </a:prstGeom>
          <a:solidFill>
            <a:srgbClr val="F4F6F9"/>
          </a:solidFill>
          <a:ln w="12700">
            <a:solidFill>
              <a:srgbClr val="DCE3EB"/>
            </a:solidFill>
            <a:prstDash val="solid"/>
          </a:ln>
        </p:spPr>
      </p:sp>
      <p:sp>
        <p:nvSpPr>
          <p:cNvPr id="8" name="Text 6"/>
          <p:cNvSpPr txBox="1"/>
          <p:nvPr/>
        </p:nvSpPr>
        <p:spPr>
          <a:xfrm>
            <a:off x="713232" y="1828800"/>
            <a:ext cx="2286000" cy="1965960"/>
          </a:xfrm>
          <a:prstGeom prst="rect">
            <a:avLst/>
          </a:prstGeom>
          <a:noFill/>
          <a:ln/>
        </p:spPr>
        <p:txBody>
          <a:bodyPr wrap="square" lIns="0" tIns="0" rIns="0" bIns="0" rtlCol="0" anchor="t"/>
          <a:lstStyle/>
          <a:p>
            <a:pPr indent="0" marL="0">
              <a:buNone/>
            </a:pPr>
            <a:r>
              <a:rPr lang="en-US" sz="1600" b="1" dirty="0">
                <a:solidFill>
                  <a:srgbClr val="0E7C6B"/>
                </a:solidFill>
                <a:latin typeface="Cambria" pitchFamily="34" charset="0"/>
                <a:ea typeface="Cambria" pitchFamily="34" charset="-122"/>
                <a:cs typeface="Cambria" pitchFamily="34" charset="-120"/>
              </a:rPr>
              <a:t>Rule checks</a:t>
            </a:r>
            <a:endParaRPr lang="en-US" sz="1600" dirty="0"/>
          </a:p>
          <a:p>
            <a:pPr indent="0" marL="0">
              <a:buNone/>
            </a:pPr>
            <a:r>
              <a:rPr lang="en-US" sz="1100" dirty="0">
                <a:solidFill>
                  <a:srgbClr val="6A7890"/>
                </a:solidFill>
                <a:latin typeface="Microsoft YaHei" pitchFamily="34" charset="0"/>
                <a:ea typeface="Microsoft YaHei" pitchFamily="34" charset="-122"/>
                <a:cs typeface="Microsoft YaHei" pitchFamily="34" charset="-120"/>
              </a:rPr>
              <a:t>规则检查</a:t>
            </a:r>
            <a:endParaRPr lang="en-US" sz="1600" dirty="0"/>
          </a:p>
          <a:p>
            <a:pPr indent="0" marL="0">
              <a:buNone/>
            </a:pPr>
            <a:r>
              <a:rPr lang="en-US" sz="600" dirty="0">
                <a:solidFill>
                  <a:srgbClr val="000000"/>
                </a:solidFill>
              </a:rPr>
              <a:t> </a:t>
            </a:r>
            <a:endParaRPr lang="en-US" sz="1600" dirty="0"/>
          </a:p>
          <a:p>
            <a:pPr indent="0" marL="0">
              <a:buNone/>
            </a:pPr>
            <a:r>
              <a:rPr lang="en-US" sz="1200" dirty="0">
                <a:solidFill>
                  <a:srgbClr val="16243A"/>
                </a:solidFill>
                <a:latin typeface="Calibri" pitchFamily="34" charset="0"/>
                <a:ea typeface="Calibri" pitchFamily="34" charset="-122"/>
                <a:cs typeface="Calibri" pitchFamily="34" charset="-120"/>
              </a:rPr>
              <a:t>non-positive price · impossible sales · rating outside [0, 5] · revenue ≠ price × sales</a:t>
            </a:r>
            <a:endParaRPr lang="en-US" sz="1600" dirty="0"/>
          </a:p>
        </p:txBody>
      </p:sp>
      <p:sp>
        <p:nvSpPr>
          <p:cNvPr id="9" name="Shape 7"/>
          <p:cNvSpPr/>
          <p:nvPr/>
        </p:nvSpPr>
        <p:spPr>
          <a:xfrm>
            <a:off x="3364992" y="1737360"/>
            <a:ext cx="2606040" cy="2148840"/>
          </a:xfrm>
          <a:prstGeom prst="roundRect">
            <a:avLst>
              <a:gd name="adj" fmla="val 3404"/>
            </a:avLst>
          </a:prstGeom>
          <a:solidFill>
            <a:srgbClr val="F4F6F9"/>
          </a:solidFill>
          <a:ln w="12700">
            <a:solidFill>
              <a:srgbClr val="DCE3EB"/>
            </a:solidFill>
            <a:prstDash val="solid"/>
          </a:ln>
        </p:spPr>
      </p:sp>
      <p:sp>
        <p:nvSpPr>
          <p:cNvPr id="10" name="Text 8"/>
          <p:cNvSpPr txBox="1"/>
          <p:nvPr/>
        </p:nvSpPr>
        <p:spPr>
          <a:xfrm>
            <a:off x="3529584" y="1828800"/>
            <a:ext cx="2286000" cy="1965960"/>
          </a:xfrm>
          <a:prstGeom prst="rect">
            <a:avLst/>
          </a:prstGeom>
          <a:noFill/>
          <a:ln/>
        </p:spPr>
        <p:txBody>
          <a:bodyPr wrap="square" lIns="0" tIns="0" rIns="0" bIns="0" rtlCol="0" anchor="t"/>
          <a:lstStyle/>
          <a:p>
            <a:pPr indent="0" marL="0">
              <a:buNone/>
            </a:pPr>
            <a:r>
              <a:rPr lang="en-US" sz="1600" b="1" dirty="0">
                <a:solidFill>
                  <a:srgbClr val="0E7C6B"/>
                </a:solidFill>
                <a:latin typeface="Cambria" pitchFamily="34" charset="0"/>
                <a:ea typeface="Cambria" pitchFamily="34" charset="-122"/>
                <a:cs typeface="Cambria" pitchFamily="34" charset="-120"/>
              </a:rPr>
              <a:t>Duplicates</a:t>
            </a:r>
            <a:endParaRPr lang="en-US" sz="1600" dirty="0"/>
          </a:p>
          <a:p>
            <a:pPr indent="0" marL="0">
              <a:buNone/>
            </a:pPr>
            <a:r>
              <a:rPr lang="en-US" sz="1100" dirty="0">
                <a:solidFill>
                  <a:srgbClr val="6A7890"/>
                </a:solidFill>
                <a:latin typeface="Microsoft YaHei" pitchFamily="34" charset="0"/>
                <a:ea typeface="Microsoft YaHei" pitchFamily="34" charset="-122"/>
                <a:cs typeface="Microsoft YaHei" pitchFamily="34" charset="-120"/>
              </a:rPr>
              <a:t>重复检测</a:t>
            </a:r>
            <a:endParaRPr lang="en-US" sz="1600" dirty="0"/>
          </a:p>
          <a:p>
            <a:pPr indent="0" marL="0">
              <a:buNone/>
            </a:pPr>
            <a:r>
              <a:rPr lang="en-US" sz="600" dirty="0">
                <a:solidFill>
                  <a:srgbClr val="000000"/>
                </a:solidFill>
              </a:rPr>
              <a:t> </a:t>
            </a:r>
            <a:endParaRPr lang="en-US" sz="1600" dirty="0"/>
          </a:p>
          <a:p>
            <a:pPr indent="0" marL="0">
              <a:buNone/>
            </a:pPr>
            <a:r>
              <a:rPr lang="en-US" sz="1200" dirty="0">
                <a:solidFill>
                  <a:srgbClr val="16243A"/>
                </a:solidFill>
                <a:latin typeface="Calibri" pitchFamily="34" charset="0"/>
                <a:ea typeface="Calibri" pitchFamily="34" charset="-122"/>
                <a:cs typeface="Calibri" pitchFamily="34" charset="-120"/>
              </a:rPr>
              <a:t>same native id, or same title + brand + price</a:t>
            </a:r>
            <a:endParaRPr lang="en-US" sz="1600" dirty="0"/>
          </a:p>
        </p:txBody>
      </p:sp>
      <p:sp>
        <p:nvSpPr>
          <p:cNvPr id="11" name="Shape 9"/>
          <p:cNvSpPr/>
          <p:nvPr/>
        </p:nvSpPr>
        <p:spPr>
          <a:xfrm>
            <a:off x="6181344" y="1737360"/>
            <a:ext cx="2606040" cy="2148840"/>
          </a:xfrm>
          <a:prstGeom prst="roundRect">
            <a:avLst>
              <a:gd name="adj" fmla="val 3404"/>
            </a:avLst>
          </a:prstGeom>
          <a:solidFill>
            <a:srgbClr val="F4F6F9"/>
          </a:solidFill>
          <a:ln w="12700">
            <a:solidFill>
              <a:srgbClr val="DCE3EB"/>
            </a:solidFill>
            <a:prstDash val="solid"/>
          </a:ln>
        </p:spPr>
      </p:sp>
      <p:sp>
        <p:nvSpPr>
          <p:cNvPr id="12" name="Text 10"/>
          <p:cNvSpPr txBox="1"/>
          <p:nvPr/>
        </p:nvSpPr>
        <p:spPr>
          <a:xfrm>
            <a:off x="6345936" y="1828800"/>
            <a:ext cx="2286000" cy="1965960"/>
          </a:xfrm>
          <a:prstGeom prst="rect">
            <a:avLst/>
          </a:prstGeom>
          <a:noFill/>
          <a:ln/>
        </p:spPr>
        <p:txBody>
          <a:bodyPr wrap="square" lIns="0" tIns="0" rIns="0" bIns="0" rtlCol="0" anchor="t"/>
          <a:lstStyle/>
          <a:p>
            <a:pPr indent="0" marL="0">
              <a:buNone/>
            </a:pPr>
            <a:r>
              <a:rPr lang="en-US" sz="1600" b="1" dirty="0">
                <a:solidFill>
                  <a:srgbClr val="0E7C6B"/>
                </a:solidFill>
                <a:latin typeface="Cambria" pitchFamily="34" charset="0"/>
                <a:ea typeface="Cambria" pitchFamily="34" charset="-122"/>
                <a:cs typeface="Cambria" pitchFamily="34" charset="-120"/>
              </a:rPr>
              <a:t>Outliers</a:t>
            </a:r>
            <a:endParaRPr lang="en-US" sz="1600" dirty="0"/>
          </a:p>
          <a:p>
            <a:pPr indent="0" marL="0">
              <a:buNone/>
            </a:pPr>
            <a:r>
              <a:rPr lang="en-US" sz="1100" dirty="0">
                <a:solidFill>
                  <a:srgbClr val="6A7890"/>
                </a:solidFill>
                <a:latin typeface="Microsoft YaHei" pitchFamily="34" charset="0"/>
                <a:ea typeface="Microsoft YaHei" pitchFamily="34" charset="-122"/>
                <a:cs typeface="Microsoft YaHei" pitchFamily="34" charset="-120"/>
              </a:rPr>
              <a:t>异常值</a:t>
            </a:r>
            <a:endParaRPr lang="en-US" sz="1600" dirty="0"/>
          </a:p>
          <a:p>
            <a:pPr indent="0" marL="0">
              <a:buNone/>
            </a:pPr>
            <a:r>
              <a:rPr lang="en-US" sz="600" dirty="0">
                <a:solidFill>
                  <a:srgbClr val="000000"/>
                </a:solidFill>
              </a:rPr>
              <a:t> </a:t>
            </a:r>
            <a:endParaRPr lang="en-US" sz="1600" dirty="0"/>
          </a:p>
          <a:p>
            <a:pPr indent="0" marL="0">
              <a:buNone/>
            </a:pPr>
            <a:r>
              <a:rPr lang="en-US" sz="1200" dirty="0">
                <a:solidFill>
                  <a:srgbClr val="16243A"/>
                </a:solidFill>
                <a:latin typeface="Calibri" pitchFamily="34" charset="0"/>
                <a:ea typeface="Calibri" pitchFamily="34" charset="-122"/>
                <a:cs typeface="Calibri" pitchFamily="34" charset="-120"/>
              </a:rPr>
              <a:t>IQR (×3.0) · robust z-score on median/MAD (&gt; 3.5) · Isolation Forest (5% contamination)</a:t>
            </a:r>
            <a:endParaRPr lang="en-US" sz="1600" dirty="0"/>
          </a:p>
        </p:txBody>
      </p:sp>
      <p:sp>
        <p:nvSpPr>
          <p:cNvPr id="13" name="Shape 11"/>
          <p:cNvSpPr/>
          <p:nvPr/>
        </p:nvSpPr>
        <p:spPr>
          <a:xfrm>
            <a:off x="8997696" y="1737360"/>
            <a:ext cx="2606040" cy="2148840"/>
          </a:xfrm>
          <a:prstGeom prst="roundRect">
            <a:avLst>
              <a:gd name="adj" fmla="val 3404"/>
            </a:avLst>
          </a:prstGeom>
          <a:solidFill>
            <a:srgbClr val="F4F6F9"/>
          </a:solidFill>
          <a:ln w="12700">
            <a:solidFill>
              <a:srgbClr val="DCE3EB"/>
            </a:solidFill>
            <a:prstDash val="solid"/>
          </a:ln>
        </p:spPr>
      </p:sp>
      <p:sp>
        <p:nvSpPr>
          <p:cNvPr id="14" name="Text 12"/>
          <p:cNvSpPr txBox="1"/>
          <p:nvPr/>
        </p:nvSpPr>
        <p:spPr>
          <a:xfrm>
            <a:off x="9162288" y="1828800"/>
            <a:ext cx="2286000" cy="1965960"/>
          </a:xfrm>
          <a:prstGeom prst="rect">
            <a:avLst/>
          </a:prstGeom>
          <a:noFill/>
          <a:ln/>
        </p:spPr>
        <p:txBody>
          <a:bodyPr wrap="square" lIns="0" tIns="0" rIns="0" bIns="0" rtlCol="0" anchor="t"/>
          <a:lstStyle/>
          <a:p>
            <a:pPr indent="0" marL="0">
              <a:buNone/>
            </a:pPr>
            <a:r>
              <a:rPr lang="en-US" sz="1600" b="1" dirty="0">
                <a:solidFill>
                  <a:srgbClr val="0E7C6B"/>
                </a:solidFill>
                <a:latin typeface="Cambria" pitchFamily="34" charset="0"/>
                <a:ea typeface="Cambria" pitchFamily="34" charset="-122"/>
                <a:cs typeface="Cambria" pitchFamily="34" charset="-120"/>
              </a:rPr>
              <a:t>Missing fields</a:t>
            </a:r>
            <a:endParaRPr lang="en-US" sz="1600" dirty="0"/>
          </a:p>
          <a:p>
            <a:pPr indent="0" marL="0">
              <a:buNone/>
            </a:pPr>
            <a:r>
              <a:rPr lang="en-US" sz="1100" dirty="0">
                <a:solidFill>
                  <a:srgbClr val="6A7890"/>
                </a:solidFill>
                <a:latin typeface="Microsoft YaHei" pitchFamily="34" charset="0"/>
                <a:ea typeface="Microsoft YaHei" pitchFamily="34" charset="-122"/>
                <a:cs typeface="Microsoft YaHei" pitchFamily="34" charset="-120"/>
              </a:rPr>
              <a:t>缺失字段</a:t>
            </a:r>
            <a:endParaRPr lang="en-US" sz="1600" dirty="0"/>
          </a:p>
          <a:p>
            <a:pPr indent="0" marL="0">
              <a:buNone/>
            </a:pPr>
            <a:r>
              <a:rPr lang="en-US" sz="600" dirty="0">
                <a:solidFill>
                  <a:srgbClr val="000000"/>
                </a:solidFill>
              </a:rPr>
              <a:t> </a:t>
            </a:r>
            <a:endParaRPr lang="en-US" sz="1600" dirty="0"/>
          </a:p>
          <a:p>
            <a:pPr indent="0" marL="0">
              <a:buNone/>
            </a:pPr>
            <a:r>
              <a:rPr lang="en-US" sz="1200" dirty="0">
                <a:solidFill>
                  <a:srgbClr val="16243A"/>
                </a:solidFill>
                <a:latin typeface="Calibri" pitchFamily="34" charset="0"/>
                <a:ea typeface="Calibri" pitchFamily="34" charset="-122"/>
                <a:cs typeface="Calibri" pitchFamily="34" charset="-120"/>
              </a:rPr>
              <a:t>weighted by field importance</a:t>
            </a:r>
            <a:endParaRPr lang="en-US" sz="1600" dirty="0"/>
          </a:p>
        </p:txBody>
      </p:sp>
      <p:sp>
        <p:nvSpPr>
          <p:cNvPr id="15" name="Text 13"/>
          <p:cNvSpPr txBox="1"/>
          <p:nvPr/>
        </p:nvSpPr>
        <p:spPr>
          <a:xfrm>
            <a:off x="548640" y="4160520"/>
            <a:ext cx="5486400" cy="237744"/>
          </a:xfrm>
          <a:prstGeom prst="rect">
            <a:avLst/>
          </a:prstGeom>
          <a:noFill/>
          <a:ln/>
        </p:spPr>
        <p:txBody>
          <a:bodyPr wrap="square" lIns="0" tIns="0" rIns="0" bIns="0" rtlCol="0" anchor="ctr"/>
          <a:lstStyle/>
          <a:p>
            <a:pPr indent="0" marL="0">
              <a:buNone/>
            </a:pPr>
            <a:r>
              <a:rPr lang="en-US" sz="1000" b="1" spc="200" kern="0" dirty="0">
                <a:solidFill>
                  <a:srgbClr val="B7791F"/>
                </a:solidFill>
                <a:latin typeface="Calibri" pitchFamily="34" charset="0"/>
                <a:ea typeface="Calibri" pitchFamily="34" charset="-122"/>
                <a:cs typeface="Calibri" pitchFamily="34" charset="-120"/>
              </a:rPr>
              <a:t>OUTPUT PER RECORD</a:t>
            </a:r>
            <a:pPr indent="0" marL="0">
              <a:buNone/>
            </a:pPr>
            <a:r>
              <a:rPr lang="en-US" sz="1000" b="1" dirty="0">
                <a:solidFill>
                  <a:srgbClr val="B7791F"/>
                </a:solidFill>
                <a:latin typeface="Microsoft YaHei" pitchFamily="34" charset="0"/>
                <a:ea typeface="Microsoft YaHei" pitchFamily="34" charset="-122"/>
                <a:cs typeface="Microsoft YaHei" pitchFamily="34" charset="-120"/>
              </a:rPr>
              <a:t>  每条记录的输出</a:t>
            </a:r>
            <a:endParaRPr lang="en-US" sz="1000" dirty="0"/>
          </a:p>
        </p:txBody>
      </p:sp>
      <p:sp>
        <p:nvSpPr>
          <p:cNvPr id="16" name="Text 14"/>
          <p:cNvSpPr txBox="1"/>
          <p:nvPr/>
        </p:nvSpPr>
        <p:spPr>
          <a:xfrm>
            <a:off x="548640" y="4480560"/>
            <a:ext cx="6583680" cy="960120"/>
          </a:xfrm>
          <a:prstGeom prst="rect">
            <a:avLst/>
          </a:prstGeom>
          <a:solidFill>
            <a:srgbClr val="F4F6F9"/>
          </a:solidFill>
          <a:ln w="9525">
            <a:solidFill>
              <a:srgbClr val="DCE3EB"/>
            </a:solidFill>
          </a:ln>
        </p:spPr>
        <p:txBody>
          <a:bodyPr wrap="square" lIns="101600" tIns="101600" rIns="101600" bIns="101600" rtlCol="0" anchor="t"/>
          <a:lstStyle/>
          <a:p>
            <a:pPr indent="0" marL="0">
              <a:buNone/>
            </a:pPr>
            <a:r>
              <a:rPr lang="en-US" sz="1100" dirty="0">
                <a:solidFill>
                  <a:srgbClr val="16243A"/>
                </a:solidFill>
                <a:latin typeface="Courier New" pitchFamily="34" charset="0"/>
                <a:ea typeface="Courier New" pitchFamily="34" charset="-122"/>
                <a:cs typeface="Courier New" pitchFamily="34" charset="-120"/>
              </a:rPr>
              <a:t>data_confidence   0–100</a:t>
            </a:r>
            <a:endParaRPr lang="en-US" sz="1100" dirty="0"/>
          </a:p>
          <a:p>
            <a:pPr indent="0" marL="0">
              <a:buNone/>
            </a:pPr>
            <a:r>
              <a:rPr lang="en-US" sz="1100" dirty="0">
                <a:solidFill>
                  <a:srgbClr val="16243A"/>
                </a:solidFill>
                <a:latin typeface="Courier New" pitchFamily="34" charset="0"/>
                <a:ea typeface="Courier New" pitchFamily="34" charset="-122"/>
                <a:cs typeface="Courier New" pitchFamily="34" charset="-120"/>
              </a:rPr>
              <a:t>quality_issues    [ … ]</a:t>
            </a:r>
            <a:endParaRPr lang="en-US" sz="1100" dirty="0"/>
          </a:p>
          <a:p>
            <a:pPr indent="0" marL="0">
              <a:buNone/>
            </a:pPr>
            <a:r>
              <a:rPr lang="en-US" sz="1100" dirty="0">
                <a:solidFill>
                  <a:srgbClr val="16243A"/>
                </a:solidFill>
                <a:latin typeface="Courier New" pitchFamily="34" charset="0"/>
                <a:ea typeface="Courier New" pitchFamily="34" charset="-122"/>
                <a:cs typeface="Courier New" pitchFamily="34" charset="-120"/>
              </a:rPr>
              <a:t>usable_for_market  True / False   ← low quality is flagged, kept visible</a:t>
            </a:r>
            <a:endParaRPr lang="en-US" sz="1100" dirty="0"/>
          </a:p>
        </p:txBody>
      </p:sp>
      <p:sp>
        <p:nvSpPr>
          <p:cNvPr id="17" name="Shape 15"/>
          <p:cNvSpPr/>
          <p:nvPr/>
        </p:nvSpPr>
        <p:spPr>
          <a:xfrm>
            <a:off x="7498080" y="4562856"/>
            <a:ext cx="91440" cy="91440"/>
          </a:xfrm>
          <a:prstGeom prst="ellipse">
            <a:avLst/>
          </a:prstGeom>
          <a:solidFill>
            <a:srgbClr val="0E7C6B"/>
          </a:solidFill>
          <a:ln w="12700">
            <a:solidFill>
              <a:srgbClr val="0E7C6B"/>
            </a:solidFill>
            <a:prstDash val="solid"/>
          </a:ln>
        </p:spPr>
      </p:sp>
      <p:sp>
        <p:nvSpPr>
          <p:cNvPr id="18" name="Text 16"/>
          <p:cNvSpPr txBox="1"/>
          <p:nvPr/>
        </p:nvSpPr>
        <p:spPr>
          <a:xfrm>
            <a:off x="7699248" y="4480560"/>
            <a:ext cx="4005072" cy="521208"/>
          </a:xfrm>
          <a:prstGeom prst="rect">
            <a:avLst/>
          </a:prstGeom>
          <a:noFill/>
          <a:ln/>
        </p:spPr>
        <p:txBody>
          <a:bodyPr wrap="square" lIns="0" tIns="0" rIns="0" bIns="0" rtlCol="0" anchor="t"/>
          <a:lstStyle/>
          <a:p>
            <a:pPr indent="0" marL="0">
              <a:spcAft>
                <a:spcPts val="100"/>
              </a:spcAft>
              <a:buNone/>
            </a:pPr>
            <a:r>
              <a:rPr lang="en-US" sz="1200" dirty="0">
                <a:solidFill>
                  <a:srgbClr val="16243A"/>
                </a:solidFill>
                <a:latin typeface="Calibri" pitchFamily="34" charset="0"/>
                <a:ea typeface="Calibri" pitchFamily="34" charset="-122"/>
                <a:cs typeface="Calibri" pitchFamily="34" charset="-120"/>
              </a:rPr>
              <a:t>Why never delete? Principle 8: every excluded listing needs a reason a person can check and overturn.</a:t>
            </a:r>
            <a:endParaRPr lang="en-US" sz="1200" dirty="0"/>
          </a:p>
          <a:p>
            <a:pPr indent="0" marL="0">
              <a:spcAft>
                <a:spcPts val="100"/>
              </a:spcAft>
              <a:buNone/>
            </a:pPr>
            <a:r>
              <a:rPr lang="en-US" sz="1000" dirty="0">
                <a:solidFill>
                  <a:srgbClr val="6A7890"/>
                </a:solidFill>
                <a:latin typeface="Microsoft YaHei" pitchFamily="34" charset="0"/>
                <a:ea typeface="Microsoft YaHei" pitchFamily="34" charset="-122"/>
                <a:cs typeface="Microsoft YaHei" pitchFamily="34" charset="-120"/>
              </a:rPr>
              <a:t>为何不删除？原则八：每条被排除的记录都必须有可复核、可推翻的原因。</a:t>
            </a:r>
            <a:endParaRPr lang="en-US" sz="1200" dirty="0"/>
          </a:p>
        </p:txBody>
      </p:sp>
      <p:sp>
        <p:nvSpPr>
          <p:cNvPr id="19" name="Text 17"/>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STAGE 3 · RELEVANCE</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第三阶段 · 相关性判定</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Local relevance scoring — no LLM</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该商品是否属于本类目？——本地判定，不依赖大模型</a:t>
            </a:r>
            <a:endParaRPr lang="en-US" sz="1500" dirty="0"/>
          </a:p>
        </p:txBody>
      </p:sp>
      <p:sp>
        <p:nvSpPr>
          <p:cNvPr id="7" name="Shape 5"/>
          <p:cNvSpPr/>
          <p:nvPr/>
        </p:nvSpPr>
        <p:spPr>
          <a:xfrm>
            <a:off x="548640" y="1737360"/>
            <a:ext cx="2468880" cy="731520"/>
          </a:xfrm>
          <a:prstGeom prst="roundRect">
            <a:avLst>
              <a:gd name="adj" fmla="val 8750"/>
            </a:avLst>
          </a:prstGeom>
          <a:solidFill>
            <a:srgbClr val="E3F2EF"/>
          </a:solidFill>
          <a:ln w="12700">
            <a:solidFill>
              <a:srgbClr val="0E7C6B"/>
            </a:solidFill>
            <a:prstDash val="solid"/>
          </a:ln>
        </p:spPr>
      </p:sp>
      <p:sp>
        <p:nvSpPr>
          <p:cNvPr id="8" name="Text 6"/>
          <p:cNvSpPr txBox="1"/>
          <p:nvPr/>
        </p:nvSpPr>
        <p:spPr>
          <a:xfrm>
            <a:off x="640080" y="1737360"/>
            <a:ext cx="2286000" cy="731520"/>
          </a:xfrm>
          <a:prstGeom prst="rect">
            <a:avLst/>
          </a:prstGeom>
          <a:noFill/>
          <a:ln/>
        </p:spPr>
        <p:txBody>
          <a:bodyPr wrap="square" lIns="0" tIns="0" rIns="0" bIns="0" rtlCol="0" anchor="ctr"/>
          <a:lstStyle/>
          <a:p>
            <a:pPr algn="l" indent="0" marL="0">
              <a:buNone/>
            </a:pPr>
            <a:r>
              <a:rPr lang="en-US" sz="1200" b="1" dirty="0">
                <a:solidFill>
                  <a:srgbClr val="16243A"/>
                </a:solidFill>
                <a:latin typeface="Calibri" pitchFamily="34" charset="0"/>
                <a:ea typeface="Calibri" pitchFamily="34" charset="-122"/>
                <a:cs typeface="Calibri" pitchFamily="34" charset="-120"/>
              </a:rPr>
              <a:t>Prototype similarity</a:t>
            </a:r>
            <a:endParaRPr lang="en-US" sz="120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原型相似度</a:t>
            </a:r>
            <a:endParaRPr lang="en-US" sz="1200" dirty="0"/>
          </a:p>
        </p:txBody>
      </p:sp>
      <p:sp>
        <p:nvSpPr>
          <p:cNvPr id="9" name="Text 7"/>
          <p:cNvSpPr txBox="1"/>
          <p:nvPr/>
        </p:nvSpPr>
        <p:spPr>
          <a:xfrm>
            <a:off x="3154680" y="1737360"/>
            <a:ext cx="3749040" cy="731520"/>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TF-IDF (word 1–2 + char 3–5 grams) cosine to positive / negative prototype phrases</a:t>
            </a:r>
            <a:endParaRPr lang="en-US" sz="1150" dirty="0"/>
          </a:p>
        </p:txBody>
      </p:sp>
      <p:sp>
        <p:nvSpPr>
          <p:cNvPr id="10" name="Shape 8"/>
          <p:cNvSpPr/>
          <p:nvPr/>
        </p:nvSpPr>
        <p:spPr>
          <a:xfrm>
            <a:off x="6903720" y="2103120"/>
            <a:ext cx="502920" cy="1371600"/>
          </a:xfrm>
          <a:prstGeom prst="line">
            <a:avLst/>
          </a:prstGeom>
          <a:noFill/>
          <a:ln w="19050">
            <a:solidFill>
              <a:srgbClr val="0E7C6B"/>
            </a:solidFill>
            <a:prstDash val="solid"/>
            <a:tailEnd type="triangle"/>
          </a:ln>
        </p:spPr>
      </p:sp>
      <p:sp>
        <p:nvSpPr>
          <p:cNvPr id="11" name="Shape 9"/>
          <p:cNvSpPr/>
          <p:nvPr/>
        </p:nvSpPr>
        <p:spPr>
          <a:xfrm>
            <a:off x="548640" y="2606040"/>
            <a:ext cx="2468880" cy="731520"/>
          </a:xfrm>
          <a:prstGeom prst="roundRect">
            <a:avLst>
              <a:gd name="adj" fmla="val 8750"/>
            </a:avLst>
          </a:prstGeom>
          <a:solidFill>
            <a:srgbClr val="E3F2EF"/>
          </a:solidFill>
          <a:ln w="12700">
            <a:solidFill>
              <a:srgbClr val="0E7C6B"/>
            </a:solidFill>
            <a:prstDash val="solid"/>
          </a:ln>
        </p:spPr>
      </p:sp>
      <p:sp>
        <p:nvSpPr>
          <p:cNvPr id="12" name="Text 10"/>
          <p:cNvSpPr txBox="1"/>
          <p:nvPr/>
        </p:nvSpPr>
        <p:spPr>
          <a:xfrm>
            <a:off x="640080" y="2606040"/>
            <a:ext cx="2286000" cy="731520"/>
          </a:xfrm>
          <a:prstGeom prst="rect">
            <a:avLst/>
          </a:prstGeom>
          <a:noFill/>
          <a:ln/>
        </p:spPr>
        <p:txBody>
          <a:bodyPr wrap="square" lIns="0" tIns="0" rIns="0" bIns="0" rtlCol="0" anchor="ctr"/>
          <a:lstStyle/>
          <a:p>
            <a:pPr algn="l" indent="0" marL="0">
              <a:buNone/>
            </a:pPr>
            <a:r>
              <a:rPr lang="en-US" sz="1200" b="1" dirty="0">
                <a:solidFill>
                  <a:srgbClr val="16243A"/>
                </a:solidFill>
                <a:latin typeface="Calibri" pitchFamily="34" charset="0"/>
                <a:ea typeface="Calibri" pitchFamily="34" charset="-122"/>
                <a:cs typeface="Calibri" pitchFamily="34" charset="-120"/>
              </a:rPr>
              <a:t>Lexical evidence</a:t>
            </a:r>
            <a:endParaRPr lang="en-US" sz="120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词汇证据</a:t>
            </a:r>
            <a:endParaRPr lang="en-US" sz="1200" dirty="0"/>
          </a:p>
        </p:txBody>
      </p:sp>
      <p:sp>
        <p:nvSpPr>
          <p:cNvPr id="13" name="Text 11"/>
          <p:cNvSpPr txBox="1"/>
          <p:nvPr/>
        </p:nvSpPr>
        <p:spPr>
          <a:xfrm>
            <a:off x="3154680" y="2606040"/>
            <a:ext cx="3749040" cy="731520"/>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whole-word hits on core and negative terms of the domain</a:t>
            </a:r>
            <a:endParaRPr lang="en-US" sz="1150" dirty="0"/>
          </a:p>
        </p:txBody>
      </p:sp>
      <p:sp>
        <p:nvSpPr>
          <p:cNvPr id="14" name="Shape 12"/>
          <p:cNvSpPr/>
          <p:nvPr/>
        </p:nvSpPr>
        <p:spPr>
          <a:xfrm>
            <a:off x="6903720" y="2971800"/>
            <a:ext cx="502920" cy="502920"/>
          </a:xfrm>
          <a:prstGeom prst="line">
            <a:avLst/>
          </a:prstGeom>
          <a:noFill/>
          <a:ln w="19050">
            <a:solidFill>
              <a:srgbClr val="0E7C6B"/>
            </a:solidFill>
            <a:prstDash val="solid"/>
            <a:tailEnd type="triangle"/>
          </a:ln>
        </p:spPr>
      </p:sp>
      <p:sp>
        <p:nvSpPr>
          <p:cNvPr id="15" name="Shape 13"/>
          <p:cNvSpPr/>
          <p:nvPr/>
        </p:nvSpPr>
        <p:spPr>
          <a:xfrm>
            <a:off x="548640" y="3474720"/>
            <a:ext cx="2468880" cy="731520"/>
          </a:xfrm>
          <a:prstGeom prst="roundRect">
            <a:avLst>
              <a:gd name="adj" fmla="val 8750"/>
            </a:avLst>
          </a:prstGeom>
          <a:solidFill>
            <a:srgbClr val="E3F2EF"/>
          </a:solidFill>
          <a:ln w="12700">
            <a:solidFill>
              <a:srgbClr val="0E7C6B"/>
            </a:solidFill>
            <a:prstDash val="solid"/>
          </a:ln>
        </p:spPr>
      </p:sp>
      <p:sp>
        <p:nvSpPr>
          <p:cNvPr id="16" name="Text 14"/>
          <p:cNvSpPr txBox="1"/>
          <p:nvPr/>
        </p:nvSpPr>
        <p:spPr>
          <a:xfrm>
            <a:off x="640080" y="3474720"/>
            <a:ext cx="2286000" cy="731520"/>
          </a:xfrm>
          <a:prstGeom prst="rect">
            <a:avLst/>
          </a:prstGeom>
          <a:noFill/>
          <a:ln/>
        </p:spPr>
        <p:txBody>
          <a:bodyPr wrap="square" lIns="0" tIns="0" rIns="0" bIns="0" rtlCol="0" anchor="ctr"/>
          <a:lstStyle/>
          <a:p>
            <a:pPr algn="l" indent="0" marL="0">
              <a:buNone/>
            </a:pPr>
            <a:r>
              <a:rPr lang="en-US" sz="1200" b="1" dirty="0">
                <a:solidFill>
                  <a:srgbClr val="16243A"/>
                </a:solidFill>
                <a:latin typeface="Calibri" pitchFamily="34" charset="0"/>
                <a:ea typeface="Calibri" pitchFamily="34" charset="-122"/>
                <a:cs typeface="Calibri" pitchFamily="34" charset="-120"/>
              </a:rPr>
              <a:t>Marketplace category</a:t>
            </a:r>
            <a:endParaRPr lang="en-US" sz="120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平台类目</a:t>
            </a:r>
            <a:endParaRPr lang="en-US" sz="1200" dirty="0"/>
          </a:p>
        </p:txBody>
      </p:sp>
      <p:sp>
        <p:nvSpPr>
          <p:cNvPr id="17" name="Text 15"/>
          <p:cNvSpPr txBox="1"/>
          <p:nvPr/>
        </p:nvSpPr>
        <p:spPr>
          <a:xfrm>
            <a:off x="3154680" y="3474720"/>
            <a:ext cx="3749040" cy="731520"/>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category field as an additional signal</a:t>
            </a:r>
            <a:endParaRPr lang="en-US" sz="1150" dirty="0"/>
          </a:p>
        </p:txBody>
      </p:sp>
      <p:sp>
        <p:nvSpPr>
          <p:cNvPr id="18" name="Shape 16"/>
          <p:cNvSpPr/>
          <p:nvPr/>
        </p:nvSpPr>
        <p:spPr>
          <a:xfrm>
            <a:off x="6903720" y="3840480"/>
            <a:ext cx="502920" cy="-365760"/>
          </a:xfrm>
          <a:prstGeom prst="line">
            <a:avLst/>
          </a:prstGeom>
          <a:noFill/>
          <a:ln w="19050">
            <a:solidFill>
              <a:srgbClr val="0E7C6B"/>
            </a:solidFill>
            <a:prstDash val="solid"/>
            <a:tailEnd type="triangle"/>
          </a:ln>
        </p:spPr>
      </p:sp>
      <p:sp>
        <p:nvSpPr>
          <p:cNvPr id="19" name="Shape 17"/>
          <p:cNvSpPr/>
          <p:nvPr/>
        </p:nvSpPr>
        <p:spPr>
          <a:xfrm>
            <a:off x="548640" y="4343400"/>
            <a:ext cx="2468880" cy="731520"/>
          </a:xfrm>
          <a:prstGeom prst="roundRect">
            <a:avLst>
              <a:gd name="adj" fmla="val 8750"/>
            </a:avLst>
          </a:prstGeom>
          <a:solidFill>
            <a:srgbClr val="E3F2EF"/>
          </a:solidFill>
          <a:ln w="12700">
            <a:solidFill>
              <a:srgbClr val="0E7C6B"/>
            </a:solidFill>
            <a:prstDash val="solid"/>
          </a:ln>
        </p:spPr>
      </p:sp>
      <p:sp>
        <p:nvSpPr>
          <p:cNvPr id="20" name="Text 18"/>
          <p:cNvSpPr txBox="1"/>
          <p:nvPr/>
        </p:nvSpPr>
        <p:spPr>
          <a:xfrm>
            <a:off x="640080" y="4343400"/>
            <a:ext cx="2286000" cy="731520"/>
          </a:xfrm>
          <a:prstGeom prst="rect">
            <a:avLst/>
          </a:prstGeom>
          <a:noFill/>
          <a:ln/>
        </p:spPr>
        <p:txBody>
          <a:bodyPr wrap="square" lIns="0" tIns="0" rIns="0" bIns="0" rtlCol="0" anchor="ctr"/>
          <a:lstStyle/>
          <a:p>
            <a:pPr algn="l" indent="0" marL="0">
              <a:buNone/>
            </a:pPr>
            <a:r>
              <a:rPr lang="en-US" sz="1200" b="1" dirty="0">
                <a:solidFill>
                  <a:srgbClr val="16243A"/>
                </a:solidFill>
                <a:latin typeface="Calibri" pitchFamily="34" charset="0"/>
                <a:ea typeface="Calibri" pitchFamily="34" charset="-122"/>
                <a:cs typeface="Calibri" pitchFamily="34" charset="-120"/>
              </a:rPr>
              <a:t>Correction model</a:t>
            </a:r>
            <a:endParaRPr lang="en-US" sz="120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纠错模型</a:t>
            </a:r>
            <a:endParaRPr lang="en-US" sz="1200" dirty="0"/>
          </a:p>
        </p:txBody>
      </p:sp>
      <p:sp>
        <p:nvSpPr>
          <p:cNvPr id="21" name="Text 19"/>
          <p:cNvSpPr txBox="1"/>
          <p:nvPr/>
        </p:nvSpPr>
        <p:spPr>
          <a:xfrm>
            <a:off x="3154680" y="4343400"/>
            <a:ext cx="3749040" cy="731520"/>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trained on human corrections: logistic regression, XGBoost from 200 labels; weight grows with labels</a:t>
            </a:r>
            <a:endParaRPr lang="en-US" sz="1150" dirty="0"/>
          </a:p>
        </p:txBody>
      </p:sp>
      <p:sp>
        <p:nvSpPr>
          <p:cNvPr id="22" name="Shape 20"/>
          <p:cNvSpPr/>
          <p:nvPr/>
        </p:nvSpPr>
        <p:spPr>
          <a:xfrm>
            <a:off x="6903720" y="4709160"/>
            <a:ext cx="502920" cy="-1234440"/>
          </a:xfrm>
          <a:prstGeom prst="line">
            <a:avLst/>
          </a:prstGeom>
          <a:noFill/>
          <a:ln w="19050">
            <a:solidFill>
              <a:srgbClr val="0E7C6B"/>
            </a:solidFill>
            <a:prstDash val="solid"/>
            <a:tailEnd type="triangle"/>
          </a:ln>
        </p:spPr>
      </p:sp>
      <p:sp>
        <p:nvSpPr>
          <p:cNvPr id="23" name="Shape 21"/>
          <p:cNvSpPr/>
          <p:nvPr/>
        </p:nvSpPr>
        <p:spPr>
          <a:xfrm>
            <a:off x="7406640" y="2971800"/>
            <a:ext cx="2194560" cy="1005840"/>
          </a:xfrm>
          <a:prstGeom prst="roundRect">
            <a:avLst>
              <a:gd name="adj" fmla="val 6364"/>
            </a:avLst>
          </a:prstGeom>
          <a:solidFill>
            <a:srgbClr val="FFFFFF"/>
          </a:solidFill>
          <a:ln w="12700">
            <a:solidFill>
              <a:srgbClr val="DCE3EB"/>
            </a:solidFill>
            <a:prstDash val="solid"/>
          </a:ln>
        </p:spPr>
      </p:sp>
      <p:sp>
        <p:nvSpPr>
          <p:cNvPr id="24" name="Text 22"/>
          <p:cNvSpPr txBox="1"/>
          <p:nvPr/>
        </p:nvSpPr>
        <p:spPr>
          <a:xfrm>
            <a:off x="7498080" y="2971800"/>
            <a:ext cx="2011680" cy="1005840"/>
          </a:xfrm>
          <a:prstGeom prst="rect">
            <a:avLst/>
          </a:prstGeom>
          <a:noFill/>
          <a:ln/>
        </p:spPr>
        <p:txBody>
          <a:bodyPr wrap="square" lIns="0" tIns="0" rIns="0" bIns="0" rtlCol="0" anchor="ctr"/>
          <a:lstStyle/>
          <a:p>
            <a:pPr algn="ctr" indent="0" marL="0">
              <a:buNone/>
            </a:pPr>
            <a:r>
              <a:rPr lang="en-US" sz="1300" b="1" dirty="0">
                <a:solidFill>
                  <a:srgbClr val="16243A"/>
                </a:solidFill>
                <a:latin typeface="Calibri" pitchFamily="34" charset="0"/>
                <a:ea typeface="Calibri" pitchFamily="34" charset="-122"/>
                <a:cs typeface="Calibri" pitchFamily="34" charset="-120"/>
              </a:rPr>
              <a:t>relevance_score 0–100</a:t>
            </a:r>
            <a:endParaRPr lang="en-US" sz="1300" dirty="0"/>
          </a:p>
          <a:p>
            <a:pPr algn="ctr" indent="0" marL="0">
              <a:buNone/>
            </a:pPr>
            <a:r>
              <a:rPr lang="en-US" sz="1000" dirty="0">
                <a:solidFill>
                  <a:srgbClr val="6A7890"/>
                </a:solidFill>
                <a:latin typeface="Microsoft YaHei" pitchFamily="34" charset="0"/>
                <a:ea typeface="Microsoft YaHei" pitchFamily="34" charset="-122"/>
                <a:cs typeface="Microsoft YaHei" pitchFamily="34" charset="-120"/>
              </a:rPr>
              <a:t>相关性得分</a:t>
            </a:r>
            <a:endParaRPr lang="en-US" sz="1300" dirty="0"/>
          </a:p>
        </p:txBody>
      </p:sp>
      <p:sp>
        <p:nvSpPr>
          <p:cNvPr id="25" name="Shape 23"/>
          <p:cNvSpPr/>
          <p:nvPr/>
        </p:nvSpPr>
        <p:spPr>
          <a:xfrm>
            <a:off x="9601200" y="3474720"/>
            <a:ext cx="320040" cy="0"/>
          </a:xfrm>
          <a:prstGeom prst="line">
            <a:avLst/>
          </a:prstGeom>
          <a:noFill/>
          <a:ln w="19050">
            <a:solidFill>
              <a:srgbClr val="0E7C6B"/>
            </a:solidFill>
            <a:prstDash val="solid"/>
            <a:tailEnd type="triangle"/>
          </a:ln>
        </p:spPr>
      </p:sp>
      <p:sp>
        <p:nvSpPr>
          <p:cNvPr id="26" name="Shape 24"/>
          <p:cNvSpPr/>
          <p:nvPr/>
        </p:nvSpPr>
        <p:spPr>
          <a:xfrm>
            <a:off x="9921240" y="2331720"/>
            <a:ext cx="1783080" cy="658368"/>
          </a:xfrm>
          <a:prstGeom prst="roundRect">
            <a:avLst>
              <a:gd name="adj" fmla="val 9722"/>
            </a:avLst>
          </a:prstGeom>
          <a:solidFill>
            <a:srgbClr val="E3F2EF"/>
          </a:solidFill>
          <a:ln w="12700">
            <a:solidFill>
              <a:srgbClr val="DCE3EB"/>
            </a:solidFill>
            <a:prstDash val="solid"/>
          </a:ln>
        </p:spPr>
      </p:sp>
      <p:sp>
        <p:nvSpPr>
          <p:cNvPr id="27" name="Text 25"/>
          <p:cNvSpPr txBox="1"/>
          <p:nvPr/>
        </p:nvSpPr>
        <p:spPr>
          <a:xfrm>
            <a:off x="10012680" y="2331720"/>
            <a:ext cx="1600200" cy="658368"/>
          </a:xfrm>
          <a:prstGeom prst="rect">
            <a:avLst/>
          </a:prstGeom>
          <a:noFill/>
          <a:ln/>
        </p:spPr>
        <p:txBody>
          <a:bodyPr wrap="square" lIns="0" tIns="0" rIns="0" bIns="0" rtlCol="0" anchor="ctr"/>
          <a:lstStyle/>
          <a:p>
            <a:pPr algn="l" indent="0" marL="0">
              <a:buNone/>
            </a:pPr>
            <a:r>
              <a:rPr lang="en-US" sz="1050" b="1" dirty="0">
                <a:solidFill>
                  <a:srgbClr val="16243A"/>
                </a:solidFill>
                <a:latin typeface="Calibri" pitchFamily="34" charset="0"/>
                <a:ea typeface="Calibri" pitchFamily="34" charset="-122"/>
                <a:cs typeface="Calibri" pitchFamily="34" charset="-120"/>
              </a:rPr>
              <a:t>≥ 60  relevant</a:t>
            </a:r>
            <a:endParaRPr lang="en-US" sz="1050" dirty="0"/>
          </a:p>
          <a:p>
            <a:pPr algn="l" indent="0" marL="0">
              <a:buNone/>
            </a:pPr>
            <a:r>
              <a:rPr lang="en-US" sz="900" dirty="0">
                <a:solidFill>
                  <a:srgbClr val="6A7890"/>
                </a:solidFill>
                <a:latin typeface="Microsoft YaHei" pitchFamily="34" charset="0"/>
                <a:ea typeface="Microsoft YaHei" pitchFamily="34" charset="-122"/>
                <a:cs typeface="Microsoft YaHei" pitchFamily="34" charset="-120"/>
              </a:rPr>
              <a:t>相关</a:t>
            </a:r>
            <a:endParaRPr lang="en-US" sz="1050" dirty="0"/>
          </a:p>
        </p:txBody>
      </p:sp>
      <p:sp>
        <p:nvSpPr>
          <p:cNvPr id="28" name="Shape 26"/>
          <p:cNvSpPr/>
          <p:nvPr/>
        </p:nvSpPr>
        <p:spPr>
          <a:xfrm>
            <a:off x="9921240" y="3108960"/>
            <a:ext cx="1783080" cy="658368"/>
          </a:xfrm>
          <a:prstGeom prst="roundRect">
            <a:avLst>
              <a:gd name="adj" fmla="val 9722"/>
            </a:avLst>
          </a:prstGeom>
          <a:solidFill>
            <a:srgbClr val="FBF1DE"/>
          </a:solidFill>
          <a:ln w="12700">
            <a:solidFill>
              <a:srgbClr val="DCE3EB"/>
            </a:solidFill>
            <a:prstDash val="solid"/>
          </a:ln>
        </p:spPr>
      </p:sp>
      <p:sp>
        <p:nvSpPr>
          <p:cNvPr id="29" name="Text 27"/>
          <p:cNvSpPr txBox="1"/>
          <p:nvPr/>
        </p:nvSpPr>
        <p:spPr>
          <a:xfrm>
            <a:off x="10012680" y="3108960"/>
            <a:ext cx="1600200" cy="658368"/>
          </a:xfrm>
          <a:prstGeom prst="rect">
            <a:avLst/>
          </a:prstGeom>
          <a:noFill/>
          <a:ln/>
        </p:spPr>
        <p:txBody>
          <a:bodyPr wrap="square" lIns="0" tIns="0" rIns="0" bIns="0" rtlCol="0" anchor="ctr"/>
          <a:lstStyle/>
          <a:p>
            <a:pPr algn="l" indent="0" marL="0">
              <a:buNone/>
            </a:pPr>
            <a:r>
              <a:rPr lang="en-US" sz="1050" b="1" dirty="0">
                <a:solidFill>
                  <a:srgbClr val="16243A"/>
                </a:solidFill>
                <a:latin typeface="Calibri" pitchFamily="34" charset="0"/>
                <a:ea typeface="Calibri" pitchFamily="34" charset="-122"/>
                <a:cs typeface="Calibri" pitchFamily="34" charset="-120"/>
              </a:rPr>
              <a:t>40–59  uncertain → review</a:t>
            </a:r>
            <a:endParaRPr lang="en-US" sz="1050" dirty="0"/>
          </a:p>
          <a:p>
            <a:pPr algn="l" indent="0" marL="0">
              <a:buNone/>
            </a:pPr>
            <a:r>
              <a:rPr lang="en-US" sz="900" dirty="0">
                <a:solidFill>
                  <a:srgbClr val="6A7890"/>
                </a:solidFill>
                <a:latin typeface="Microsoft YaHei" pitchFamily="34" charset="0"/>
                <a:ea typeface="Microsoft YaHei" pitchFamily="34" charset="-122"/>
                <a:cs typeface="Microsoft YaHei" pitchFamily="34" charset="-120"/>
              </a:rPr>
              <a:t>不确定 → 人工复核</a:t>
            </a:r>
            <a:endParaRPr lang="en-US" sz="1050" dirty="0"/>
          </a:p>
        </p:txBody>
      </p:sp>
      <p:sp>
        <p:nvSpPr>
          <p:cNvPr id="30" name="Shape 28"/>
          <p:cNvSpPr/>
          <p:nvPr/>
        </p:nvSpPr>
        <p:spPr>
          <a:xfrm>
            <a:off x="9921240" y="3886200"/>
            <a:ext cx="1783080" cy="658368"/>
          </a:xfrm>
          <a:prstGeom prst="roundRect">
            <a:avLst>
              <a:gd name="adj" fmla="val 9722"/>
            </a:avLst>
          </a:prstGeom>
          <a:solidFill>
            <a:srgbClr val="F4F6F9"/>
          </a:solidFill>
          <a:ln w="12700">
            <a:solidFill>
              <a:srgbClr val="DCE3EB"/>
            </a:solidFill>
            <a:prstDash val="solid"/>
          </a:ln>
        </p:spPr>
      </p:sp>
      <p:sp>
        <p:nvSpPr>
          <p:cNvPr id="31" name="Text 29"/>
          <p:cNvSpPr txBox="1"/>
          <p:nvPr/>
        </p:nvSpPr>
        <p:spPr>
          <a:xfrm>
            <a:off x="10012680" y="3886200"/>
            <a:ext cx="1600200" cy="658368"/>
          </a:xfrm>
          <a:prstGeom prst="rect">
            <a:avLst/>
          </a:prstGeom>
          <a:noFill/>
          <a:ln/>
        </p:spPr>
        <p:txBody>
          <a:bodyPr wrap="square" lIns="0" tIns="0" rIns="0" bIns="0" rtlCol="0" anchor="ctr"/>
          <a:lstStyle/>
          <a:p>
            <a:pPr algn="l" indent="0" marL="0">
              <a:buNone/>
            </a:pPr>
            <a:r>
              <a:rPr lang="en-US" sz="1050" b="1" dirty="0">
                <a:solidFill>
                  <a:srgbClr val="16243A"/>
                </a:solidFill>
                <a:latin typeface="Calibri" pitchFamily="34" charset="0"/>
                <a:ea typeface="Calibri" pitchFamily="34" charset="-122"/>
                <a:cs typeface="Calibri" pitchFamily="34" charset="-120"/>
              </a:rPr>
              <a:t>&lt; 40  not relevant (kept, with reason)</a:t>
            </a:r>
            <a:endParaRPr lang="en-US" sz="1050" dirty="0"/>
          </a:p>
          <a:p>
            <a:pPr algn="l" indent="0" marL="0">
              <a:buNone/>
            </a:pPr>
            <a:r>
              <a:rPr lang="en-US" sz="900" dirty="0">
                <a:solidFill>
                  <a:srgbClr val="6A7890"/>
                </a:solidFill>
                <a:latin typeface="Microsoft YaHei" pitchFamily="34" charset="0"/>
                <a:ea typeface="Microsoft YaHei" pitchFamily="34" charset="-122"/>
                <a:cs typeface="Microsoft YaHei" pitchFamily="34" charset="-120"/>
              </a:rPr>
              <a:t>不相关（保留并注明原因）</a:t>
            </a:r>
            <a:endParaRPr lang="en-US" sz="1050" dirty="0"/>
          </a:p>
        </p:txBody>
      </p:sp>
      <p:sp>
        <p:nvSpPr>
          <p:cNvPr id="32" name="Text 30"/>
          <p:cNvSpPr txBox="1"/>
          <p:nvPr/>
        </p:nvSpPr>
        <p:spPr>
          <a:xfrm>
            <a:off x="548640" y="5669280"/>
            <a:ext cx="11064240" cy="566928"/>
          </a:xfrm>
          <a:prstGeom prst="rect">
            <a:avLst/>
          </a:prstGeom>
          <a:noFill/>
          <a:ln/>
        </p:spPr>
        <p:txBody>
          <a:bodyPr wrap="square" lIns="0" tIns="0" rIns="0" bIns="0" rtlCol="0" anchor="ctr"/>
          <a:lstStyle/>
          <a:p>
            <a:pPr indent="0" marL="0">
              <a:buNone/>
            </a:pPr>
            <a:r>
              <a:rPr lang="en-US" sz="1150" i="1" dirty="0">
                <a:solidFill>
                  <a:srgbClr val="56667D"/>
                </a:solidFill>
                <a:latin typeface="Calibri" pitchFamily="34" charset="0"/>
                <a:ea typeface="Calibri" pitchFamily="34" charset="-122"/>
                <a:cs typeface="Calibri" pitchFamily="34" charset="-120"/>
              </a:rPr>
              <a:t>A stored human correction always wins and is marked human_verified; each score carries a per-signal explanation (title, category, image words).</a:t>
            </a:r>
            <a:endParaRPr lang="en-US" sz="115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已保存的人工修正始终优先，并标记为 human_verified；每个得分都附带分信号解释（标题、类目、图片文字）。</a:t>
            </a:r>
            <a:endParaRPr lang="en-US" sz="1150" dirty="0"/>
          </a:p>
        </p:txBody>
      </p:sp>
      <p:sp>
        <p:nvSpPr>
          <p:cNvPr id="33" name="Text 31"/>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STAGE 4 · SCOPE &amp; SEGMENTATION</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第四阶段 · 类目边界与细分</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Category boundary and segment formation</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哪些子类目属于本市场，以及细分如何形成</a:t>
            </a:r>
            <a:endParaRPr lang="en-US" sz="1500" dirty="0"/>
          </a:p>
        </p:txBody>
      </p:sp>
      <p:sp>
        <p:nvSpPr>
          <p:cNvPr id="7" name="Text 5"/>
          <p:cNvSpPr txBox="1"/>
          <p:nvPr/>
        </p:nvSpPr>
        <p:spPr>
          <a:xfrm>
            <a:off x="548640" y="1645920"/>
            <a:ext cx="548640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CATEGORY BOUNDARY</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类目边界</a:t>
            </a:r>
            <a:endParaRPr lang="en-US" sz="1000" dirty="0"/>
          </a:p>
        </p:txBody>
      </p:sp>
      <p:sp>
        <p:nvSpPr>
          <p:cNvPr id="8" name="Shape 6"/>
          <p:cNvSpPr/>
          <p:nvPr/>
        </p:nvSpPr>
        <p:spPr>
          <a:xfrm>
            <a:off x="548640" y="2048256"/>
            <a:ext cx="91440" cy="91440"/>
          </a:xfrm>
          <a:prstGeom prst="ellipse">
            <a:avLst/>
          </a:prstGeom>
          <a:solidFill>
            <a:srgbClr val="0E7C6B"/>
          </a:solidFill>
          <a:ln w="12700">
            <a:solidFill>
              <a:srgbClr val="0E7C6B"/>
            </a:solidFill>
            <a:prstDash val="solid"/>
          </a:ln>
        </p:spPr>
      </p:sp>
      <p:sp>
        <p:nvSpPr>
          <p:cNvPr id="9" name="Text 7"/>
          <p:cNvSpPr txBox="1"/>
          <p:nvPr/>
        </p:nvSpPr>
        <p:spPr>
          <a:xfrm>
            <a:off x="749808" y="1965960"/>
            <a:ext cx="5468112" cy="822960"/>
          </a:xfrm>
          <a:prstGeom prst="rect">
            <a:avLst/>
          </a:prstGeom>
          <a:noFill/>
          <a:ln/>
        </p:spPr>
        <p:txBody>
          <a:bodyPr wrap="square" lIns="0" tIns="0" rIns="0" bIns="0" rtlCol="0" anchor="t"/>
          <a:lstStyle/>
          <a:p>
            <a:pPr indent="0" marL="0">
              <a:spcAft>
                <a:spcPts val="100"/>
              </a:spcAft>
              <a:buNone/>
            </a:pPr>
            <a:r>
              <a:rPr lang="en-US" sz="1250" b="1" dirty="0">
                <a:solidFill>
                  <a:srgbClr val="16243A"/>
                </a:solidFill>
                <a:latin typeface="Calibri" pitchFamily="34" charset="0"/>
                <a:ea typeface="Calibri" pitchFamily="34" charset="-122"/>
                <a:cs typeface="Calibri" pitchFamily="34" charset="-120"/>
              </a:rPr>
              <a:t>Evidence per sub-category: </a:t>
            </a:r>
            <a:pPr indent="0" marL="0">
              <a:spcAft>
                <a:spcPts val="100"/>
              </a:spcAft>
              <a:buNone/>
            </a:pPr>
            <a:r>
              <a:rPr lang="en-US" sz="1250" dirty="0">
                <a:solidFill>
                  <a:srgbClr val="16243A"/>
                </a:solidFill>
                <a:latin typeface="Calibri" pitchFamily="34" charset="0"/>
                <a:ea typeface="Calibri" pitchFamily="34" charset="-122"/>
                <a:cs typeface="Calibri" pitchFamily="34" charset="-120"/>
              </a:rPr>
              <a:t>include vs exclude terms from categories.yaml, in the sub-category name (×2.0) and in title shares</a:t>
            </a:r>
            <a:endParaRPr lang="en-US" sz="125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每个子类目的证据：categories.yaml 中的包含/排除词，在子类目名称（权重 2.0）和标题占比中的命中</a:t>
            </a:r>
            <a:endParaRPr lang="en-US" sz="1250" dirty="0"/>
          </a:p>
        </p:txBody>
      </p:sp>
      <p:sp>
        <p:nvSpPr>
          <p:cNvPr id="10" name="Shape 8"/>
          <p:cNvSpPr/>
          <p:nvPr/>
        </p:nvSpPr>
        <p:spPr>
          <a:xfrm>
            <a:off x="548640" y="2916936"/>
            <a:ext cx="91440" cy="91440"/>
          </a:xfrm>
          <a:prstGeom prst="ellipse">
            <a:avLst/>
          </a:prstGeom>
          <a:solidFill>
            <a:srgbClr val="0E7C6B"/>
          </a:solidFill>
          <a:ln w="12700">
            <a:solidFill>
              <a:srgbClr val="0E7C6B"/>
            </a:solidFill>
            <a:prstDash val="solid"/>
          </a:ln>
        </p:spPr>
      </p:sp>
      <p:sp>
        <p:nvSpPr>
          <p:cNvPr id="11" name="Text 9"/>
          <p:cNvSpPr txBox="1"/>
          <p:nvPr/>
        </p:nvSpPr>
        <p:spPr>
          <a:xfrm>
            <a:off x="749808" y="2834640"/>
            <a:ext cx="5468112" cy="822960"/>
          </a:xfrm>
          <a:prstGeom prst="rect">
            <a:avLst/>
          </a:prstGeom>
          <a:noFill/>
          <a:ln/>
        </p:spPr>
        <p:txBody>
          <a:bodyPr wrap="square" lIns="0" tIns="0" rIns="0" bIns="0" rtlCol="0" anchor="t"/>
          <a:lstStyle/>
          <a:p>
            <a:pPr indent="0" marL="0">
              <a:spcAft>
                <a:spcPts val="100"/>
              </a:spcAft>
              <a:buNone/>
            </a:pPr>
            <a:r>
              <a:rPr lang="en-US" sz="1250" b="1" dirty="0">
                <a:solidFill>
                  <a:srgbClr val="16243A"/>
                </a:solidFill>
                <a:latin typeface="Calibri" pitchFamily="34" charset="0"/>
                <a:ea typeface="Calibri" pitchFamily="34" charset="-122"/>
                <a:cs typeface="Calibri" pitchFamily="34" charset="-120"/>
              </a:rPr>
              <a:t>Decide with margins: </a:t>
            </a:r>
            <a:pPr indent="0" marL="0">
              <a:spcAft>
                <a:spcPts val="100"/>
              </a:spcAft>
              <a:buNone/>
            </a:pPr>
            <a:r>
              <a:rPr lang="en-US" sz="1250" dirty="0">
                <a:solidFill>
                  <a:srgbClr val="16243A"/>
                </a:solidFill>
                <a:latin typeface="Calibri" pitchFamily="34" charset="0"/>
                <a:ea typeface="Calibri" pitchFamily="34" charset="-122"/>
                <a:cs typeface="Calibri" pitchFamily="34" charset="-120"/>
              </a:rPr>
              <a:t>include if include − exclude ≥ 0.15; exclude if exclude − include ≥ 0.30</a:t>
            </a:r>
            <a:endParaRPr lang="en-US" sz="125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带余量判定：包含证据高出 0.15 则纳入；排除证据高出 0.30 则排除</a:t>
            </a:r>
            <a:endParaRPr lang="en-US" sz="1250" dirty="0"/>
          </a:p>
        </p:txBody>
      </p:sp>
      <p:sp>
        <p:nvSpPr>
          <p:cNvPr id="12" name="Shape 10"/>
          <p:cNvSpPr/>
          <p:nvPr/>
        </p:nvSpPr>
        <p:spPr>
          <a:xfrm>
            <a:off x="548640" y="3785616"/>
            <a:ext cx="91440" cy="91440"/>
          </a:xfrm>
          <a:prstGeom prst="ellipse">
            <a:avLst/>
          </a:prstGeom>
          <a:solidFill>
            <a:srgbClr val="0E7C6B"/>
          </a:solidFill>
          <a:ln w="12700">
            <a:solidFill>
              <a:srgbClr val="0E7C6B"/>
            </a:solidFill>
            <a:prstDash val="solid"/>
          </a:ln>
        </p:spPr>
      </p:sp>
      <p:sp>
        <p:nvSpPr>
          <p:cNvPr id="13" name="Text 11"/>
          <p:cNvSpPr txBox="1"/>
          <p:nvPr/>
        </p:nvSpPr>
        <p:spPr>
          <a:xfrm>
            <a:off x="749808" y="3703320"/>
            <a:ext cx="5468112" cy="822960"/>
          </a:xfrm>
          <a:prstGeom prst="rect">
            <a:avLst/>
          </a:prstGeom>
          <a:noFill/>
          <a:ln/>
        </p:spPr>
        <p:txBody>
          <a:bodyPr wrap="square" lIns="0" tIns="0" rIns="0" bIns="0" rtlCol="0" anchor="t"/>
          <a:lstStyle/>
          <a:p>
            <a:pPr indent="0" marL="0">
              <a:spcAft>
                <a:spcPts val="100"/>
              </a:spcAft>
              <a:buNone/>
            </a:pPr>
            <a:r>
              <a:rPr lang="en-US" sz="1250" b="1" dirty="0">
                <a:solidFill>
                  <a:srgbClr val="16243A"/>
                </a:solidFill>
                <a:latin typeface="Calibri" pitchFamily="34" charset="0"/>
                <a:ea typeface="Calibri" pitchFamily="34" charset="-122"/>
                <a:cs typeface="Calibri" pitchFamily="34" charset="-120"/>
              </a:rPr>
              <a:t>Safety: </a:t>
            </a:r>
            <a:pPr indent="0" marL="0">
              <a:spcAft>
                <a:spcPts val="100"/>
              </a:spcAft>
              <a:buNone/>
            </a:pPr>
            <a:r>
              <a:rPr lang="en-US" sz="1250" dirty="0">
                <a:solidFill>
                  <a:srgbClr val="16243A"/>
                </a:solidFill>
                <a:latin typeface="Calibri" pitchFamily="34" charset="0"/>
                <a:ea typeface="Calibri" pitchFamily="34" charset="-122"/>
                <a:cs typeface="Calibri" pitchFamily="34" charset="-120"/>
              </a:rPr>
              <a:t>a sub-category with &gt; 25% of listings is never auto-excluded — sent to review</a:t>
            </a:r>
            <a:endParaRPr lang="en-US" sz="125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安全阀：占比超过 25% 的子类目不自动排除，转人工复核</a:t>
            </a:r>
            <a:endParaRPr lang="en-US" sz="1250" dirty="0"/>
          </a:p>
        </p:txBody>
      </p:sp>
      <p:sp>
        <p:nvSpPr>
          <p:cNvPr id="14" name="Shape 12"/>
          <p:cNvSpPr/>
          <p:nvPr/>
        </p:nvSpPr>
        <p:spPr>
          <a:xfrm>
            <a:off x="548640" y="4654296"/>
            <a:ext cx="91440" cy="91440"/>
          </a:xfrm>
          <a:prstGeom prst="ellipse">
            <a:avLst/>
          </a:prstGeom>
          <a:solidFill>
            <a:srgbClr val="0E7C6B"/>
          </a:solidFill>
          <a:ln w="12700">
            <a:solidFill>
              <a:srgbClr val="0E7C6B"/>
            </a:solidFill>
            <a:prstDash val="solid"/>
          </a:ln>
        </p:spPr>
      </p:sp>
      <p:sp>
        <p:nvSpPr>
          <p:cNvPr id="15" name="Text 13"/>
          <p:cNvSpPr txBox="1"/>
          <p:nvPr/>
        </p:nvSpPr>
        <p:spPr>
          <a:xfrm>
            <a:off x="749808" y="4572000"/>
            <a:ext cx="5468112" cy="822960"/>
          </a:xfrm>
          <a:prstGeom prst="rect">
            <a:avLst/>
          </a:prstGeom>
          <a:noFill/>
          <a:ln/>
        </p:spPr>
        <p:txBody>
          <a:bodyPr wrap="square" lIns="0" tIns="0" rIns="0" bIns="0" rtlCol="0" anchor="t"/>
          <a:lstStyle/>
          <a:p>
            <a:pPr indent="0" marL="0">
              <a:spcAft>
                <a:spcPts val="100"/>
              </a:spcAft>
              <a:buNone/>
            </a:pPr>
            <a:r>
              <a:rPr lang="en-US" sz="1250" b="1" dirty="0">
                <a:solidFill>
                  <a:srgbClr val="16243A"/>
                </a:solidFill>
                <a:latin typeface="Calibri" pitchFamily="34" charset="0"/>
                <a:ea typeface="Calibri" pitchFamily="34" charset="-122"/>
                <a:cs typeface="Calibri" pitchFamily="34" charset="-120"/>
              </a:rPr>
              <a:t>Human override: </a:t>
            </a:r>
            <a:pPr indent="0" marL="0">
              <a:spcAft>
                <a:spcPts val="100"/>
              </a:spcAft>
              <a:buNone/>
            </a:pPr>
            <a:r>
              <a:rPr lang="en-US" sz="1250" dirty="0">
                <a:solidFill>
                  <a:srgbClr val="16243A"/>
                </a:solidFill>
                <a:latin typeface="Calibri" pitchFamily="34" charset="0"/>
                <a:ea typeface="Calibri" pitchFamily="34" charset="-122"/>
                <a:cs typeface="Calibri" pitchFamily="34" charset="-120"/>
              </a:rPr>
              <a:t>decisions on the Market page apply on the next run</a:t>
            </a:r>
            <a:endParaRPr lang="en-US" sz="125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人工覆盖：市场页上的决定在下次运行时生效</a:t>
            </a:r>
            <a:endParaRPr lang="en-US" sz="1250" dirty="0"/>
          </a:p>
        </p:txBody>
      </p:sp>
      <p:sp>
        <p:nvSpPr>
          <p:cNvPr id="16" name="Text 14"/>
          <p:cNvSpPr txBox="1"/>
          <p:nvPr/>
        </p:nvSpPr>
        <p:spPr>
          <a:xfrm>
            <a:off x="6583680" y="1645920"/>
            <a:ext cx="502920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SEGMENTATION</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细分</a:t>
            </a:r>
            <a:endParaRPr lang="en-US" sz="1000" dirty="0"/>
          </a:p>
        </p:txBody>
      </p:sp>
      <p:sp>
        <p:nvSpPr>
          <p:cNvPr id="17" name="Shape 15"/>
          <p:cNvSpPr/>
          <p:nvPr/>
        </p:nvSpPr>
        <p:spPr>
          <a:xfrm>
            <a:off x="6583680" y="2048256"/>
            <a:ext cx="91440" cy="91440"/>
          </a:xfrm>
          <a:prstGeom prst="ellipse">
            <a:avLst/>
          </a:prstGeom>
          <a:solidFill>
            <a:srgbClr val="0E7C6B"/>
          </a:solidFill>
          <a:ln w="12700">
            <a:solidFill>
              <a:srgbClr val="0E7C6B"/>
            </a:solidFill>
            <a:prstDash val="solid"/>
          </a:ln>
        </p:spPr>
      </p:sp>
      <p:sp>
        <p:nvSpPr>
          <p:cNvPr id="18" name="Text 16"/>
          <p:cNvSpPr txBox="1"/>
          <p:nvPr/>
        </p:nvSpPr>
        <p:spPr>
          <a:xfrm>
            <a:off x="6784848" y="1965960"/>
            <a:ext cx="4873752" cy="822960"/>
          </a:xfrm>
          <a:prstGeom prst="rect">
            <a:avLst/>
          </a:prstGeom>
          <a:noFill/>
          <a:ln/>
        </p:spPr>
        <p:txBody>
          <a:bodyPr wrap="square" lIns="0" tIns="0" rIns="0" bIns="0" rtlCol="0" anchor="t"/>
          <a:lstStyle/>
          <a:p>
            <a:pPr indent="0" marL="0">
              <a:spcAft>
                <a:spcPts val="100"/>
              </a:spcAft>
              <a:buNone/>
            </a:pPr>
            <a:r>
              <a:rPr lang="en-US" sz="1250" dirty="0">
                <a:solidFill>
                  <a:srgbClr val="16243A"/>
                </a:solidFill>
                <a:latin typeface="Calibri" pitchFamily="34" charset="0"/>
                <a:ea typeface="Calibri" pitchFamily="34" charset="-122"/>
                <a:cs typeface="Calibri" pitchFamily="34" charset="-120"/>
              </a:rPr>
              <a:t>Family = marketplace sub-category</a:t>
            </a:r>
            <a:endParaRPr lang="en-US" sz="125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家族 = 平台子类目（外部定义的真实产品类型）</a:t>
            </a:r>
            <a:endParaRPr lang="en-US" sz="1250" dirty="0"/>
          </a:p>
        </p:txBody>
      </p:sp>
      <p:sp>
        <p:nvSpPr>
          <p:cNvPr id="19" name="Shape 17"/>
          <p:cNvSpPr/>
          <p:nvPr/>
        </p:nvSpPr>
        <p:spPr>
          <a:xfrm>
            <a:off x="6583680" y="2916936"/>
            <a:ext cx="91440" cy="91440"/>
          </a:xfrm>
          <a:prstGeom prst="ellipse">
            <a:avLst/>
          </a:prstGeom>
          <a:solidFill>
            <a:srgbClr val="0E7C6B"/>
          </a:solidFill>
          <a:ln w="12700">
            <a:solidFill>
              <a:srgbClr val="0E7C6B"/>
            </a:solidFill>
            <a:prstDash val="solid"/>
          </a:ln>
        </p:spPr>
      </p:sp>
      <p:sp>
        <p:nvSpPr>
          <p:cNvPr id="20" name="Text 18"/>
          <p:cNvSpPr txBox="1"/>
          <p:nvPr/>
        </p:nvSpPr>
        <p:spPr>
          <a:xfrm>
            <a:off x="6784848" y="2834640"/>
            <a:ext cx="4873752" cy="822960"/>
          </a:xfrm>
          <a:prstGeom prst="rect">
            <a:avLst/>
          </a:prstGeom>
          <a:noFill/>
          <a:ln/>
        </p:spPr>
        <p:txBody>
          <a:bodyPr wrap="square" lIns="0" tIns="0" rIns="0" bIns="0" rtlCol="0" anchor="t"/>
          <a:lstStyle/>
          <a:p>
            <a:pPr indent="0" marL="0">
              <a:spcAft>
                <a:spcPts val="100"/>
              </a:spcAft>
              <a:buNone/>
            </a:pPr>
            <a:r>
              <a:rPr lang="en-US" sz="1250" b="1" dirty="0">
                <a:solidFill>
                  <a:srgbClr val="16243A"/>
                </a:solidFill>
                <a:latin typeface="Calibri" pitchFamily="34" charset="0"/>
                <a:ea typeface="Calibri" pitchFamily="34" charset="-122"/>
                <a:cs typeface="Calibri" pitchFamily="34" charset="-120"/>
              </a:rPr>
              <a:t>Split: </a:t>
            </a:r>
            <a:pPr indent="0" marL="0">
              <a:spcAft>
                <a:spcPts val="100"/>
              </a:spcAft>
              <a:buNone/>
            </a:pPr>
            <a:r>
              <a:rPr lang="en-US" sz="1250" dirty="0">
                <a:solidFill>
                  <a:srgbClr val="16243A"/>
                </a:solidFill>
                <a:latin typeface="Calibri" pitchFamily="34" charset="0"/>
                <a:ea typeface="Calibri" pitchFamily="34" charset="-122"/>
                <a:cs typeface="Calibri" pitchFamily="34" charset="-120"/>
              </a:rPr>
              <a:t>sub-categories with ≥ 12 listings into text/spec clusters</a:t>
            </a:r>
            <a:endParaRPr lang="en-US" sz="125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拆分：≥ 12 个商品的子类目按文本/规格聚类</a:t>
            </a:r>
            <a:endParaRPr lang="en-US" sz="1250" dirty="0"/>
          </a:p>
        </p:txBody>
      </p:sp>
      <p:sp>
        <p:nvSpPr>
          <p:cNvPr id="21" name="Shape 19"/>
          <p:cNvSpPr/>
          <p:nvPr/>
        </p:nvSpPr>
        <p:spPr>
          <a:xfrm>
            <a:off x="6583680" y="3785616"/>
            <a:ext cx="91440" cy="91440"/>
          </a:xfrm>
          <a:prstGeom prst="ellipse">
            <a:avLst/>
          </a:prstGeom>
          <a:solidFill>
            <a:srgbClr val="0E7C6B"/>
          </a:solidFill>
          <a:ln w="12700">
            <a:solidFill>
              <a:srgbClr val="0E7C6B"/>
            </a:solidFill>
            <a:prstDash val="solid"/>
          </a:ln>
        </p:spPr>
      </p:sp>
      <p:sp>
        <p:nvSpPr>
          <p:cNvPr id="22" name="Text 20"/>
          <p:cNvSpPr txBox="1"/>
          <p:nvPr/>
        </p:nvSpPr>
        <p:spPr>
          <a:xfrm>
            <a:off x="6784848" y="3703320"/>
            <a:ext cx="4873752" cy="822960"/>
          </a:xfrm>
          <a:prstGeom prst="rect">
            <a:avLst/>
          </a:prstGeom>
          <a:noFill/>
          <a:ln/>
        </p:spPr>
        <p:txBody>
          <a:bodyPr wrap="square" lIns="0" tIns="0" rIns="0" bIns="0" rtlCol="0" anchor="t"/>
          <a:lstStyle/>
          <a:p>
            <a:pPr indent="0" marL="0">
              <a:spcAft>
                <a:spcPts val="100"/>
              </a:spcAft>
              <a:buNone/>
            </a:pPr>
            <a:r>
              <a:rPr lang="en-US" sz="1250" b="1" dirty="0">
                <a:solidFill>
                  <a:srgbClr val="16243A"/>
                </a:solidFill>
                <a:latin typeface="Calibri" pitchFamily="34" charset="0"/>
                <a:ea typeface="Calibri" pitchFamily="34" charset="-122"/>
                <a:cs typeface="Calibri" pitchFamily="34" charset="-120"/>
              </a:rPr>
              <a:t>Keywords: </a:t>
            </a:r>
            <a:pPr indent="0" marL="0">
              <a:spcAft>
                <a:spcPts val="100"/>
              </a:spcAft>
              <a:buNone/>
            </a:pPr>
            <a:r>
              <a:rPr lang="en-US" sz="1250" dirty="0">
                <a:solidFill>
                  <a:srgbClr val="16243A"/>
                </a:solidFill>
                <a:latin typeface="Calibri" pitchFamily="34" charset="0"/>
                <a:ea typeface="Calibri" pitchFamily="34" charset="-122"/>
                <a:cs typeface="Calibri" pitchFamily="34" charset="-120"/>
              </a:rPr>
              <a:t>class-based TF-IDF on 1–2-grams minus stop words, brands and the family's own words</a:t>
            </a:r>
            <a:endParaRPr lang="en-US" sz="125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关键词：类别 TF-IDF（一元/二元词），剔除停用词、品牌名与类目自身词</a:t>
            </a:r>
            <a:endParaRPr lang="en-US" sz="1250" dirty="0"/>
          </a:p>
        </p:txBody>
      </p:sp>
      <p:sp>
        <p:nvSpPr>
          <p:cNvPr id="23" name="Shape 21"/>
          <p:cNvSpPr/>
          <p:nvPr/>
        </p:nvSpPr>
        <p:spPr>
          <a:xfrm>
            <a:off x="6583680" y="4654296"/>
            <a:ext cx="91440" cy="91440"/>
          </a:xfrm>
          <a:prstGeom prst="ellipse">
            <a:avLst/>
          </a:prstGeom>
          <a:solidFill>
            <a:srgbClr val="0E7C6B"/>
          </a:solidFill>
          <a:ln w="12700">
            <a:solidFill>
              <a:srgbClr val="0E7C6B"/>
            </a:solidFill>
            <a:prstDash val="solid"/>
          </a:ln>
        </p:spPr>
      </p:sp>
      <p:sp>
        <p:nvSpPr>
          <p:cNvPr id="24" name="Text 22"/>
          <p:cNvSpPr txBox="1"/>
          <p:nvPr/>
        </p:nvSpPr>
        <p:spPr>
          <a:xfrm>
            <a:off x="6784848" y="4572000"/>
            <a:ext cx="4873752" cy="822960"/>
          </a:xfrm>
          <a:prstGeom prst="rect">
            <a:avLst/>
          </a:prstGeom>
          <a:noFill/>
          <a:ln/>
        </p:spPr>
        <p:txBody>
          <a:bodyPr wrap="square" lIns="0" tIns="0" rIns="0" bIns="0" rtlCol="0" anchor="t"/>
          <a:lstStyle/>
          <a:p>
            <a:pPr indent="0" marL="0">
              <a:spcAft>
                <a:spcPts val="100"/>
              </a:spcAft>
              <a:buNone/>
            </a:pPr>
            <a:r>
              <a:rPr lang="en-US" sz="1250" b="1" dirty="0">
                <a:solidFill>
                  <a:srgbClr val="16243A"/>
                </a:solidFill>
                <a:latin typeface="Calibri" pitchFamily="34" charset="0"/>
                <a:ea typeface="Calibri" pitchFamily="34" charset="-122"/>
                <a:cs typeface="Calibri" pitchFamily="34" charset="-120"/>
              </a:rPr>
              <a:t>Descriptions: </a:t>
            </a:r>
            <a:pPr indent="0" marL="0">
              <a:spcAft>
                <a:spcPts val="100"/>
              </a:spcAft>
              <a:buNone/>
            </a:pPr>
            <a:r>
              <a:rPr lang="en-US" sz="1250" dirty="0">
                <a:solidFill>
                  <a:srgbClr val="16243A"/>
                </a:solidFill>
                <a:latin typeface="Calibri" pitchFamily="34" charset="0"/>
                <a:ea typeface="Calibri" pitchFamily="34" charset="-122"/>
                <a:cs typeface="Calibri" pitchFamily="34" charset="-120"/>
              </a:rPr>
              <a:t>generated from computed statistics, in EN and ZH — never free text</a:t>
            </a:r>
            <a:endParaRPr lang="en-US" sz="125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描述：由统计结果生成中英文，不使用自由文本</a:t>
            </a:r>
            <a:endParaRPr lang="en-US" sz="1250" dirty="0"/>
          </a:p>
        </p:txBody>
      </p:sp>
      <p:sp>
        <p:nvSpPr>
          <p:cNvPr id="25" name="Text 23"/>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STAGE 5 · PRODUCT RESOLUTION</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第五阶段 · 产品归并</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Listing ≠ product: the product identity graph</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商品页 ≠ 产品：产品身份图</a:t>
            </a:r>
            <a:endParaRPr lang="en-US" sz="1500" dirty="0"/>
          </a:p>
        </p:txBody>
      </p:sp>
      <p:sp>
        <p:nvSpPr>
          <p:cNvPr id="7" name="Text 5"/>
          <p:cNvSpPr txBox="1"/>
          <p:nvPr/>
        </p:nvSpPr>
        <p:spPr>
          <a:xfrm>
            <a:off x="548640" y="1691640"/>
            <a:ext cx="5852160" cy="658368"/>
          </a:xfrm>
          <a:prstGeom prst="rect">
            <a:avLst/>
          </a:prstGeom>
          <a:solidFill>
            <a:srgbClr val="F4F6F9"/>
          </a:solidFill>
          <a:ln w="9525">
            <a:solidFill>
              <a:srgbClr val="DCE3EB"/>
            </a:solidFill>
          </a:ln>
        </p:spPr>
        <p:txBody>
          <a:bodyPr wrap="square" lIns="101600" tIns="101600" rIns="101600" bIns="101600" rtlCol="0" anchor="t"/>
          <a:lstStyle/>
          <a:p>
            <a:pPr indent="0" marL="0">
              <a:buNone/>
            </a:pPr>
            <a:r>
              <a:rPr lang="en-US" sz="1150" dirty="0">
                <a:solidFill>
                  <a:srgbClr val="16243A"/>
                </a:solidFill>
                <a:latin typeface="Courier New" pitchFamily="34" charset="0"/>
                <a:ea typeface="Courier New" pitchFamily="34" charset="-122"/>
                <a:cs typeface="Courier New" pitchFamily="34" charset="-120"/>
              </a:rPr>
              <a:t>score = 0.45·title + 0.15·brand + 0.15·spec + 0.10·price + 0.15·image</a:t>
            </a: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match if score ≥ 0.72</a:t>
            </a:r>
            <a:endParaRPr lang="en-US" sz="1150" dirty="0"/>
          </a:p>
        </p:txBody>
      </p:sp>
      <p:sp>
        <p:nvSpPr>
          <p:cNvPr id="8" name="Text 6"/>
          <p:cNvSpPr txBox="1"/>
          <p:nvPr/>
        </p:nvSpPr>
        <p:spPr>
          <a:xfrm>
            <a:off x="548640" y="2514600"/>
            <a:ext cx="5852160" cy="237744"/>
          </a:xfrm>
          <a:prstGeom prst="rect">
            <a:avLst/>
          </a:prstGeom>
          <a:noFill/>
          <a:ln/>
        </p:spPr>
        <p:txBody>
          <a:bodyPr wrap="square" lIns="0" tIns="0" rIns="0" bIns="0" rtlCol="0" anchor="ctr"/>
          <a:lstStyle/>
          <a:p>
            <a:pPr indent="0" marL="0">
              <a:buNone/>
            </a:pPr>
            <a:r>
              <a:rPr lang="en-US" sz="1000" b="1" spc="200" kern="0" dirty="0">
                <a:solidFill>
                  <a:srgbClr val="B7791F"/>
                </a:solidFill>
                <a:latin typeface="Calibri" pitchFamily="34" charset="0"/>
                <a:ea typeface="Calibri" pitchFamily="34" charset="-122"/>
                <a:cs typeface="Calibri" pitchFamily="34" charset="-120"/>
              </a:rPr>
              <a:t>HARD VETOES (NEVER THE SAME PRODUCT)</a:t>
            </a:r>
            <a:pPr indent="0" marL="0">
              <a:buNone/>
            </a:pPr>
            <a:r>
              <a:rPr lang="en-US" sz="1000" b="1" dirty="0">
                <a:solidFill>
                  <a:srgbClr val="B7791F"/>
                </a:solidFill>
                <a:latin typeface="Microsoft YaHei" pitchFamily="34" charset="0"/>
                <a:ea typeface="Microsoft YaHei" pitchFamily="34" charset="-122"/>
                <a:cs typeface="Microsoft YaHei" pitchFamily="34" charset="-120"/>
              </a:rPr>
              <a:t>  硬性否决</a:t>
            </a:r>
            <a:endParaRPr lang="en-US" sz="1000" dirty="0"/>
          </a:p>
        </p:txBody>
      </p:sp>
      <p:sp>
        <p:nvSpPr>
          <p:cNvPr id="9" name="Shape 7"/>
          <p:cNvSpPr/>
          <p:nvPr/>
        </p:nvSpPr>
        <p:spPr>
          <a:xfrm>
            <a:off x="548640" y="2916936"/>
            <a:ext cx="91440" cy="91440"/>
          </a:xfrm>
          <a:prstGeom prst="ellipse">
            <a:avLst/>
          </a:prstGeom>
          <a:solidFill>
            <a:srgbClr val="B7791F"/>
          </a:solidFill>
          <a:ln w="12700">
            <a:solidFill>
              <a:srgbClr val="B7791F"/>
            </a:solidFill>
            <a:prstDash val="solid"/>
          </a:ln>
        </p:spPr>
      </p:sp>
      <p:sp>
        <p:nvSpPr>
          <p:cNvPr id="10" name="Text 8"/>
          <p:cNvSpPr txBox="1"/>
          <p:nvPr/>
        </p:nvSpPr>
        <p:spPr>
          <a:xfrm>
            <a:off x="749808" y="2834640"/>
            <a:ext cx="5650992" cy="457200"/>
          </a:xfrm>
          <a:prstGeom prst="rect">
            <a:avLst/>
          </a:prstGeom>
          <a:noFill/>
          <a:ln/>
        </p:spPr>
        <p:txBody>
          <a:bodyPr wrap="square" lIns="0" tIns="0" rIns="0" bIns="0" rtlCol="0" anchor="t"/>
          <a:lstStyle/>
          <a:p>
            <a:pPr indent="0" marL="0">
              <a:spcAft>
                <a:spcPts val="100"/>
              </a:spcAft>
              <a:buNone/>
            </a:pPr>
            <a:r>
              <a:rPr lang="en-US" sz="1200" dirty="0">
                <a:solidFill>
                  <a:srgbClr val="16243A"/>
                </a:solidFill>
                <a:latin typeface="Calibri" pitchFamily="34" charset="0"/>
                <a:ea typeface="Calibri" pitchFamily="34" charset="-122"/>
                <a:cs typeface="Calibri" pitchFamily="34" charset="-120"/>
              </a:rPr>
              <a:t>Conflicting specs</a:t>
            </a:r>
            <a:endParaRPr lang="en-US" sz="120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规格冲突（包装数量、转速、功率、容量…）</a:t>
            </a:r>
            <a:endParaRPr lang="en-US" sz="1200" dirty="0"/>
          </a:p>
        </p:txBody>
      </p:sp>
      <p:sp>
        <p:nvSpPr>
          <p:cNvPr id="11" name="Shape 9"/>
          <p:cNvSpPr/>
          <p:nvPr/>
        </p:nvSpPr>
        <p:spPr>
          <a:xfrm>
            <a:off x="548640" y="3419856"/>
            <a:ext cx="91440" cy="91440"/>
          </a:xfrm>
          <a:prstGeom prst="ellipse">
            <a:avLst/>
          </a:prstGeom>
          <a:solidFill>
            <a:srgbClr val="B7791F"/>
          </a:solidFill>
          <a:ln w="12700">
            <a:solidFill>
              <a:srgbClr val="B7791F"/>
            </a:solidFill>
            <a:prstDash val="solid"/>
          </a:ln>
        </p:spPr>
      </p:sp>
      <p:sp>
        <p:nvSpPr>
          <p:cNvPr id="12" name="Text 10"/>
          <p:cNvSpPr txBox="1"/>
          <p:nvPr/>
        </p:nvSpPr>
        <p:spPr>
          <a:xfrm>
            <a:off x="749808" y="3337560"/>
            <a:ext cx="5650992" cy="457200"/>
          </a:xfrm>
          <a:prstGeom prst="rect">
            <a:avLst/>
          </a:prstGeom>
          <a:noFill/>
          <a:ln/>
        </p:spPr>
        <p:txBody>
          <a:bodyPr wrap="square" lIns="0" tIns="0" rIns="0" bIns="0" rtlCol="0" anchor="t"/>
          <a:lstStyle/>
          <a:p>
            <a:pPr indent="0" marL="0">
              <a:spcAft>
                <a:spcPts val="100"/>
              </a:spcAft>
              <a:buNone/>
            </a:pPr>
            <a:r>
              <a:rPr lang="en-US" sz="1200" dirty="0">
                <a:solidFill>
                  <a:srgbClr val="16243A"/>
                </a:solidFill>
                <a:latin typeface="Calibri" pitchFamily="34" charset="0"/>
                <a:ea typeface="Calibri" pitchFamily="34" charset="-122"/>
                <a:cs typeface="Calibri" pitchFamily="34" charset="-120"/>
              </a:rPr>
              <a:t>Price ratio &gt; 1.6</a:t>
            </a:r>
            <a:endParaRPr lang="en-US" sz="120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价格相差超过 1.6 倍</a:t>
            </a:r>
            <a:endParaRPr lang="en-US" sz="1200" dirty="0"/>
          </a:p>
        </p:txBody>
      </p:sp>
      <p:sp>
        <p:nvSpPr>
          <p:cNvPr id="13" name="Shape 11"/>
          <p:cNvSpPr/>
          <p:nvPr/>
        </p:nvSpPr>
        <p:spPr>
          <a:xfrm>
            <a:off x="548640" y="3922776"/>
            <a:ext cx="91440" cy="91440"/>
          </a:xfrm>
          <a:prstGeom prst="ellipse">
            <a:avLst/>
          </a:prstGeom>
          <a:solidFill>
            <a:srgbClr val="B7791F"/>
          </a:solidFill>
          <a:ln w="12700">
            <a:solidFill>
              <a:srgbClr val="B7791F"/>
            </a:solidFill>
            <a:prstDash val="solid"/>
          </a:ln>
        </p:spPr>
      </p:sp>
      <p:sp>
        <p:nvSpPr>
          <p:cNvPr id="14" name="Text 12"/>
          <p:cNvSpPr txBox="1"/>
          <p:nvPr/>
        </p:nvSpPr>
        <p:spPr>
          <a:xfrm>
            <a:off x="749808" y="3840480"/>
            <a:ext cx="5650992" cy="457200"/>
          </a:xfrm>
          <a:prstGeom prst="rect">
            <a:avLst/>
          </a:prstGeom>
          <a:noFill/>
          <a:ln/>
        </p:spPr>
        <p:txBody>
          <a:bodyPr wrap="square" lIns="0" tIns="0" rIns="0" bIns="0" rtlCol="0" anchor="t"/>
          <a:lstStyle/>
          <a:p>
            <a:pPr indent="0" marL="0">
              <a:spcAft>
                <a:spcPts val="100"/>
              </a:spcAft>
              <a:buNone/>
            </a:pPr>
            <a:r>
              <a:rPr lang="en-US" sz="1200" dirty="0">
                <a:solidFill>
                  <a:srgbClr val="16243A"/>
                </a:solidFill>
                <a:latin typeface="Calibri" pitchFamily="34" charset="0"/>
                <a:ea typeface="Calibri" pitchFamily="34" charset="-122"/>
                <a:cs typeface="Calibri" pitchFamily="34" charset="-120"/>
              </a:rPr>
              <a:t>Different known brands</a:t>
            </a:r>
            <a:endParaRPr lang="en-US" sz="120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已知品牌不同</a:t>
            </a:r>
            <a:endParaRPr lang="en-US" sz="1200" dirty="0"/>
          </a:p>
        </p:txBody>
      </p:sp>
      <p:sp>
        <p:nvSpPr>
          <p:cNvPr id="15" name="Text 13"/>
          <p:cNvSpPr txBox="1"/>
          <p:nvPr/>
        </p:nvSpPr>
        <p:spPr>
          <a:xfrm>
            <a:off x="548640" y="4434840"/>
            <a:ext cx="585216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SCALING TO 10⁶ LISTINGS</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扩展到百万级</a:t>
            </a:r>
            <a:endParaRPr lang="en-US" sz="1000" dirty="0"/>
          </a:p>
        </p:txBody>
      </p:sp>
      <p:sp>
        <p:nvSpPr>
          <p:cNvPr id="16" name="Shape 14"/>
          <p:cNvSpPr/>
          <p:nvPr/>
        </p:nvSpPr>
        <p:spPr>
          <a:xfrm>
            <a:off x="548640" y="4837176"/>
            <a:ext cx="91440" cy="91440"/>
          </a:xfrm>
          <a:prstGeom prst="ellipse">
            <a:avLst/>
          </a:prstGeom>
          <a:solidFill>
            <a:srgbClr val="0E7C6B"/>
          </a:solidFill>
          <a:ln w="12700">
            <a:solidFill>
              <a:srgbClr val="0E7C6B"/>
            </a:solidFill>
            <a:prstDash val="solid"/>
          </a:ln>
        </p:spPr>
      </p:sp>
      <p:sp>
        <p:nvSpPr>
          <p:cNvPr id="17" name="Text 15"/>
          <p:cNvSpPr txBox="1"/>
          <p:nvPr/>
        </p:nvSpPr>
        <p:spPr>
          <a:xfrm>
            <a:off x="749808" y="4754880"/>
            <a:ext cx="5650992" cy="777240"/>
          </a:xfrm>
          <a:prstGeom prst="rect">
            <a:avLst/>
          </a:prstGeom>
          <a:noFill/>
          <a:ln/>
        </p:spPr>
        <p:txBody>
          <a:bodyPr wrap="square" lIns="0" tIns="0" rIns="0" bIns="0" rtlCol="0" anchor="t"/>
          <a:lstStyle/>
          <a:p>
            <a:pPr indent="0" marL="0">
              <a:spcAft>
                <a:spcPts val="100"/>
              </a:spcAft>
              <a:buNone/>
            </a:pPr>
            <a:r>
              <a:rPr lang="en-US" sz="1200" dirty="0">
                <a:solidFill>
                  <a:srgbClr val="16243A"/>
                </a:solidFill>
                <a:latin typeface="Calibri" pitchFamily="34" charset="0"/>
                <a:ea typeface="Calibri" pitchFamily="34" charset="-122"/>
                <a:cs typeface="Calibri" pitchFamily="34" charset="-120"/>
              </a:rPr>
              <a:t>Exact collapse first; then k-NN candidates inside each segment in bounded blocks + same-image blocks — never n×n</a:t>
            </a:r>
            <a:endParaRPr lang="en-US" sz="120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先精确合并；再在细分内分块做近邻候选，并按相同图片分块，从不构造 n×n 矩阵</a:t>
            </a:r>
            <a:endParaRPr lang="en-US" sz="1200" dirty="0"/>
          </a:p>
        </p:txBody>
      </p:sp>
      <p:sp>
        <p:nvSpPr>
          <p:cNvPr id="18" name="Text 16"/>
          <p:cNvSpPr txBox="1"/>
          <p:nvPr/>
        </p:nvSpPr>
        <p:spPr>
          <a:xfrm>
            <a:off x="6766560" y="1691640"/>
            <a:ext cx="484632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ANTI-CHAINING UNION-FIND</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防链式合并的并查集</a:t>
            </a:r>
            <a:endParaRPr lang="en-US" sz="1000" dirty="0"/>
          </a:p>
        </p:txBody>
      </p:sp>
      <p:sp>
        <p:nvSpPr>
          <p:cNvPr id="19" name="Shape 17"/>
          <p:cNvSpPr/>
          <p:nvPr/>
        </p:nvSpPr>
        <p:spPr>
          <a:xfrm>
            <a:off x="7040880" y="2286000"/>
            <a:ext cx="640080" cy="640080"/>
          </a:xfrm>
          <a:prstGeom prst="ellipse">
            <a:avLst/>
          </a:prstGeom>
          <a:solidFill>
            <a:srgbClr val="E3F2EF"/>
          </a:solidFill>
          <a:ln w="19050">
            <a:solidFill>
              <a:srgbClr val="0E7C6B"/>
            </a:solidFill>
            <a:prstDash val="solid"/>
          </a:ln>
        </p:spPr>
      </p:sp>
      <p:sp>
        <p:nvSpPr>
          <p:cNvPr id="20" name="Text 18"/>
          <p:cNvSpPr txBox="1"/>
          <p:nvPr/>
        </p:nvSpPr>
        <p:spPr>
          <a:xfrm>
            <a:off x="7040880" y="2286000"/>
            <a:ext cx="640080" cy="640080"/>
          </a:xfrm>
          <a:prstGeom prst="rect">
            <a:avLst/>
          </a:prstGeom>
          <a:noFill/>
          <a:ln/>
        </p:spPr>
        <p:txBody>
          <a:bodyPr wrap="square" lIns="0" tIns="0" rIns="0" bIns="0" rtlCol="0" anchor="ctr"/>
          <a:lstStyle/>
          <a:p>
            <a:pPr algn="ctr" indent="0" marL="0">
              <a:buNone/>
            </a:pPr>
            <a:r>
              <a:rPr lang="en-US" sz="1800" b="1" dirty="0">
                <a:solidFill>
                  <a:srgbClr val="16243A"/>
                </a:solidFill>
                <a:latin typeface="Cambria" pitchFamily="34" charset="0"/>
                <a:ea typeface="Cambria" pitchFamily="34" charset="-122"/>
                <a:cs typeface="Cambria" pitchFamily="34" charset="-120"/>
              </a:rPr>
              <a:t>A</a:t>
            </a:r>
            <a:endParaRPr lang="en-US" sz="1800" dirty="0"/>
          </a:p>
        </p:txBody>
      </p:sp>
      <p:sp>
        <p:nvSpPr>
          <p:cNvPr id="21" name="Shape 19"/>
          <p:cNvSpPr/>
          <p:nvPr/>
        </p:nvSpPr>
        <p:spPr>
          <a:xfrm>
            <a:off x="8321040" y="2286000"/>
            <a:ext cx="640080" cy="640080"/>
          </a:xfrm>
          <a:prstGeom prst="ellipse">
            <a:avLst/>
          </a:prstGeom>
          <a:solidFill>
            <a:srgbClr val="E3F2EF"/>
          </a:solidFill>
          <a:ln w="19050">
            <a:solidFill>
              <a:srgbClr val="0E7C6B"/>
            </a:solidFill>
            <a:prstDash val="solid"/>
          </a:ln>
        </p:spPr>
      </p:sp>
      <p:sp>
        <p:nvSpPr>
          <p:cNvPr id="22" name="Text 20"/>
          <p:cNvSpPr txBox="1"/>
          <p:nvPr/>
        </p:nvSpPr>
        <p:spPr>
          <a:xfrm>
            <a:off x="8321040" y="2286000"/>
            <a:ext cx="640080" cy="640080"/>
          </a:xfrm>
          <a:prstGeom prst="rect">
            <a:avLst/>
          </a:prstGeom>
          <a:noFill/>
          <a:ln/>
        </p:spPr>
        <p:txBody>
          <a:bodyPr wrap="square" lIns="0" tIns="0" rIns="0" bIns="0" rtlCol="0" anchor="ctr"/>
          <a:lstStyle/>
          <a:p>
            <a:pPr algn="ctr" indent="0" marL="0">
              <a:buNone/>
            </a:pPr>
            <a:r>
              <a:rPr lang="en-US" sz="1800" b="1" dirty="0">
                <a:solidFill>
                  <a:srgbClr val="16243A"/>
                </a:solidFill>
                <a:latin typeface="Cambria" pitchFamily="34" charset="0"/>
                <a:ea typeface="Cambria" pitchFamily="34" charset="-122"/>
                <a:cs typeface="Cambria" pitchFamily="34" charset="-120"/>
              </a:rPr>
              <a:t>B</a:t>
            </a:r>
            <a:endParaRPr lang="en-US" sz="1800" dirty="0"/>
          </a:p>
        </p:txBody>
      </p:sp>
      <p:sp>
        <p:nvSpPr>
          <p:cNvPr id="23" name="Shape 21"/>
          <p:cNvSpPr/>
          <p:nvPr/>
        </p:nvSpPr>
        <p:spPr>
          <a:xfrm>
            <a:off x="9601200" y="2286000"/>
            <a:ext cx="640080" cy="640080"/>
          </a:xfrm>
          <a:prstGeom prst="ellipse">
            <a:avLst/>
          </a:prstGeom>
          <a:solidFill>
            <a:srgbClr val="E3F2EF"/>
          </a:solidFill>
          <a:ln w="19050">
            <a:solidFill>
              <a:srgbClr val="0E7C6B"/>
            </a:solidFill>
            <a:prstDash val="solid"/>
          </a:ln>
        </p:spPr>
      </p:sp>
      <p:sp>
        <p:nvSpPr>
          <p:cNvPr id="24" name="Text 22"/>
          <p:cNvSpPr txBox="1"/>
          <p:nvPr/>
        </p:nvSpPr>
        <p:spPr>
          <a:xfrm>
            <a:off x="9601200" y="2286000"/>
            <a:ext cx="640080" cy="640080"/>
          </a:xfrm>
          <a:prstGeom prst="rect">
            <a:avLst/>
          </a:prstGeom>
          <a:noFill/>
          <a:ln/>
        </p:spPr>
        <p:txBody>
          <a:bodyPr wrap="square" lIns="0" tIns="0" rIns="0" bIns="0" rtlCol="0" anchor="ctr"/>
          <a:lstStyle/>
          <a:p>
            <a:pPr algn="ctr" indent="0" marL="0">
              <a:buNone/>
            </a:pPr>
            <a:r>
              <a:rPr lang="en-US" sz="1800" b="1" dirty="0">
                <a:solidFill>
                  <a:srgbClr val="16243A"/>
                </a:solidFill>
                <a:latin typeface="Cambria" pitchFamily="34" charset="0"/>
                <a:ea typeface="Cambria" pitchFamily="34" charset="-122"/>
                <a:cs typeface="Cambria" pitchFamily="34" charset="-120"/>
              </a:rPr>
              <a:t>C</a:t>
            </a:r>
            <a:endParaRPr lang="en-US" sz="1800" dirty="0"/>
          </a:p>
        </p:txBody>
      </p:sp>
      <p:sp>
        <p:nvSpPr>
          <p:cNvPr id="25" name="Shape 23"/>
          <p:cNvSpPr/>
          <p:nvPr/>
        </p:nvSpPr>
        <p:spPr>
          <a:xfrm>
            <a:off x="7680960" y="2606040"/>
            <a:ext cx="640080" cy="0"/>
          </a:xfrm>
          <a:prstGeom prst="line">
            <a:avLst/>
          </a:prstGeom>
          <a:noFill/>
          <a:ln w="25400">
            <a:solidFill>
              <a:srgbClr val="0E7C6B"/>
            </a:solidFill>
            <a:prstDash val="solid"/>
          </a:ln>
        </p:spPr>
      </p:sp>
      <p:sp>
        <p:nvSpPr>
          <p:cNvPr id="26" name="Shape 24"/>
          <p:cNvSpPr/>
          <p:nvPr/>
        </p:nvSpPr>
        <p:spPr>
          <a:xfrm>
            <a:off x="8961120" y="2606040"/>
            <a:ext cx="640080" cy="0"/>
          </a:xfrm>
          <a:prstGeom prst="line">
            <a:avLst/>
          </a:prstGeom>
          <a:noFill/>
          <a:ln w="25400">
            <a:solidFill>
              <a:srgbClr val="0E7C6B"/>
            </a:solidFill>
            <a:prstDash val="solid"/>
          </a:ln>
        </p:spPr>
      </p:sp>
      <p:sp>
        <p:nvSpPr>
          <p:cNvPr id="27" name="Shape 25"/>
          <p:cNvSpPr/>
          <p:nvPr/>
        </p:nvSpPr>
        <p:spPr>
          <a:xfrm>
            <a:off x="7360920" y="2743200"/>
            <a:ext cx="2560320" cy="822960"/>
          </a:xfrm>
          <a:prstGeom prst="arc">
            <a:avLst>
              <a:gd name="adj1" fmla="val 0"/>
              <a:gd name="adj2" fmla="val 10800000"/>
            </a:avLst>
          </a:prstGeom>
          <a:noFill/>
          <a:ln w="19050">
            <a:solidFill>
              <a:srgbClr val="C0392B"/>
            </a:solidFill>
            <a:prstDash val="dash"/>
          </a:ln>
        </p:spPr>
      </p:sp>
      <p:sp>
        <p:nvSpPr>
          <p:cNvPr id="28" name="Text 26"/>
          <p:cNvSpPr txBox="1"/>
          <p:nvPr/>
        </p:nvSpPr>
        <p:spPr>
          <a:xfrm>
            <a:off x="8001000" y="3520440"/>
            <a:ext cx="1371600" cy="274320"/>
          </a:xfrm>
          <a:prstGeom prst="rect">
            <a:avLst/>
          </a:prstGeom>
          <a:noFill/>
          <a:ln/>
        </p:spPr>
        <p:txBody>
          <a:bodyPr wrap="square" lIns="0" tIns="0" rIns="0" bIns="0"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veto A≠C</a:t>
            </a:r>
            <a:endParaRPr lang="en-US" sz="1100" dirty="0"/>
          </a:p>
        </p:txBody>
      </p:sp>
      <p:sp>
        <p:nvSpPr>
          <p:cNvPr id="29" name="Shape 27"/>
          <p:cNvSpPr/>
          <p:nvPr/>
        </p:nvSpPr>
        <p:spPr>
          <a:xfrm>
            <a:off x="6766560" y="4059936"/>
            <a:ext cx="91440" cy="91440"/>
          </a:xfrm>
          <a:prstGeom prst="ellipse">
            <a:avLst/>
          </a:prstGeom>
          <a:solidFill>
            <a:srgbClr val="0E7C6B"/>
          </a:solidFill>
          <a:ln w="12700">
            <a:solidFill>
              <a:srgbClr val="0E7C6B"/>
            </a:solidFill>
            <a:prstDash val="solid"/>
          </a:ln>
        </p:spPr>
      </p:sp>
      <p:sp>
        <p:nvSpPr>
          <p:cNvPr id="30" name="Text 28"/>
          <p:cNvSpPr txBox="1"/>
          <p:nvPr/>
        </p:nvSpPr>
        <p:spPr>
          <a:xfrm>
            <a:off x="6967728" y="3977640"/>
            <a:ext cx="4690872" cy="868680"/>
          </a:xfrm>
          <a:prstGeom prst="rect">
            <a:avLst/>
          </a:prstGeom>
          <a:noFill/>
          <a:ln/>
        </p:spPr>
        <p:txBody>
          <a:bodyPr wrap="square" lIns="0" tIns="0" rIns="0" bIns="0" rtlCol="0" anchor="t"/>
          <a:lstStyle/>
          <a:p>
            <a:pPr indent="0" marL="0">
              <a:spcAft>
                <a:spcPts val="100"/>
              </a:spcAft>
              <a:buNone/>
            </a:pPr>
            <a:r>
              <a:rPr lang="en-US" sz="1200" dirty="0">
                <a:solidFill>
                  <a:srgbClr val="16243A"/>
                </a:solidFill>
                <a:latin typeface="Calibri" pitchFamily="34" charset="0"/>
                <a:ea typeface="Calibri" pitchFamily="34" charset="-122"/>
                <a:cs typeface="Calibri" pitchFamily="34" charset="-120"/>
              </a:rPr>
              <a:t>A~B and B~C would chain A into C. Union-find refuses any merge where a vetoed pair exists across the two groups.</a:t>
            </a:r>
            <a:endParaRPr lang="en-US" sz="120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A~B 与 B~C 会把 A 链入 C；若两组之间存在被否决的配对，并查集拒绝合并。</a:t>
            </a:r>
            <a:endParaRPr lang="en-US" sz="1200" dirty="0"/>
          </a:p>
        </p:txBody>
      </p:sp>
      <p:sp>
        <p:nvSpPr>
          <p:cNvPr id="31" name="Shape 29"/>
          <p:cNvSpPr/>
          <p:nvPr/>
        </p:nvSpPr>
        <p:spPr>
          <a:xfrm>
            <a:off x="6766560" y="4974336"/>
            <a:ext cx="91440" cy="91440"/>
          </a:xfrm>
          <a:prstGeom prst="ellipse">
            <a:avLst/>
          </a:prstGeom>
          <a:solidFill>
            <a:srgbClr val="0E7C6B"/>
          </a:solidFill>
          <a:ln w="12700">
            <a:solidFill>
              <a:srgbClr val="0E7C6B"/>
            </a:solidFill>
            <a:prstDash val="solid"/>
          </a:ln>
        </p:spPr>
      </p:sp>
      <p:sp>
        <p:nvSpPr>
          <p:cNvPr id="32" name="Text 30"/>
          <p:cNvSpPr txBox="1"/>
          <p:nvPr/>
        </p:nvSpPr>
        <p:spPr>
          <a:xfrm>
            <a:off x="6967728" y="4892040"/>
            <a:ext cx="4690872" cy="868680"/>
          </a:xfrm>
          <a:prstGeom prst="rect">
            <a:avLst/>
          </a:prstGeom>
          <a:noFill/>
          <a:ln/>
        </p:spPr>
        <p:txBody>
          <a:bodyPr wrap="square" lIns="0" tIns="0" rIns="0" bIns="0" rtlCol="0" anchor="t"/>
          <a:lstStyle/>
          <a:p>
            <a:pPr indent="0" marL="0">
              <a:spcAft>
                <a:spcPts val="100"/>
              </a:spcAft>
              <a:buNone/>
            </a:pPr>
            <a:r>
              <a:rPr lang="en-US" sz="1200" b="1" dirty="0">
                <a:solidFill>
                  <a:srgbClr val="16243A"/>
                </a:solidFill>
                <a:latin typeface="Calibri" pitchFamily="34" charset="0"/>
                <a:ea typeface="Calibri" pitchFamily="34" charset="-122"/>
                <a:cs typeface="Calibri" pitchFamily="34" charset="-120"/>
              </a:rPr>
              <a:t>Stable IDs: </a:t>
            </a:r>
            <a:pPr indent="0" marL="0">
              <a:spcAft>
                <a:spcPts val="100"/>
              </a:spcAft>
              <a:buNone/>
            </a:pPr>
            <a:r>
              <a:rPr lang="en-US" sz="1200" dirty="0">
                <a:solidFill>
                  <a:srgbClr val="16243A"/>
                </a:solidFill>
                <a:latin typeface="Calibri" pitchFamily="34" charset="0"/>
                <a:ea typeface="Calibri" pitchFamily="34" charset="-122"/>
                <a:cs typeface="Calibri" pitchFamily="34" charset="-120"/>
              </a:rPr>
              <a:t>a new group inherits the previous product_id when it holds the majority of that product's listings</a:t>
            </a:r>
            <a:endParaRPr lang="en-US" sz="120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稳定 ID：新组若包含旧产品多数商品页，则继承旧的 product_id</a:t>
            </a:r>
            <a:endParaRPr lang="en-US" sz="1200" dirty="0"/>
          </a:p>
        </p:txBody>
      </p:sp>
      <p:sp>
        <p:nvSpPr>
          <p:cNvPr id="33" name="Text 31"/>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METRICS ENGINE V3 · OBSERVATION MODEL</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统计引擎 · 观测模型</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Treating sales badges as interval-censored observations</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将销量徽章视为区间删失观测</a:t>
            </a:r>
            <a:endParaRPr lang="en-US" sz="1500" dirty="0"/>
          </a:p>
        </p:txBody>
      </p:sp>
      <p:sp>
        <p:nvSpPr>
          <p:cNvPr id="7" name="Text 5"/>
          <p:cNvSpPr txBox="1"/>
          <p:nvPr/>
        </p:nvSpPr>
        <p:spPr>
          <a:xfrm>
            <a:off x="548640" y="1645920"/>
            <a:ext cx="530352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DETECTION</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识别</a:t>
            </a:r>
            <a:endParaRPr lang="en-US" sz="1000" dirty="0"/>
          </a:p>
        </p:txBody>
      </p:sp>
      <p:sp>
        <p:nvSpPr>
          <p:cNvPr id="8" name="Shape 6"/>
          <p:cNvSpPr/>
          <p:nvPr/>
        </p:nvSpPr>
        <p:spPr>
          <a:xfrm>
            <a:off x="548640" y="2048256"/>
            <a:ext cx="91440" cy="91440"/>
          </a:xfrm>
          <a:prstGeom prst="ellipse">
            <a:avLst/>
          </a:prstGeom>
          <a:solidFill>
            <a:srgbClr val="0E7C6B"/>
          </a:solidFill>
          <a:ln w="12700">
            <a:solidFill>
              <a:srgbClr val="0E7C6B"/>
            </a:solidFill>
            <a:prstDash val="solid"/>
          </a:ln>
        </p:spPr>
      </p:sp>
      <p:sp>
        <p:nvSpPr>
          <p:cNvPr id="9" name="Text 7"/>
          <p:cNvSpPr txBox="1"/>
          <p:nvPr/>
        </p:nvSpPr>
        <p:spPr>
          <a:xfrm>
            <a:off x="749808" y="1965960"/>
            <a:ext cx="5193792" cy="612648"/>
          </a:xfrm>
          <a:prstGeom prst="rect">
            <a:avLst/>
          </a:prstGeom>
          <a:noFill/>
          <a:ln/>
        </p:spPr>
        <p:txBody>
          <a:bodyPr wrap="square" lIns="0" tIns="0" rIns="0" bIns="0" rtlCol="0" anchor="t"/>
          <a:lstStyle/>
          <a:p>
            <a:pPr indent="0" marL="0">
              <a:spcAft>
                <a:spcPts val="100"/>
              </a:spcAft>
              <a:buNone/>
            </a:pPr>
            <a:r>
              <a:rPr lang="en-US" sz="1200" dirty="0">
                <a:solidFill>
                  <a:srgbClr val="16243A"/>
                </a:solidFill>
                <a:latin typeface="Calibri" pitchFamily="34" charset="0"/>
                <a:ea typeface="Calibri" pitchFamily="34" charset="-122"/>
                <a:cs typeface="Calibri" pitchFamily="34" charset="-120"/>
              </a:rPr>
              <a:t>Ladder 50, 100, 200 … 900, 1K, 2K … (config)</a:t>
            </a:r>
            <a:endParaRPr lang="en-US" sz="120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徽章阶梯：50、100、200 … 900、1K、2K …（可配置）</a:t>
            </a:r>
            <a:endParaRPr lang="en-US" sz="1200" dirty="0"/>
          </a:p>
        </p:txBody>
      </p:sp>
      <p:sp>
        <p:nvSpPr>
          <p:cNvPr id="10" name="Shape 8"/>
          <p:cNvSpPr/>
          <p:nvPr/>
        </p:nvSpPr>
        <p:spPr>
          <a:xfrm>
            <a:off x="548640" y="2706624"/>
            <a:ext cx="91440" cy="91440"/>
          </a:xfrm>
          <a:prstGeom prst="ellipse">
            <a:avLst/>
          </a:prstGeom>
          <a:solidFill>
            <a:srgbClr val="0E7C6B"/>
          </a:solidFill>
          <a:ln w="12700">
            <a:solidFill>
              <a:srgbClr val="0E7C6B"/>
            </a:solidFill>
            <a:prstDash val="solid"/>
          </a:ln>
        </p:spPr>
      </p:sp>
      <p:sp>
        <p:nvSpPr>
          <p:cNvPr id="11" name="Text 9"/>
          <p:cNvSpPr txBox="1"/>
          <p:nvPr/>
        </p:nvSpPr>
        <p:spPr>
          <a:xfrm>
            <a:off x="749808" y="2624328"/>
            <a:ext cx="5193792" cy="612648"/>
          </a:xfrm>
          <a:prstGeom prst="rect">
            <a:avLst/>
          </a:prstGeom>
          <a:noFill/>
          <a:ln/>
        </p:spPr>
        <p:txBody>
          <a:bodyPr wrap="square" lIns="0" tIns="0" rIns="0" bIns="0" rtlCol="0" anchor="t"/>
          <a:lstStyle/>
          <a:p>
            <a:pPr indent="0" marL="0">
              <a:spcAft>
                <a:spcPts val="100"/>
              </a:spcAft>
              <a:buNone/>
            </a:pPr>
            <a:r>
              <a:rPr lang="en-US" sz="1200" dirty="0">
                <a:solidFill>
                  <a:srgbClr val="16243A"/>
                </a:solidFill>
                <a:latin typeface="Calibri" pitchFamily="34" charset="0"/>
                <a:ea typeface="Calibri" pitchFamily="34" charset="-122"/>
                <a:cs typeface="Calibri" pitchFamily="34" charset="-120"/>
              </a:rPr>
              <a:t>Badge data if ≥ 98% of ≥ 10 observed values sit on the ladder, else exact sales</a:t>
            </a:r>
            <a:endParaRPr lang="en-US" sz="120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若 ≥98% 的观测值（至少 10 个）落在阶梯上则判为徽章，否则视为精确销量</a:t>
            </a:r>
            <a:endParaRPr lang="en-US" sz="1200" dirty="0"/>
          </a:p>
        </p:txBody>
      </p:sp>
      <p:sp>
        <p:nvSpPr>
          <p:cNvPr id="12" name="Shape 10"/>
          <p:cNvSpPr/>
          <p:nvPr/>
        </p:nvSpPr>
        <p:spPr>
          <a:xfrm>
            <a:off x="548640" y="3364992"/>
            <a:ext cx="91440" cy="91440"/>
          </a:xfrm>
          <a:prstGeom prst="ellipse">
            <a:avLst/>
          </a:prstGeom>
          <a:solidFill>
            <a:srgbClr val="0E7C6B"/>
          </a:solidFill>
          <a:ln w="12700">
            <a:solidFill>
              <a:srgbClr val="0E7C6B"/>
            </a:solidFill>
            <a:prstDash val="solid"/>
          </a:ln>
        </p:spPr>
      </p:sp>
      <p:sp>
        <p:nvSpPr>
          <p:cNvPr id="13" name="Text 11"/>
          <p:cNvSpPr txBox="1"/>
          <p:nvPr/>
        </p:nvSpPr>
        <p:spPr>
          <a:xfrm>
            <a:off x="749808" y="3282696"/>
            <a:ext cx="5193792" cy="612648"/>
          </a:xfrm>
          <a:prstGeom prst="rect">
            <a:avLst/>
          </a:prstGeom>
          <a:noFill/>
          <a:ln/>
        </p:spPr>
        <p:txBody>
          <a:bodyPr wrap="square" lIns="0" tIns="0" rIns="0" bIns="0" rtlCol="0" anchor="t"/>
          <a:lstStyle/>
          <a:p>
            <a:pPr indent="0" marL="0">
              <a:spcAft>
                <a:spcPts val="100"/>
              </a:spcAft>
              <a:buNone/>
            </a:pPr>
            <a:r>
              <a:rPr lang="en-US" sz="1200" dirty="0">
                <a:solidFill>
                  <a:srgbClr val="16243A"/>
                </a:solidFill>
                <a:latin typeface="Calibri" pitchFamily="34" charset="0"/>
                <a:ea typeface="Calibri" pitchFamily="34" charset="-122"/>
                <a:cs typeface="Calibri" pitchFamily="34" charset="-120"/>
              </a:rPr>
              <a:t>Top rung upper bound = rung × 2</a:t>
            </a:r>
            <a:endParaRPr lang="en-US" sz="120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最高档上界 = 档位 × 2</a:t>
            </a:r>
            <a:endParaRPr lang="en-US" sz="1200" dirty="0"/>
          </a:p>
        </p:txBody>
      </p:sp>
      <p:sp>
        <p:nvSpPr>
          <p:cNvPr id="14" name="Text 12"/>
          <p:cNvSpPr txBox="1"/>
          <p:nvPr/>
        </p:nvSpPr>
        <p:spPr>
          <a:xfrm>
            <a:off x="548640" y="4023360"/>
            <a:ext cx="530352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EACH LISTING'S OBSERVATION</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每个商品页的观测</a:t>
            </a:r>
            <a:endParaRPr lang="en-US" sz="1000" dirty="0"/>
          </a:p>
        </p:txBody>
      </p:sp>
      <p:sp>
        <p:nvSpPr>
          <p:cNvPr id="15" name="Text 13"/>
          <p:cNvSpPr txBox="1"/>
          <p:nvPr/>
        </p:nvSpPr>
        <p:spPr>
          <a:xfrm>
            <a:off x="548640" y="4343400"/>
            <a:ext cx="5394960" cy="960120"/>
          </a:xfrm>
          <a:prstGeom prst="rect">
            <a:avLst/>
          </a:prstGeom>
          <a:solidFill>
            <a:srgbClr val="F4F6F9"/>
          </a:solidFill>
          <a:ln w="9525">
            <a:solidFill>
              <a:srgbClr val="DCE3EB"/>
            </a:solidFill>
          </a:ln>
        </p:spPr>
        <p:txBody>
          <a:bodyPr wrap="square" lIns="101600" tIns="101600" rIns="101600" bIns="101600" rtlCol="0" anchor="t"/>
          <a:lstStyle/>
          <a:p>
            <a:pPr indent="0" marL="0">
              <a:buNone/>
            </a:pPr>
            <a:r>
              <a:rPr lang="en-US" sz="1200" dirty="0">
                <a:solidFill>
                  <a:srgbClr val="16243A"/>
                </a:solidFill>
                <a:latin typeface="Courier New" pitchFamily="34" charset="0"/>
                <a:ea typeface="Courier New" pitchFamily="34" charset="-122"/>
                <a:cs typeface="Courier New" pitchFamily="34" charset="-120"/>
              </a:rPr>
              <a:t>badge "200+"  →  200 ≤ Y &lt; 300</a:t>
            </a:r>
            <a:endParaRPr lang="en-US" sz="1200" dirty="0"/>
          </a:p>
          <a:p>
            <a:pPr indent="0" marL="0">
              <a:buNone/>
            </a:pPr>
            <a:r>
              <a:rPr lang="en-US" sz="1200" dirty="0">
                <a:solidFill>
                  <a:srgbClr val="16243A"/>
                </a:solidFill>
                <a:latin typeface="Courier New" pitchFamily="34" charset="0"/>
                <a:ea typeface="Courier New" pitchFamily="34" charset="-122"/>
                <a:cs typeface="Courier New" pitchFamily="34" charset="-120"/>
              </a:rPr>
              <a:t>no badge      →  0 ≤ Y &lt; 50      (not zero)</a:t>
            </a:r>
            <a:endParaRPr lang="en-US" sz="1200" dirty="0"/>
          </a:p>
          <a:p>
            <a:pPr indent="0" marL="0">
              <a:buNone/>
            </a:pPr>
            <a:r>
              <a:rPr lang="en-US" sz="1200" dirty="0">
                <a:solidFill>
                  <a:srgbClr val="16243A"/>
                </a:solidFill>
                <a:latin typeface="Courier New" pitchFamily="34" charset="0"/>
                <a:ea typeface="Courier New" pitchFamily="34" charset="-122"/>
                <a:cs typeface="Courier New" pitchFamily="34" charset="-120"/>
              </a:rPr>
              <a:t>exact value   →  Y = y</a:t>
            </a:r>
            <a:endParaRPr lang="en-US" sz="1200" dirty="0"/>
          </a:p>
        </p:txBody>
      </p:sp>
      <p:sp>
        <p:nvSpPr>
          <p:cNvPr id="16" name="Text 14"/>
          <p:cNvSpPr txBox="1"/>
          <p:nvPr/>
        </p:nvSpPr>
        <p:spPr>
          <a:xfrm>
            <a:off x="6309360" y="1645920"/>
            <a:ext cx="5303520" cy="237744"/>
          </a:xfrm>
          <a:prstGeom prst="rect">
            <a:avLst/>
          </a:prstGeom>
          <a:noFill/>
          <a:ln/>
        </p:spPr>
        <p:txBody>
          <a:bodyPr wrap="square" lIns="0" tIns="0" rIns="0" bIns="0" rtlCol="0" anchor="ctr"/>
          <a:lstStyle/>
          <a:p>
            <a:pPr indent="0" marL="0">
              <a:buNone/>
            </a:pPr>
            <a:r>
              <a:rPr lang="en-US" sz="1000" b="1" spc="200" kern="0" dirty="0">
                <a:solidFill>
                  <a:srgbClr val="B7791F"/>
                </a:solidFill>
                <a:latin typeface="Calibri" pitchFamily="34" charset="0"/>
                <a:ea typeface="Calibri" pitchFamily="34" charset="-122"/>
                <a:cs typeface="Calibri" pitchFamily="34" charset="-120"/>
              </a:rPr>
              <a:t>LOG-LIKELIHOOD MAXIMISED</a:t>
            </a:r>
            <a:pPr indent="0" marL="0">
              <a:buNone/>
            </a:pPr>
            <a:r>
              <a:rPr lang="en-US" sz="1000" b="1" dirty="0">
                <a:solidFill>
                  <a:srgbClr val="B7791F"/>
                </a:solidFill>
                <a:latin typeface="Microsoft YaHei" pitchFamily="34" charset="0"/>
                <a:ea typeface="Microsoft YaHei" pitchFamily="34" charset="-122"/>
                <a:cs typeface="Microsoft YaHei" pitchFamily="34" charset="-120"/>
              </a:rPr>
              <a:t>  最大化的对数似然</a:t>
            </a:r>
            <a:endParaRPr lang="en-US" sz="1000" dirty="0"/>
          </a:p>
        </p:txBody>
      </p:sp>
      <p:sp>
        <p:nvSpPr>
          <p:cNvPr id="17" name="Text 15"/>
          <p:cNvSpPr txBox="1"/>
          <p:nvPr/>
        </p:nvSpPr>
        <p:spPr>
          <a:xfrm>
            <a:off x="6309360" y="1965960"/>
            <a:ext cx="5349240" cy="3337560"/>
          </a:xfrm>
          <a:prstGeom prst="rect">
            <a:avLst/>
          </a:prstGeom>
          <a:solidFill>
            <a:srgbClr val="F4F6F9"/>
          </a:solidFill>
          <a:ln w="9525">
            <a:solidFill>
              <a:srgbClr val="DCE3EB"/>
            </a:solidFill>
          </a:ln>
        </p:spPr>
        <p:txBody>
          <a:bodyPr wrap="square" lIns="101600" tIns="101600" rIns="101600" bIns="101600" rtlCol="0" anchor="t"/>
          <a:lstStyle/>
          <a:p>
            <a:pPr indent="0" marL="0">
              <a:buNone/>
            </a:pPr>
            <a:r>
              <a:rPr lang="en-US" sz="1150" dirty="0">
                <a:solidFill>
                  <a:srgbClr val="16243A"/>
                </a:solidFill>
                <a:latin typeface="Courier New" pitchFamily="34" charset="0"/>
                <a:ea typeface="Courier New" pitchFamily="34" charset="-122"/>
                <a:cs typeface="Courier New" pitchFamily="34" charset="-120"/>
              </a:rPr>
              <a:t>μᵢ = xᵢ·β      (standardised log price, rating,</a:t>
            </a: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               log age, sub-category)</a:t>
            </a:r>
            <a:endParaRPr lang="en-US" sz="1150" dirty="0"/>
          </a:p>
          <a:p>
            <a:pPr indent="0" marL="0">
              <a:buNone/>
            </a:pP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exact : log f((log yᵢ − μᵢ)/σ) − log σ</a:t>
            </a: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interval [L,U):</a:t>
            </a: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        log[ F((log U − μᵢ)/σ) − F((log L − μᵢ)/σ) ]</a:t>
            </a:r>
            <a:endParaRPr lang="en-US" sz="1150" dirty="0"/>
          </a:p>
          <a:p>
            <a:pPr indent="0" marL="0">
              <a:buNone/>
            </a:pP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ℓ(β,σ) = Σ contributions − ridge·‖β‖²</a:t>
            </a: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F = normal or Student-t CDF</a:t>
            </a:r>
            <a:endParaRPr lang="en-US" sz="1150" dirty="0"/>
          </a:p>
        </p:txBody>
      </p:sp>
      <p:sp>
        <p:nvSpPr>
          <p:cNvPr id="18" name="Text 16"/>
          <p:cNvSpPr txBox="1"/>
          <p:nvPr/>
        </p:nvSpPr>
        <p:spPr>
          <a:xfrm>
            <a:off x="548640" y="5623560"/>
            <a:ext cx="11064240" cy="566928"/>
          </a:xfrm>
          <a:prstGeom prst="rect">
            <a:avLst/>
          </a:prstGeom>
          <a:noFill/>
          <a:ln/>
        </p:spPr>
        <p:txBody>
          <a:bodyPr wrap="square" lIns="0" tIns="0" rIns="0" bIns="0" rtlCol="0" anchor="ctr"/>
          <a:lstStyle/>
          <a:p>
            <a:pPr indent="0" marL="0">
              <a:buNone/>
            </a:pPr>
            <a:r>
              <a:rPr lang="en-US" sz="1150" i="1" dirty="0">
                <a:solidFill>
                  <a:srgbClr val="56667D"/>
                </a:solidFill>
                <a:latin typeface="Calibri" pitchFamily="34" charset="0"/>
                <a:ea typeface="Calibri" pitchFamily="34" charset="-122"/>
                <a:cs typeface="Calibri" pitchFamily="34" charset="-120"/>
              </a:rPr>
              <a:t>This is why the estimate beats the badge sum: every listing contributes exactly what is known about it — a range — instead of its floor.</a:t>
            </a:r>
            <a:endParaRPr lang="en-US" sz="115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这正是估计值优于徽章求和的原因：每个商品页只贡献它确知的信息——一个区间——而非其下限。</a:t>
            </a:r>
            <a:endParaRPr lang="en-US" sz="1150" dirty="0"/>
          </a:p>
        </p:txBody>
      </p:sp>
      <p:sp>
        <p:nvSpPr>
          <p:cNvPr id="19" name="Text 17"/>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METRICS ENGINE V3 · ESTIMATION</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统计引擎 · 估计</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Model selection, bootstrap and the listing estimate</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模型选择、自助法与单品估计</a:t>
            </a:r>
            <a:endParaRPr lang="en-US" sz="1500" dirty="0"/>
          </a:p>
        </p:txBody>
      </p:sp>
      <p:sp>
        <p:nvSpPr>
          <p:cNvPr id="7" name="Shape 5"/>
          <p:cNvSpPr/>
          <p:nvPr/>
        </p:nvSpPr>
        <p:spPr>
          <a:xfrm>
            <a:off x="548640" y="1691640"/>
            <a:ext cx="2514600" cy="694944"/>
          </a:xfrm>
          <a:prstGeom prst="roundRect">
            <a:avLst>
              <a:gd name="adj" fmla="val 9211"/>
            </a:avLst>
          </a:prstGeom>
          <a:solidFill>
            <a:srgbClr val="FFFFFF"/>
          </a:solidFill>
          <a:ln w="12700">
            <a:solidFill>
              <a:srgbClr val="DCE3EB"/>
            </a:solidFill>
            <a:prstDash val="solid"/>
          </a:ln>
        </p:spPr>
      </p:sp>
      <p:sp>
        <p:nvSpPr>
          <p:cNvPr id="8" name="Text 6"/>
          <p:cNvSpPr txBox="1"/>
          <p:nvPr/>
        </p:nvSpPr>
        <p:spPr>
          <a:xfrm>
            <a:off x="640080" y="1691640"/>
            <a:ext cx="2331720" cy="694944"/>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Family selection</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误差族选择</a:t>
            </a:r>
            <a:endParaRPr lang="en-US" sz="1250" dirty="0"/>
          </a:p>
        </p:txBody>
      </p:sp>
      <p:sp>
        <p:nvSpPr>
          <p:cNvPr id="9" name="Text 7"/>
          <p:cNvSpPr txBox="1"/>
          <p:nvPr/>
        </p:nvSpPr>
        <p:spPr>
          <a:xfrm>
            <a:off x="3200400" y="1691640"/>
            <a:ext cx="3931920" cy="69494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normal, t10, t5, t3 fitted; lowest AIC wins</a:t>
            </a:r>
            <a:endParaRPr lang="en-US" sz="1150" dirty="0"/>
          </a:p>
        </p:txBody>
      </p:sp>
      <p:sp>
        <p:nvSpPr>
          <p:cNvPr id="10" name="Shape 8"/>
          <p:cNvSpPr/>
          <p:nvPr/>
        </p:nvSpPr>
        <p:spPr>
          <a:xfrm>
            <a:off x="548640" y="2514600"/>
            <a:ext cx="2514600" cy="694944"/>
          </a:xfrm>
          <a:prstGeom prst="roundRect">
            <a:avLst>
              <a:gd name="adj" fmla="val 9211"/>
            </a:avLst>
          </a:prstGeom>
          <a:solidFill>
            <a:srgbClr val="FFFFFF"/>
          </a:solidFill>
          <a:ln w="12700">
            <a:solidFill>
              <a:srgbClr val="DCE3EB"/>
            </a:solidFill>
            <a:prstDash val="solid"/>
          </a:ln>
        </p:spPr>
      </p:sp>
      <p:sp>
        <p:nvSpPr>
          <p:cNvPr id="11" name="Text 9"/>
          <p:cNvSpPr txBox="1"/>
          <p:nvPr/>
        </p:nvSpPr>
        <p:spPr>
          <a:xfrm>
            <a:off x="640080" y="2514600"/>
            <a:ext cx="2331720" cy="694944"/>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Parametric bootstrap</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参数自助法</a:t>
            </a:r>
            <a:endParaRPr lang="en-US" sz="1250" dirty="0"/>
          </a:p>
        </p:txBody>
      </p:sp>
      <p:sp>
        <p:nvSpPr>
          <p:cNvPr id="12" name="Text 10"/>
          <p:cNvSpPr txBox="1"/>
          <p:nvPr/>
        </p:nvSpPr>
        <p:spPr>
          <a:xfrm>
            <a:off x="3200400" y="2514600"/>
            <a:ext cx="3931920" cy="69494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60 refits on data simulated from the fit; each refit re-selects the family</a:t>
            </a:r>
            <a:endParaRPr lang="en-US" sz="1150" dirty="0"/>
          </a:p>
        </p:txBody>
      </p:sp>
      <p:sp>
        <p:nvSpPr>
          <p:cNvPr id="13" name="Shape 11"/>
          <p:cNvSpPr/>
          <p:nvPr/>
        </p:nvSpPr>
        <p:spPr>
          <a:xfrm>
            <a:off x="548640" y="3337560"/>
            <a:ext cx="2514600" cy="694944"/>
          </a:xfrm>
          <a:prstGeom prst="roundRect">
            <a:avLst>
              <a:gd name="adj" fmla="val 9211"/>
            </a:avLst>
          </a:prstGeom>
          <a:solidFill>
            <a:srgbClr val="FFFFFF"/>
          </a:solidFill>
          <a:ln w="12700">
            <a:solidFill>
              <a:srgbClr val="DCE3EB"/>
            </a:solidFill>
            <a:prstDash val="solid"/>
          </a:ln>
        </p:spPr>
      </p:sp>
      <p:sp>
        <p:nvSpPr>
          <p:cNvPr id="14" name="Text 12"/>
          <p:cNvSpPr txBox="1"/>
          <p:nvPr/>
        </p:nvSpPr>
        <p:spPr>
          <a:xfrm>
            <a:off x="640080" y="3337560"/>
            <a:ext cx="2331720" cy="694944"/>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Bias correction</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偏差校正</a:t>
            </a:r>
            <a:endParaRPr lang="en-US" sz="1250" dirty="0"/>
          </a:p>
        </p:txBody>
      </p:sp>
      <p:sp>
        <p:nvSpPr>
          <p:cNvPr id="15" name="Text 13"/>
          <p:cNvSpPr txBox="1"/>
          <p:nvPr/>
        </p:nvSpPr>
        <p:spPr>
          <a:xfrm>
            <a:off x="3200400" y="3337560"/>
            <a:ext cx="3931920" cy="69494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θ_bc = θ̂ − (mean θ* − θ̂); bootstrap draws re-centred on it</a:t>
            </a:r>
            <a:endParaRPr lang="en-US" sz="1150" dirty="0"/>
          </a:p>
        </p:txBody>
      </p:sp>
      <p:sp>
        <p:nvSpPr>
          <p:cNvPr id="16" name="Shape 14"/>
          <p:cNvSpPr/>
          <p:nvPr/>
        </p:nvSpPr>
        <p:spPr>
          <a:xfrm>
            <a:off x="548640" y="4160520"/>
            <a:ext cx="2514600" cy="694944"/>
          </a:xfrm>
          <a:prstGeom prst="roundRect">
            <a:avLst>
              <a:gd name="adj" fmla="val 9211"/>
            </a:avLst>
          </a:prstGeom>
          <a:solidFill>
            <a:srgbClr val="E3F2EF"/>
          </a:solidFill>
          <a:ln w="12700">
            <a:solidFill>
              <a:srgbClr val="0E7C6B"/>
            </a:solidFill>
            <a:prstDash val="solid"/>
          </a:ln>
        </p:spPr>
      </p:sp>
      <p:sp>
        <p:nvSpPr>
          <p:cNvPr id="17" name="Text 15"/>
          <p:cNvSpPr txBox="1"/>
          <p:nvPr/>
        </p:nvSpPr>
        <p:spPr>
          <a:xfrm>
            <a:off x="640080" y="4160520"/>
            <a:ext cx="2331720" cy="694944"/>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Conditional mean</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条件期望</a:t>
            </a:r>
            <a:endParaRPr lang="en-US" sz="1250" dirty="0"/>
          </a:p>
        </p:txBody>
      </p:sp>
      <p:sp>
        <p:nvSpPr>
          <p:cNvPr id="18" name="Text 16"/>
          <p:cNvSpPr txBox="1"/>
          <p:nvPr/>
        </p:nvSpPr>
        <p:spPr>
          <a:xfrm>
            <a:off x="3200400" y="4160520"/>
            <a:ext cx="3931920" cy="69494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E[Y | L ≤ Y &lt; U] per listing — closed form for normal, 64-node quadrature for t; clipped into [L, U)</a:t>
            </a:r>
            <a:endParaRPr lang="en-US" sz="1150" dirty="0"/>
          </a:p>
        </p:txBody>
      </p:sp>
      <p:sp>
        <p:nvSpPr>
          <p:cNvPr id="19" name="Shape 17"/>
          <p:cNvSpPr/>
          <p:nvPr/>
        </p:nvSpPr>
        <p:spPr>
          <a:xfrm>
            <a:off x="548640" y="4983480"/>
            <a:ext cx="2514600" cy="694944"/>
          </a:xfrm>
          <a:prstGeom prst="roundRect">
            <a:avLst>
              <a:gd name="adj" fmla="val 9211"/>
            </a:avLst>
          </a:prstGeom>
          <a:solidFill>
            <a:srgbClr val="FFFFFF"/>
          </a:solidFill>
          <a:ln w="12700">
            <a:solidFill>
              <a:srgbClr val="DCE3EB"/>
            </a:solidFill>
            <a:prstDash val="solid"/>
          </a:ln>
        </p:spPr>
      </p:sp>
      <p:sp>
        <p:nvSpPr>
          <p:cNvPr id="20" name="Text 18"/>
          <p:cNvSpPr txBox="1"/>
          <p:nvPr/>
        </p:nvSpPr>
        <p:spPr>
          <a:xfrm>
            <a:off x="640080" y="4983480"/>
            <a:ext cx="2331720" cy="694944"/>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Hold-out validation</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留出验证</a:t>
            </a:r>
            <a:endParaRPr lang="en-US" sz="1250" dirty="0"/>
          </a:p>
        </p:txBody>
      </p:sp>
      <p:sp>
        <p:nvSpPr>
          <p:cNvPr id="21" name="Text 19"/>
          <p:cNvSpPr txBox="1"/>
          <p:nvPr/>
        </p:nvSpPr>
        <p:spPr>
          <a:xfrm>
            <a:off x="3200400" y="4983480"/>
            <a:ext cx="3931920" cy="69494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5-fold: hide badges, predict P(above first rung) → AUC feeds the evidence grade</a:t>
            </a:r>
            <a:endParaRPr lang="en-US" sz="1150" dirty="0"/>
          </a:p>
        </p:txBody>
      </p:sp>
      <p:sp>
        <p:nvSpPr>
          <p:cNvPr id="22" name="Text 20"/>
          <p:cNvSpPr txBox="1"/>
          <p:nvPr/>
        </p:nvSpPr>
        <p:spPr>
          <a:xfrm>
            <a:off x="7498080" y="1691640"/>
            <a:ext cx="4206240" cy="237744"/>
          </a:xfrm>
          <a:prstGeom prst="rect">
            <a:avLst/>
          </a:prstGeom>
          <a:noFill/>
          <a:ln/>
        </p:spPr>
        <p:txBody>
          <a:bodyPr wrap="square" lIns="0" tIns="0" rIns="0" bIns="0" rtlCol="0" anchor="ctr"/>
          <a:lstStyle/>
          <a:p>
            <a:pPr indent="0" marL="0">
              <a:buNone/>
            </a:pPr>
            <a:r>
              <a:rPr lang="en-US" sz="1000" b="1" spc="200" kern="0" dirty="0">
                <a:solidFill>
                  <a:srgbClr val="B7791F"/>
                </a:solidFill>
                <a:latin typeface="Calibri" pitchFamily="34" charset="0"/>
                <a:ea typeface="Calibri" pitchFamily="34" charset="-122"/>
                <a:cs typeface="Calibri" pitchFamily="34" charset="-120"/>
              </a:rPr>
              <a:t>NORMAL CLOSED FORM</a:t>
            </a:r>
            <a:pPr indent="0" marL="0">
              <a:buNone/>
            </a:pPr>
            <a:r>
              <a:rPr lang="en-US" sz="1000" b="1" dirty="0">
                <a:solidFill>
                  <a:srgbClr val="B7791F"/>
                </a:solidFill>
                <a:latin typeface="Microsoft YaHei" pitchFamily="34" charset="0"/>
                <a:ea typeface="Microsoft YaHei" pitchFamily="34" charset="-122"/>
                <a:cs typeface="Microsoft YaHei" pitchFamily="34" charset="-120"/>
              </a:rPr>
              <a:t>  正态闭式解</a:t>
            </a:r>
            <a:endParaRPr lang="en-US" sz="1000" dirty="0"/>
          </a:p>
        </p:txBody>
      </p:sp>
      <p:sp>
        <p:nvSpPr>
          <p:cNvPr id="23" name="Text 21"/>
          <p:cNvSpPr txBox="1"/>
          <p:nvPr/>
        </p:nvSpPr>
        <p:spPr>
          <a:xfrm>
            <a:off x="7498080" y="2011680"/>
            <a:ext cx="4160520" cy="2148840"/>
          </a:xfrm>
          <a:prstGeom prst="rect">
            <a:avLst/>
          </a:prstGeom>
          <a:solidFill>
            <a:srgbClr val="F4F6F9"/>
          </a:solidFill>
          <a:ln w="9525">
            <a:solidFill>
              <a:srgbClr val="DCE3EB"/>
            </a:solidFill>
          </a:ln>
        </p:spPr>
        <p:txBody>
          <a:bodyPr wrap="square" lIns="101600" tIns="101600" rIns="101600" bIns="101600" rtlCol="0" anchor="t"/>
          <a:lstStyle/>
          <a:p>
            <a:pPr indent="0" marL="0">
              <a:buNone/>
            </a:pPr>
            <a:r>
              <a:rPr lang="en-US" sz="1150" dirty="0">
                <a:solidFill>
                  <a:srgbClr val="16243A"/>
                </a:solidFill>
                <a:latin typeface="Courier New" pitchFamily="34" charset="0"/>
                <a:ea typeface="Courier New" pitchFamily="34" charset="-122"/>
                <a:cs typeface="Courier New" pitchFamily="34" charset="-120"/>
              </a:rPr>
              <a:t>a = (log L − μ)/σ,  b = (log U − μ)/σ</a:t>
            </a:r>
            <a:endParaRPr lang="en-US" sz="1150" dirty="0"/>
          </a:p>
          <a:p>
            <a:pPr indent="0" marL="0">
              <a:buNone/>
            </a:pP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E[Y | L≤Y&lt;U] =</a:t>
            </a: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  exp(μ + σ²/2) ·</a:t>
            </a: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  [Φ(b − σ) − Φ(a − σ)]</a:t>
            </a: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  / [Φ(b) − Φ(a)]</a:t>
            </a:r>
            <a:endParaRPr lang="en-US" sz="1150" dirty="0"/>
          </a:p>
        </p:txBody>
      </p:sp>
      <p:sp>
        <p:nvSpPr>
          <p:cNvPr id="24" name="Shape 22"/>
          <p:cNvSpPr/>
          <p:nvPr/>
        </p:nvSpPr>
        <p:spPr>
          <a:xfrm>
            <a:off x="7498080" y="4425696"/>
            <a:ext cx="91440" cy="91440"/>
          </a:xfrm>
          <a:prstGeom prst="ellipse">
            <a:avLst/>
          </a:prstGeom>
          <a:solidFill>
            <a:srgbClr val="0E7C6B"/>
          </a:solidFill>
          <a:ln w="12700">
            <a:solidFill>
              <a:srgbClr val="0E7C6B"/>
            </a:solidFill>
            <a:prstDash val="solid"/>
          </a:ln>
        </p:spPr>
      </p:sp>
      <p:sp>
        <p:nvSpPr>
          <p:cNvPr id="25" name="Text 23"/>
          <p:cNvSpPr txBox="1"/>
          <p:nvPr/>
        </p:nvSpPr>
        <p:spPr>
          <a:xfrm>
            <a:off x="7699248" y="4343400"/>
            <a:ext cx="3959352" cy="68580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Exact observations keep their value; the estimate never leaves the observed range</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精确观测保持原值；估计值永不超出观测区间</a:t>
            </a:r>
            <a:endParaRPr lang="en-US" sz="1150" dirty="0"/>
          </a:p>
        </p:txBody>
      </p:sp>
      <p:sp>
        <p:nvSpPr>
          <p:cNvPr id="26" name="Shape 24"/>
          <p:cNvSpPr/>
          <p:nvPr/>
        </p:nvSpPr>
        <p:spPr>
          <a:xfrm>
            <a:off x="7498080" y="5157216"/>
            <a:ext cx="91440" cy="91440"/>
          </a:xfrm>
          <a:prstGeom prst="ellipse">
            <a:avLst/>
          </a:prstGeom>
          <a:solidFill>
            <a:srgbClr val="0E7C6B"/>
          </a:solidFill>
          <a:ln w="12700">
            <a:solidFill>
              <a:srgbClr val="0E7C6B"/>
            </a:solidFill>
            <a:prstDash val="solid"/>
          </a:ln>
        </p:spPr>
      </p:sp>
      <p:sp>
        <p:nvSpPr>
          <p:cNvPr id="27" name="Text 25"/>
          <p:cNvSpPr txBox="1"/>
          <p:nvPr/>
        </p:nvSpPr>
        <p:spPr>
          <a:xfrm>
            <a:off x="7699248" y="5074920"/>
            <a:ext cx="3959352" cy="68580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Settings: demand_model in metrics.yaml</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参数：metrics.yaml 中的 demand_model 段</a:t>
            </a:r>
            <a:endParaRPr lang="en-US" sz="1150" dirty="0"/>
          </a:p>
        </p:txBody>
      </p:sp>
      <p:sp>
        <p:nvSpPr>
          <p:cNvPr id="28" name="Text 26"/>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METRICS ENGINE V3 · AGGREGATION</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统计引擎 · 汇总</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Joint simulation, calibration and exact reconciliation</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联合模拟、区间校准与精确对账</a:t>
            </a:r>
            <a:endParaRPr lang="en-US" sz="1500" dirty="0"/>
          </a:p>
        </p:txBody>
      </p:sp>
      <p:sp>
        <p:nvSpPr>
          <p:cNvPr id="7" name="Text 5"/>
          <p:cNvSpPr txBox="1"/>
          <p:nvPr/>
        </p:nvSpPr>
        <p:spPr>
          <a:xfrm>
            <a:off x="548640" y="1691640"/>
            <a:ext cx="6675120" cy="2514600"/>
          </a:xfrm>
          <a:prstGeom prst="rect">
            <a:avLst/>
          </a:prstGeom>
          <a:solidFill>
            <a:srgbClr val="F4F6F9"/>
          </a:solidFill>
          <a:ln w="9525">
            <a:solidFill>
              <a:srgbClr val="DCE3EB"/>
            </a:solidFill>
          </a:ln>
        </p:spPr>
        <p:txBody>
          <a:bodyPr wrap="square" lIns="101600" tIns="101600" rIns="101600" bIns="101600" rtlCol="0" anchor="t"/>
          <a:lstStyle/>
          <a:p>
            <a:pPr indent="0" marL="0">
              <a:buNone/>
            </a:pPr>
            <a:r>
              <a:rPr lang="en-US" sz="1100" dirty="0">
                <a:solidFill>
                  <a:srgbClr val="16243A"/>
                </a:solidFill>
                <a:latin typeface="Courier New" pitchFamily="34" charset="0"/>
                <a:ea typeface="Courier New" pitchFamily="34" charset="-122"/>
                <a:cs typeface="Courier New" pitchFamily="34" charset="-120"/>
              </a:rPr>
              <a:t>for i in 1..400:</a:t>
            </a:r>
            <a:endParaRPr lang="en-US" sz="1100" dirty="0"/>
          </a:p>
          <a:p>
            <a:pPr indent="0" marL="0">
              <a:buNone/>
            </a:pPr>
            <a:r>
              <a:rPr lang="en-US" sz="1100" dirty="0">
                <a:solidFill>
                  <a:srgbClr val="16243A"/>
                </a:solidFill>
                <a:latin typeface="Courier New" pitchFamily="34" charset="0"/>
                <a:ea typeface="Courier New" pitchFamily="34" charset="-122"/>
                <a:cs typeface="Courier New" pitchFamily="34" charset="-120"/>
              </a:rPr>
              <a:t>    θ = bootstrap_set[i mod 60]</a:t>
            </a:r>
            <a:endParaRPr lang="en-US" sz="1100" dirty="0"/>
          </a:p>
          <a:p>
            <a:pPr indent="0" marL="0">
              <a:buNone/>
            </a:pPr>
            <a:r>
              <a:rPr lang="en-US" sz="1100" dirty="0">
                <a:solidFill>
                  <a:srgbClr val="16243A"/>
                </a:solidFill>
                <a:latin typeface="Courier New" pitchFamily="34" charset="0"/>
                <a:ea typeface="Courier New" pitchFamily="34" charset="-122"/>
                <a:cs typeface="Courier New" pitchFamily="34" charset="-120"/>
              </a:rPr>
              <a:t>    x = draw every listing inside its interval | θ   (× price for revenue)</a:t>
            </a:r>
            <a:endParaRPr lang="en-US" sz="1100" dirty="0"/>
          </a:p>
          <a:p>
            <a:pPr indent="0" marL="0">
              <a:buNone/>
            </a:pPr>
            <a:r>
              <a:rPr lang="en-US" sz="1100" dirty="0">
                <a:solidFill>
                  <a:srgbClr val="16243A"/>
                </a:solidFill>
                <a:latin typeface="Courier New" pitchFamily="34" charset="0"/>
                <a:ea typeface="Courier New" pitchFamily="34" charset="-122"/>
                <a:cs typeface="Courier New" pitchFamily="34" charset="-120"/>
              </a:rPr>
              <a:t>    for group in (market, segment, product, brand, segment×brand):</a:t>
            </a:r>
            <a:endParaRPr lang="en-US" sz="1100" dirty="0"/>
          </a:p>
          <a:p>
            <a:pPr indent="0" marL="0">
              <a:buNone/>
            </a:pPr>
            <a:r>
              <a:rPr lang="en-US" sz="1100" dirty="0">
                <a:solidFill>
                  <a:srgbClr val="16243A"/>
                </a:solidFill>
                <a:latin typeface="Courier New" pitchFamily="34" charset="0"/>
                <a:ea typeface="Courier New" pitchFamily="34" charset="-122"/>
                <a:cs typeface="Courier New" pitchFamily="34" charset="-120"/>
              </a:rPr>
              <a:t>        totals[group][i] = bincount(group_index, x)</a:t>
            </a:r>
            <a:endParaRPr lang="en-US" sz="1100" dirty="0"/>
          </a:p>
          <a:p>
            <a:pPr indent="0" marL="0">
              <a:buNone/>
            </a:pPr>
            <a:endParaRPr lang="en-US" sz="1100" dirty="0"/>
          </a:p>
          <a:p>
            <a:pPr indent="0" marL="0">
              <a:buNone/>
            </a:pPr>
            <a:r>
              <a:rPr lang="en-US" sz="1100" dirty="0">
                <a:solidFill>
                  <a:srgbClr val="16243A"/>
                </a:solidFill>
                <a:latin typeface="Courier New" pitchFamily="34" charset="0"/>
                <a:ea typeface="Courier New" pitchFamily="34" charset="-122"/>
                <a:cs typeface="Courier New" pitchFamily="34" charset="-120"/>
              </a:rPr>
              <a:t>widen:   d = mean + 1.3·(d − mean), clip at 0</a:t>
            </a:r>
            <a:endParaRPr lang="en-US" sz="1100" dirty="0"/>
          </a:p>
          <a:p>
            <a:pPr indent="0" marL="0">
              <a:buNone/>
            </a:pPr>
            <a:r>
              <a:rPr lang="en-US" sz="1100" dirty="0">
                <a:solidFill>
                  <a:srgbClr val="16243A"/>
                </a:solidFill>
                <a:latin typeface="Courier New" pitchFamily="34" charset="0"/>
                <a:ea typeface="Courier New" pitchFamily="34" charset="-122"/>
                <a:cs typeface="Courier New" pitchFamily="34" charset="-120"/>
              </a:rPr>
              <a:t>anchor:  d ← d · (Σ listing conditional means) / mean(d)   per group</a:t>
            </a:r>
            <a:endParaRPr lang="en-US" sz="1100" dirty="0"/>
          </a:p>
        </p:txBody>
      </p:sp>
      <p:sp>
        <p:nvSpPr>
          <p:cNvPr id="8" name="Text 6"/>
          <p:cNvSpPr txBox="1"/>
          <p:nvPr/>
        </p:nvSpPr>
        <p:spPr>
          <a:xfrm>
            <a:off x="7589520" y="1691640"/>
            <a:ext cx="4114800" cy="237744"/>
          </a:xfrm>
          <a:prstGeom prst="rect">
            <a:avLst/>
          </a:prstGeom>
          <a:noFill/>
          <a:ln/>
        </p:spPr>
        <p:txBody>
          <a:bodyPr wrap="square" lIns="0" tIns="0" rIns="0" bIns="0" rtlCol="0" anchor="ctr"/>
          <a:lstStyle/>
          <a:p>
            <a:pPr indent="0" marL="0">
              <a:buNone/>
            </a:pPr>
            <a:r>
              <a:rPr lang="en-US" sz="1000" b="1" spc="200" kern="0" dirty="0">
                <a:solidFill>
                  <a:srgbClr val="B7791F"/>
                </a:solidFill>
                <a:latin typeface="Calibri" pitchFamily="34" charset="0"/>
                <a:ea typeface="Calibri" pitchFamily="34" charset="-122"/>
                <a:cs typeface="Calibri" pitchFamily="34" charset="-120"/>
              </a:rPr>
              <a:t>WHY EACH STEP</a:t>
            </a:r>
            <a:pPr indent="0" marL="0">
              <a:buNone/>
            </a:pPr>
            <a:r>
              <a:rPr lang="en-US" sz="1000" b="1" dirty="0">
                <a:solidFill>
                  <a:srgbClr val="B7791F"/>
                </a:solidFill>
                <a:latin typeface="Microsoft YaHei" pitchFamily="34" charset="0"/>
                <a:ea typeface="Microsoft YaHei" pitchFamily="34" charset="-122"/>
                <a:cs typeface="Microsoft YaHei" pitchFamily="34" charset="-120"/>
              </a:rPr>
              <a:t>  每一步的原因</a:t>
            </a:r>
            <a:endParaRPr lang="en-US" sz="1000" dirty="0"/>
          </a:p>
        </p:txBody>
      </p:sp>
      <p:sp>
        <p:nvSpPr>
          <p:cNvPr id="9" name="Shape 7"/>
          <p:cNvSpPr/>
          <p:nvPr/>
        </p:nvSpPr>
        <p:spPr>
          <a:xfrm>
            <a:off x="7589520" y="2093976"/>
            <a:ext cx="91440" cy="91440"/>
          </a:xfrm>
          <a:prstGeom prst="ellipse">
            <a:avLst/>
          </a:prstGeom>
          <a:solidFill>
            <a:srgbClr val="0E7C6B"/>
          </a:solidFill>
          <a:ln w="12700">
            <a:solidFill>
              <a:srgbClr val="0E7C6B"/>
            </a:solidFill>
            <a:prstDash val="solid"/>
          </a:ln>
        </p:spPr>
      </p:sp>
      <p:sp>
        <p:nvSpPr>
          <p:cNvPr id="10" name="Text 8"/>
          <p:cNvSpPr txBox="1"/>
          <p:nvPr/>
        </p:nvSpPr>
        <p:spPr>
          <a:xfrm>
            <a:off x="7790688" y="2011680"/>
            <a:ext cx="391363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Joint draws: intervals and shares for any grouping from one simulation</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联合抽样：一次模拟即可得到任意分组的区间与份额</a:t>
            </a:r>
            <a:endParaRPr lang="en-US" sz="1150" dirty="0"/>
          </a:p>
        </p:txBody>
      </p:sp>
      <p:sp>
        <p:nvSpPr>
          <p:cNvPr id="11" name="Shape 9"/>
          <p:cNvSpPr/>
          <p:nvPr/>
        </p:nvSpPr>
        <p:spPr>
          <a:xfrm>
            <a:off x="7589520" y="2962656"/>
            <a:ext cx="91440" cy="91440"/>
          </a:xfrm>
          <a:prstGeom prst="ellipse">
            <a:avLst/>
          </a:prstGeom>
          <a:solidFill>
            <a:srgbClr val="0E7C6B"/>
          </a:solidFill>
          <a:ln w="12700">
            <a:solidFill>
              <a:srgbClr val="0E7C6B"/>
            </a:solidFill>
            <a:prstDash val="solid"/>
          </a:ln>
        </p:spPr>
      </p:sp>
      <p:sp>
        <p:nvSpPr>
          <p:cNvPr id="12" name="Text 10"/>
          <p:cNvSpPr txBox="1"/>
          <p:nvPr/>
        </p:nvSpPr>
        <p:spPr>
          <a:xfrm>
            <a:off x="7790688" y="2880360"/>
            <a:ext cx="391363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×1.3: needed for 95% coverage on synthetic truth (1.29 normal, 1.30 heavy-tailed)</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×1.3：在合成真值上达到 95% 覆盖所需（正态 1.29，厚尾 1.30）</a:t>
            </a:r>
            <a:endParaRPr lang="en-US" sz="1150" dirty="0"/>
          </a:p>
        </p:txBody>
      </p:sp>
      <p:sp>
        <p:nvSpPr>
          <p:cNvPr id="13" name="Shape 11"/>
          <p:cNvSpPr/>
          <p:nvPr/>
        </p:nvSpPr>
        <p:spPr>
          <a:xfrm>
            <a:off x="7589520" y="3831336"/>
            <a:ext cx="91440" cy="91440"/>
          </a:xfrm>
          <a:prstGeom prst="ellipse">
            <a:avLst/>
          </a:prstGeom>
          <a:solidFill>
            <a:srgbClr val="0E7C6B"/>
          </a:solidFill>
          <a:ln w="12700">
            <a:solidFill>
              <a:srgbClr val="0E7C6B"/>
            </a:solidFill>
            <a:prstDash val="solid"/>
          </a:ln>
        </p:spPr>
      </p:sp>
      <p:sp>
        <p:nvSpPr>
          <p:cNvPr id="14" name="Text 12"/>
          <p:cNvSpPr txBox="1"/>
          <p:nvPr/>
        </p:nvSpPr>
        <p:spPr>
          <a:xfrm>
            <a:off x="7790688" y="3749040"/>
            <a:ext cx="391363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Anchor: point estimates become deterministic and add up exactly across levels</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锚定：点估计确定且逐级精确相加</a:t>
            </a:r>
            <a:endParaRPr lang="en-US" sz="1150" dirty="0"/>
          </a:p>
        </p:txBody>
      </p:sp>
      <p:sp>
        <p:nvSpPr>
          <p:cNvPr id="15" name="Text 13"/>
          <p:cNvSpPr txBox="1"/>
          <p:nvPr/>
        </p:nvSpPr>
        <p:spPr>
          <a:xfrm>
            <a:off x="548640" y="4434840"/>
            <a:ext cx="640080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WHAT IS REPORTED</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报告内容</a:t>
            </a:r>
            <a:endParaRPr lang="en-US" sz="1000" dirty="0"/>
          </a:p>
        </p:txBody>
      </p:sp>
      <p:sp>
        <p:nvSpPr>
          <p:cNvPr id="16" name="Shape 14"/>
          <p:cNvSpPr/>
          <p:nvPr/>
        </p:nvSpPr>
        <p:spPr>
          <a:xfrm>
            <a:off x="548640" y="4754880"/>
            <a:ext cx="2651760" cy="868680"/>
          </a:xfrm>
          <a:prstGeom prst="roundRect">
            <a:avLst>
              <a:gd name="adj" fmla="val 7368"/>
            </a:avLst>
          </a:prstGeom>
          <a:solidFill>
            <a:srgbClr val="F4F6F9"/>
          </a:solidFill>
          <a:ln w="12700">
            <a:solidFill>
              <a:srgbClr val="DCE3EB"/>
            </a:solidFill>
            <a:prstDash val="solid"/>
          </a:ln>
        </p:spPr>
      </p:sp>
      <p:sp>
        <p:nvSpPr>
          <p:cNvPr id="17" name="Text 15"/>
          <p:cNvSpPr txBox="1"/>
          <p:nvPr/>
        </p:nvSpPr>
        <p:spPr>
          <a:xfrm>
            <a:off x="640080" y="4754880"/>
            <a:ext cx="2468880" cy="86868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Floor</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确定下限</a:t>
            </a:r>
            <a:endParaRPr lang="en-US" sz="1250" dirty="0"/>
          </a:p>
          <a:p>
            <a:pPr algn="l" indent="0" marL="0">
              <a:buNone/>
            </a:pPr>
            <a:r>
              <a:rPr lang="en-US" sz="1000" dirty="0">
                <a:solidFill>
                  <a:srgbClr val="56667D"/>
                </a:solidFill>
                <a:latin typeface="Calibri" pitchFamily="34" charset="0"/>
                <a:ea typeface="Calibri" pitchFamily="34" charset="-122"/>
                <a:cs typeface="Calibri" pitchFamily="34" charset="-120"/>
              </a:rPr>
              <a:t>Σ badge lower bounds</a:t>
            </a:r>
            <a:endParaRPr lang="en-US" sz="1250" dirty="0"/>
          </a:p>
        </p:txBody>
      </p:sp>
      <p:sp>
        <p:nvSpPr>
          <p:cNvPr id="18" name="Shape 16"/>
          <p:cNvSpPr/>
          <p:nvPr/>
        </p:nvSpPr>
        <p:spPr>
          <a:xfrm>
            <a:off x="3364992" y="4754880"/>
            <a:ext cx="2651760" cy="868680"/>
          </a:xfrm>
          <a:prstGeom prst="roundRect">
            <a:avLst>
              <a:gd name="adj" fmla="val 7368"/>
            </a:avLst>
          </a:prstGeom>
          <a:solidFill>
            <a:srgbClr val="E3F2EF"/>
          </a:solidFill>
          <a:ln w="12700">
            <a:solidFill>
              <a:srgbClr val="0E7C6B"/>
            </a:solidFill>
            <a:prstDash val="solid"/>
          </a:ln>
        </p:spPr>
      </p:sp>
      <p:sp>
        <p:nvSpPr>
          <p:cNvPr id="19" name="Text 17"/>
          <p:cNvSpPr txBox="1"/>
          <p:nvPr/>
        </p:nvSpPr>
        <p:spPr>
          <a:xfrm>
            <a:off x="3456432" y="4754880"/>
            <a:ext cx="2468880" cy="86868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Estimate</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估计值</a:t>
            </a:r>
            <a:endParaRPr lang="en-US" sz="1250" dirty="0"/>
          </a:p>
          <a:p>
            <a:pPr algn="l" indent="0" marL="0">
              <a:buNone/>
            </a:pPr>
            <a:r>
              <a:rPr lang="en-US" sz="1000" dirty="0">
                <a:solidFill>
                  <a:srgbClr val="56667D"/>
                </a:solidFill>
                <a:latin typeface="Calibri" pitchFamily="34" charset="0"/>
                <a:ea typeface="Calibri" pitchFamily="34" charset="-122"/>
                <a:cs typeface="Calibri" pitchFamily="34" charset="-120"/>
              </a:rPr>
              <a:t>Σ conditional means</a:t>
            </a:r>
            <a:endParaRPr lang="en-US" sz="1250" dirty="0"/>
          </a:p>
        </p:txBody>
      </p:sp>
      <p:sp>
        <p:nvSpPr>
          <p:cNvPr id="20" name="Shape 18"/>
          <p:cNvSpPr/>
          <p:nvPr/>
        </p:nvSpPr>
        <p:spPr>
          <a:xfrm>
            <a:off x="6181344" y="4754880"/>
            <a:ext cx="2651760" cy="868680"/>
          </a:xfrm>
          <a:prstGeom prst="roundRect">
            <a:avLst>
              <a:gd name="adj" fmla="val 7368"/>
            </a:avLst>
          </a:prstGeom>
          <a:solidFill>
            <a:srgbClr val="F4F6F9"/>
          </a:solidFill>
          <a:ln w="12700">
            <a:solidFill>
              <a:srgbClr val="DCE3EB"/>
            </a:solidFill>
            <a:prstDash val="solid"/>
          </a:ln>
        </p:spPr>
      </p:sp>
      <p:sp>
        <p:nvSpPr>
          <p:cNvPr id="21" name="Text 19"/>
          <p:cNvSpPr txBox="1"/>
          <p:nvPr/>
        </p:nvSpPr>
        <p:spPr>
          <a:xfrm>
            <a:off x="6272784" y="4754880"/>
            <a:ext cx="2468880" cy="86868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95% interval</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95% 区间</a:t>
            </a:r>
            <a:endParaRPr lang="en-US" sz="1250" dirty="0"/>
          </a:p>
          <a:p>
            <a:pPr algn="l" indent="0" marL="0">
              <a:buNone/>
            </a:pPr>
            <a:r>
              <a:rPr lang="en-US" sz="1000" dirty="0">
                <a:solidFill>
                  <a:srgbClr val="56667D"/>
                </a:solidFill>
                <a:latin typeface="Calibri" pitchFamily="34" charset="0"/>
                <a:ea typeface="Calibri" pitchFamily="34" charset="-122"/>
                <a:cs typeface="Calibri" pitchFamily="34" charset="-120"/>
              </a:rPr>
              <a:t>2.5 / 97.5 percentiles of draws</a:t>
            </a:r>
            <a:endParaRPr lang="en-US" sz="1250" dirty="0"/>
          </a:p>
        </p:txBody>
      </p:sp>
      <p:sp>
        <p:nvSpPr>
          <p:cNvPr id="22" name="Shape 20"/>
          <p:cNvSpPr/>
          <p:nvPr/>
        </p:nvSpPr>
        <p:spPr>
          <a:xfrm>
            <a:off x="8997696" y="4754880"/>
            <a:ext cx="2651760" cy="868680"/>
          </a:xfrm>
          <a:prstGeom prst="roundRect">
            <a:avLst>
              <a:gd name="adj" fmla="val 7368"/>
            </a:avLst>
          </a:prstGeom>
          <a:solidFill>
            <a:srgbClr val="F4F6F9"/>
          </a:solidFill>
          <a:ln w="12700">
            <a:solidFill>
              <a:srgbClr val="DCE3EB"/>
            </a:solidFill>
            <a:prstDash val="solid"/>
          </a:ln>
        </p:spPr>
      </p:sp>
      <p:sp>
        <p:nvSpPr>
          <p:cNvPr id="23" name="Text 21"/>
          <p:cNvSpPr txBox="1"/>
          <p:nvPr/>
        </p:nvSpPr>
        <p:spPr>
          <a:xfrm>
            <a:off x="9089136" y="4754880"/>
            <a:ext cx="2468880" cy="868680"/>
          </a:xfrm>
          <a:prstGeom prst="rect">
            <a:avLst/>
          </a:prstGeom>
          <a:noFill/>
          <a:ln/>
        </p:spPr>
        <p:txBody>
          <a:bodyPr wrap="square" lIns="0" tIns="0" rIns="0" bIns="0" rtlCol="0" anchor="ctr"/>
          <a:lstStyle/>
          <a:p>
            <a:pPr algn="l" indent="0" marL="0">
              <a:buNone/>
            </a:pPr>
            <a:r>
              <a:rPr lang="en-US" sz="1250" b="1" dirty="0">
                <a:solidFill>
                  <a:srgbClr val="16243A"/>
                </a:solidFill>
                <a:latin typeface="Calibri" pitchFamily="34" charset="0"/>
                <a:ea typeface="Calibri" pitchFamily="34" charset="-122"/>
                <a:cs typeface="Calibri" pitchFamily="34" charset="-120"/>
              </a:rPr>
              <a:t>Ceiling</a:t>
            </a:r>
            <a:endParaRPr lang="en-US" sz="125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上限</a:t>
            </a:r>
            <a:endParaRPr lang="en-US" sz="1250" dirty="0"/>
          </a:p>
          <a:p>
            <a:pPr algn="l" indent="0" marL="0">
              <a:buNone/>
            </a:pPr>
            <a:r>
              <a:rPr lang="en-US" sz="1000" dirty="0">
                <a:solidFill>
                  <a:srgbClr val="56667D"/>
                </a:solidFill>
                <a:latin typeface="Calibri" pitchFamily="34" charset="0"/>
                <a:ea typeface="Calibri" pitchFamily="34" charset="-122"/>
                <a:cs typeface="Calibri" pitchFamily="34" charset="-120"/>
              </a:rPr>
              <a:t>Σ upper bounds (if all bounded)</a:t>
            </a:r>
            <a:endParaRPr lang="en-US" sz="1250" dirty="0"/>
          </a:p>
        </p:txBody>
      </p:sp>
      <p:sp>
        <p:nvSpPr>
          <p:cNvPr id="24" name="Text 22"/>
          <p:cNvSpPr txBox="1"/>
          <p:nvPr/>
        </p:nvSpPr>
        <p:spPr>
          <a:xfrm>
            <a:off x="548640" y="5806440"/>
            <a:ext cx="11064240" cy="566928"/>
          </a:xfrm>
          <a:prstGeom prst="rect">
            <a:avLst/>
          </a:prstGeom>
          <a:noFill/>
          <a:ln/>
        </p:spPr>
        <p:txBody>
          <a:bodyPr wrap="square" lIns="0" tIns="0" rIns="0" bIns="0" rtlCol="0" anchor="ctr"/>
          <a:lstStyle/>
          <a:p>
            <a:pPr indent="0" marL="0">
              <a:buNone/>
            </a:pPr>
            <a:r>
              <a:rPr lang="en-US" sz="1150" i="1" dirty="0">
                <a:solidFill>
                  <a:srgbClr val="56667D"/>
                </a:solidFill>
                <a:latin typeface="Calibri" pitchFamily="34" charset="0"/>
                <a:ea typeface="Calibri" pitchFamily="34" charset="-122"/>
                <a:cs typeface="Calibri" pitchFamily="34" charset="-120"/>
              </a:rPr>
              <a:t>Shares are computed per draw over all members (segments of the market, brands of a segment), so they sum to exactly 1; P(#1) = share of draws in which a brand ranks first.</a:t>
            </a:r>
            <a:endParaRPr lang="en-US" sz="115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份额在每次抽样中对所有成员归一化（市场内各细分、细分内各品牌），因此严格相加为 1；P(#1) 为品牌排名第一的抽样占比。</a:t>
            </a:r>
            <a:endParaRPr lang="en-US" sz="1150" dirty="0"/>
          </a:p>
        </p:txBody>
      </p:sp>
      <p:sp>
        <p:nvSpPr>
          <p:cNvPr id="25" name="Text 23"/>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DERIVED METRICS</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衍生指标</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Concentration, entry, economics, quality and evidence</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集中度、进入、经济性、质量与证据等级</a:t>
            </a:r>
            <a:endParaRPr lang="en-US" sz="1500" dirty="0"/>
          </a:p>
        </p:txBody>
      </p:sp>
      <p:sp>
        <p:nvSpPr>
          <p:cNvPr id="7" name="Shape 5"/>
          <p:cNvSpPr/>
          <p:nvPr/>
        </p:nvSpPr>
        <p:spPr>
          <a:xfrm>
            <a:off x="548640" y="1691640"/>
            <a:ext cx="3566160" cy="2057400"/>
          </a:xfrm>
          <a:prstGeom prst="roundRect">
            <a:avLst>
              <a:gd name="adj" fmla="val 3556"/>
            </a:avLst>
          </a:prstGeom>
          <a:solidFill>
            <a:srgbClr val="FFFFFF"/>
          </a:solidFill>
          <a:ln w="12700">
            <a:solidFill>
              <a:srgbClr val="DCE3EB"/>
            </a:solidFill>
            <a:prstDash val="solid"/>
          </a:ln>
        </p:spPr>
      </p:sp>
      <p:sp>
        <p:nvSpPr>
          <p:cNvPr id="8" name="Text 6"/>
          <p:cNvSpPr txBox="1"/>
          <p:nvPr/>
        </p:nvSpPr>
        <p:spPr>
          <a:xfrm>
            <a:off x="713232" y="1801368"/>
            <a:ext cx="3291840" cy="365760"/>
          </a:xfrm>
          <a:prstGeom prst="rect">
            <a:avLst/>
          </a:prstGeom>
          <a:noFill/>
          <a:ln/>
        </p:spPr>
        <p:txBody>
          <a:bodyPr wrap="square" lIns="0" tIns="0" rIns="0" bIns="0" rtlCol="0" anchor="ctr"/>
          <a:lstStyle/>
          <a:p>
            <a:pPr indent="0" marL="0">
              <a:buNone/>
            </a:pPr>
            <a:r>
              <a:rPr lang="en-US" sz="1500" b="1" dirty="0">
                <a:solidFill>
                  <a:srgbClr val="0E7C6B"/>
                </a:solidFill>
                <a:latin typeface="Cambria" pitchFamily="34" charset="0"/>
                <a:ea typeface="Cambria" pitchFamily="34" charset="-122"/>
                <a:cs typeface="Cambria" pitchFamily="34" charset="-120"/>
              </a:rPr>
              <a:t>Concentration</a:t>
            </a:r>
            <a:pPr indent="0" marL="0">
              <a:buNone/>
            </a:pPr>
            <a:r>
              <a:rPr lang="en-US" sz="1100" dirty="0">
                <a:solidFill>
                  <a:srgbClr val="6A7890"/>
                </a:solidFill>
                <a:latin typeface="Microsoft YaHei" pitchFamily="34" charset="0"/>
                <a:ea typeface="Microsoft YaHei" pitchFamily="34" charset="-122"/>
                <a:cs typeface="Microsoft YaHei" pitchFamily="34" charset="-120"/>
              </a:rPr>
              <a:t>  集中度</a:t>
            </a:r>
            <a:endParaRPr lang="en-US" sz="1500" dirty="0"/>
          </a:p>
        </p:txBody>
      </p:sp>
      <p:sp>
        <p:nvSpPr>
          <p:cNvPr id="9" name="Text 7"/>
          <p:cNvSpPr txBox="1"/>
          <p:nvPr/>
        </p:nvSpPr>
        <p:spPr>
          <a:xfrm>
            <a:off x="713232" y="2240280"/>
            <a:ext cx="3291840" cy="1417320"/>
          </a:xfrm>
          <a:prstGeom prst="rect">
            <a:avLst/>
          </a:prstGeom>
          <a:noFill/>
          <a:ln/>
        </p:spPr>
        <p:txBody>
          <a:bodyPr wrap="square" lIns="0" tIns="0" rIns="0" bIns="0" rtlCol="0" anchor="t"/>
          <a:lstStyle/>
          <a:p>
            <a:pPr indent="0" marL="0">
              <a:buNone/>
            </a:pPr>
            <a:r>
              <a:rPr lang="en-US" sz="1000" dirty="0">
                <a:solidFill>
                  <a:srgbClr val="16243A"/>
                </a:solidFill>
                <a:latin typeface="Courier New" pitchFamily="34" charset="0"/>
                <a:ea typeface="Courier New" pitchFamily="34" charset="-122"/>
                <a:cs typeface="Courier New" pitchFamily="34" charset="-120"/>
              </a:rPr>
              <a:t>HHI = Σ(share×100)² per draw → mean + interval</a:t>
            </a:r>
            <a:endParaRPr lang="en-US" sz="1000" dirty="0"/>
          </a:p>
          <a:p>
            <a:pPr indent="0" marL="0">
              <a:buNone/>
            </a:pPr>
            <a:r>
              <a:rPr lang="en-US" sz="1000" dirty="0">
                <a:solidFill>
                  <a:srgbClr val="16243A"/>
                </a:solidFill>
                <a:latin typeface="Courier New" pitchFamily="34" charset="0"/>
                <a:ea typeface="Courier New" pitchFamily="34" charset="-122"/>
                <a:cs typeface="Courier New" pitchFamily="34" charset="-120"/>
              </a:rPr>
              <a:t>effective competitors = 10,000 / HHI</a:t>
            </a:r>
            <a:endParaRPr lang="en-US" sz="1000" dirty="0"/>
          </a:p>
        </p:txBody>
      </p:sp>
      <p:sp>
        <p:nvSpPr>
          <p:cNvPr id="10" name="Shape 8"/>
          <p:cNvSpPr/>
          <p:nvPr/>
        </p:nvSpPr>
        <p:spPr>
          <a:xfrm>
            <a:off x="4297680" y="1691640"/>
            <a:ext cx="3566160" cy="2057400"/>
          </a:xfrm>
          <a:prstGeom prst="roundRect">
            <a:avLst>
              <a:gd name="adj" fmla="val 3556"/>
            </a:avLst>
          </a:prstGeom>
          <a:solidFill>
            <a:srgbClr val="FFFFFF"/>
          </a:solidFill>
          <a:ln w="12700">
            <a:solidFill>
              <a:srgbClr val="DCE3EB"/>
            </a:solidFill>
            <a:prstDash val="solid"/>
          </a:ln>
        </p:spPr>
      </p:sp>
      <p:sp>
        <p:nvSpPr>
          <p:cNvPr id="11" name="Text 9"/>
          <p:cNvSpPr txBox="1"/>
          <p:nvPr/>
        </p:nvSpPr>
        <p:spPr>
          <a:xfrm>
            <a:off x="4462272" y="1801368"/>
            <a:ext cx="3291840" cy="365760"/>
          </a:xfrm>
          <a:prstGeom prst="rect">
            <a:avLst/>
          </a:prstGeom>
          <a:noFill/>
          <a:ln/>
        </p:spPr>
        <p:txBody>
          <a:bodyPr wrap="square" lIns="0" tIns="0" rIns="0" bIns="0" rtlCol="0" anchor="ctr"/>
          <a:lstStyle/>
          <a:p>
            <a:pPr indent="0" marL="0">
              <a:buNone/>
            </a:pPr>
            <a:r>
              <a:rPr lang="en-US" sz="1500" b="1" dirty="0">
                <a:solidFill>
                  <a:srgbClr val="0E7C6B"/>
                </a:solidFill>
                <a:latin typeface="Cambria" pitchFamily="34" charset="0"/>
                <a:ea typeface="Cambria" pitchFamily="34" charset="-122"/>
                <a:cs typeface="Cambria" pitchFamily="34" charset="-120"/>
              </a:rPr>
              <a:t>Entry</a:t>
            </a:r>
            <a:pPr indent="0" marL="0">
              <a:buNone/>
            </a:pPr>
            <a:r>
              <a:rPr lang="en-US" sz="1100" dirty="0">
                <a:solidFill>
                  <a:srgbClr val="6A7890"/>
                </a:solidFill>
                <a:latin typeface="Microsoft YaHei" pitchFamily="34" charset="0"/>
                <a:ea typeface="Microsoft YaHei" pitchFamily="34" charset="-122"/>
                <a:cs typeface="Microsoft YaHei" pitchFamily="34" charset="-120"/>
              </a:rPr>
              <a:t>  进入</a:t>
            </a:r>
            <a:endParaRPr lang="en-US" sz="1500" dirty="0"/>
          </a:p>
        </p:txBody>
      </p:sp>
      <p:sp>
        <p:nvSpPr>
          <p:cNvPr id="12" name="Text 10"/>
          <p:cNvSpPr txBox="1"/>
          <p:nvPr/>
        </p:nvSpPr>
        <p:spPr>
          <a:xfrm>
            <a:off x="4462272" y="2240280"/>
            <a:ext cx="3291840" cy="1417320"/>
          </a:xfrm>
          <a:prstGeom prst="rect">
            <a:avLst/>
          </a:prstGeom>
          <a:noFill/>
          <a:ln/>
        </p:spPr>
        <p:txBody>
          <a:bodyPr wrap="square" lIns="0" tIns="0" rIns="0" bIns="0" rtlCol="0" anchor="t"/>
          <a:lstStyle/>
          <a:p>
            <a:pPr indent="0" marL="0">
              <a:buNone/>
            </a:pPr>
            <a:r>
              <a:rPr lang="en-US" sz="1000" dirty="0">
                <a:solidFill>
                  <a:srgbClr val="16243A"/>
                </a:solidFill>
                <a:latin typeface="Courier New" pitchFamily="34" charset="0"/>
                <a:ea typeface="Courier New" pitchFamily="34" charset="-122"/>
                <a:cs typeface="Courier New" pitchFamily="34" charset="-120"/>
              </a:rPr>
              <a:t>entrant = launched ≤ 365 days before snapshot</a:t>
            </a:r>
            <a:endParaRPr lang="en-US" sz="1000" dirty="0"/>
          </a:p>
          <a:p>
            <a:pPr indent="0" marL="0">
              <a:buNone/>
            </a:pPr>
            <a:r>
              <a:rPr lang="en-US" sz="1000" dirty="0">
                <a:solidFill>
                  <a:srgbClr val="16243A"/>
                </a:solidFill>
                <a:latin typeface="Courier New" pitchFamily="34" charset="0"/>
                <a:ea typeface="Courier New" pitchFamily="34" charset="-122"/>
                <a:cs typeface="Courier New" pitchFamily="34" charset="-120"/>
              </a:rPr>
              <a:t>success = reaches median units of established</a:t>
            </a:r>
            <a:endParaRPr lang="en-US" sz="1000" dirty="0"/>
          </a:p>
          <a:p>
            <a:pPr indent="0" marL="0">
              <a:buNone/>
            </a:pPr>
            <a:r>
              <a:rPr lang="en-US" sz="1000" dirty="0">
                <a:solidFill>
                  <a:srgbClr val="16243A"/>
                </a:solidFill>
                <a:latin typeface="Courier New" pitchFamily="34" charset="0"/>
                <a:ea typeface="Courier New" pitchFamily="34" charset="-122"/>
                <a:cs typeface="Courier New" pitchFamily="34" charset="-120"/>
              </a:rPr>
              <a:t>segment rate shrunk: (s + 5·market) / (n + 5)</a:t>
            </a:r>
            <a:endParaRPr lang="en-US" sz="1000" dirty="0"/>
          </a:p>
        </p:txBody>
      </p:sp>
      <p:sp>
        <p:nvSpPr>
          <p:cNvPr id="13" name="Shape 11"/>
          <p:cNvSpPr/>
          <p:nvPr/>
        </p:nvSpPr>
        <p:spPr>
          <a:xfrm>
            <a:off x="8046720" y="1691640"/>
            <a:ext cx="3566160" cy="2057400"/>
          </a:xfrm>
          <a:prstGeom prst="roundRect">
            <a:avLst>
              <a:gd name="adj" fmla="val 3556"/>
            </a:avLst>
          </a:prstGeom>
          <a:solidFill>
            <a:srgbClr val="FFFFFF"/>
          </a:solidFill>
          <a:ln w="12700">
            <a:solidFill>
              <a:srgbClr val="DCE3EB"/>
            </a:solidFill>
            <a:prstDash val="solid"/>
          </a:ln>
        </p:spPr>
      </p:sp>
      <p:sp>
        <p:nvSpPr>
          <p:cNvPr id="14" name="Text 12"/>
          <p:cNvSpPr txBox="1"/>
          <p:nvPr/>
        </p:nvSpPr>
        <p:spPr>
          <a:xfrm>
            <a:off x="8211312" y="1801368"/>
            <a:ext cx="3291840" cy="365760"/>
          </a:xfrm>
          <a:prstGeom prst="rect">
            <a:avLst/>
          </a:prstGeom>
          <a:noFill/>
          <a:ln/>
        </p:spPr>
        <p:txBody>
          <a:bodyPr wrap="square" lIns="0" tIns="0" rIns="0" bIns="0" rtlCol="0" anchor="ctr"/>
          <a:lstStyle/>
          <a:p>
            <a:pPr indent="0" marL="0">
              <a:buNone/>
            </a:pPr>
            <a:r>
              <a:rPr lang="en-US" sz="1500" b="1" dirty="0">
                <a:solidFill>
                  <a:srgbClr val="0E7C6B"/>
                </a:solidFill>
                <a:latin typeface="Cambria" pitchFamily="34" charset="0"/>
                <a:ea typeface="Cambria" pitchFamily="34" charset="-122"/>
                <a:cs typeface="Cambria" pitchFamily="34" charset="-120"/>
              </a:rPr>
              <a:t>Unit economics</a:t>
            </a:r>
            <a:pPr indent="0" marL="0">
              <a:buNone/>
            </a:pPr>
            <a:r>
              <a:rPr lang="en-US" sz="1100" dirty="0">
                <a:solidFill>
                  <a:srgbClr val="6A7890"/>
                </a:solidFill>
                <a:latin typeface="Microsoft YaHei" pitchFamily="34" charset="0"/>
                <a:ea typeface="Microsoft YaHei" pitchFamily="34" charset="-122"/>
                <a:cs typeface="Microsoft YaHei" pitchFamily="34" charset="-120"/>
              </a:rPr>
              <a:t>  单位经济</a:t>
            </a:r>
            <a:endParaRPr lang="en-US" sz="1500" dirty="0"/>
          </a:p>
        </p:txBody>
      </p:sp>
      <p:sp>
        <p:nvSpPr>
          <p:cNvPr id="15" name="Text 13"/>
          <p:cNvSpPr txBox="1"/>
          <p:nvPr/>
        </p:nvSpPr>
        <p:spPr>
          <a:xfrm>
            <a:off x="8211312" y="2240280"/>
            <a:ext cx="3291840" cy="1417320"/>
          </a:xfrm>
          <a:prstGeom prst="rect">
            <a:avLst/>
          </a:prstGeom>
          <a:noFill/>
          <a:ln/>
        </p:spPr>
        <p:txBody>
          <a:bodyPr wrap="square" lIns="0" tIns="0" rIns="0" bIns="0" rtlCol="0" anchor="t"/>
          <a:lstStyle/>
          <a:p>
            <a:pPr indent="0" marL="0">
              <a:buNone/>
            </a:pPr>
            <a:r>
              <a:rPr lang="en-US" sz="1000" dirty="0">
                <a:solidFill>
                  <a:srgbClr val="16243A"/>
                </a:solidFill>
                <a:latin typeface="Courier New" pitchFamily="34" charset="0"/>
                <a:ea typeface="Courier New" pitchFamily="34" charset="-122"/>
                <a:cs typeface="Courier New" pitchFamily="34" charset="-120"/>
              </a:rPr>
              <a:t>margin = price·(1 − 15%) − fulfilment − cost</a:t>
            </a:r>
            <a:endParaRPr lang="en-US" sz="1000" dirty="0"/>
          </a:p>
          <a:p>
            <a:pPr indent="0" marL="0">
              <a:buNone/>
            </a:pPr>
            <a:r>
              <a:rPr lang="en-US" sz="1000" dirty="0">
                <a:solidFill>
                  <a:srgbClr val="16243A"/>
                </a:solidFill>
                <a:latin typeface="Courier New" pitchFamily="34" charset="0"/>
                <a:ea typeface="Courier New" pitchFamily="34" charset="-122"/>
                <a:cs typeface="Courier New" pitchFamily="34" charset="-120"/>
              </a:rPr>
              <a:t>cost ≈ constant share of price (CV &lt; 0.06, n ≥ 20)</a:t>
            </a:r>
            <a:endParaRPr lang="en-US" sz="1000" dirty="0"/>
          </a:p>
          <a:p>
            <a:pPr indent="0" marL="0">
              <a:buNone/>
            </a:pPr>
            <a:r>
              <a:rPr lang="en-US" sz="1000" dirty="0">
                <a:solidFill>
                  <a:srgbClr val="16243A"/>
                </a:solidFill>
                <a:latin typeface="Courier New" pitchFamily="34" charset="0"/>
                <a:ea typeface="Courier New" pitchFamily="34" charset="-122"/>
                <a:cs typeface="Courier New" pitchFamily="34" charset="-120"/>
              </a:rPr>
              <a:t>→ derived from price → never used as a cost</a:t>
            </a:r>
            <a:endParaRPr lang="en-US" sz="1000" dirty="0"/>
          </a:p>
        </p:txBody>
      </p:sp>
      <p:sp>
        <p:nvSpPr>
          <p:cNvPr id="16" name="Shape 14"/>
          <p:cNvSpPr/>
          <p:nvPr/>
        </p:nvSpPr>
        <p:spPr>
          <a:xfrm>
            <a:off x="548640" y="3931920"/>
            <a:ext cx="3566160" cy="2057400"/>
          </a:xfrm>
          <a:prstGeom prst="roundRect">
            <a:avLst>
              <a:gd name="adj" fmla="val 3556"/>
            </a:avLst>
          </a:prstGeom>
          <a:solidFill>
            <a:srgbClr val="FFFFFF"/>
          </a:solidFill>
          <a:ln w="12700">
            <a:solidFill>
              <a:srgbClr val="DCE3EB"/>
            </a:solidFill>
            <a:prstDash val="solid"/>
          </a:ln>
        </p:spPr>
      </p:sp>
      <p:sp>
        <p:nvSpPr>
          <p:cNvPr id="17" name="Text 15"/>
          <p:cNvSpPr txBox="1"/>
          <p:nvPr/>
        </p:nvSpPr>
        <p:spPr>
          <a:xfrm>
            <a:off x="713232" y="4041648"/>
            <a:ext cx="3291840" cy="365760"/>
          </a:xfrm>
          <a:prstGeom prst="rect">
            <a:avLst/>
          </a:prstGeom>
          <a:noFill/>
          <a:ln/>
        </p:spPr>
        <p:txBody>
          <a:bodyPr wrap="square" lIns="0" tIns="0" rIns="0" bIns="0" rtlCol="0" anchor="ctr"/>
          <a:lstStyle/>
          <a:p>
            <a:pPr indent="0" marL="0">
              <a:buNone/>
            </a:pPr>
            <a:r>
              <a:rPr lang="en-US" sz="1500" b="1" dirty="0">
                <a:solidFill>
                  <a:srgbClr val="0E7C6B"/>
                </a:solidFill>
                <a:latin typeface="Cambria" pitchFamily="34" charset="0"/>
                <a:ea typeface="Cambria" pitchFamily="34" charset="-122"/>
                <a:cs typeface="Cambria" pitchFamily="34" charset="-120"/>
              </a:rPr>
              <a:t>Quality gap</a:t>
            </a:r>
            <a:pPr indent="0" marL="0">
              <a:buNone/>
            </a:pPr>
            <a:r>
              <a:rPr lang="en-US" sz="1100" dirty="0">
                <a:solidFill>
                  <a:srgbClr val="6A7890"/>
                </a:solidFill>
                <a:latin typeface="Microsoft YaHei" pitchFamily="34" charset="0"/>
                <a:ea typeface="Microsoft YaHei" pitchFamily="34" charset="-122"/>
                <a:cs typeface="Microsoft YaHei" pitchFamily="34" charset="-120"/>
              </a:rPr>
              <a:t>  质量缺口</a:t>
            </a:r>
            <a:endParaRPr lang="en-US" sz="1500" dirty="0"/>
          </a:p>
        </p:txBody>
      </p:sp>
      <p:sp>
        <p:nvSpPr>
          <p:cNvPr id="18" name="Text 16"/>
          <p:cNvSpPr txBox="1"/>
          <p:nvPr/>
        </p:nvSpPr>
        <p:spPr>
          <a:xfrm>
            <a:off x="713232" y="4480560"/>
            <a:ext cx="3291840" cy="1417320"/>
          </a:xfrm>
          <a:prstGeom prst="rect">
            <a:avLst/>
          </a:prstGeom>
          <a:noFill/>
          <a:ln/>
        </p:spPr>
        <p:txBody>
          <a:bodyPr wrap="square" lIns="0" tIns="0" rIns="0" bIns="0" rtlCol="0" anchor="t"/>
          <a:lstStyle/>
          <a:p>
            <a:pPr indent="0" marL="0">
              <a:buNone/>
            </a:pPr>
            <a:r>
              <a:rPr lang="en-US" sz="1000" dirty="0">
                <a:solidFill>
                  <a:srgbClr val="16243A"/>
                </a:solidFill>
                <a:latin typeface="Courier New" pitchFamily="34" charset="0"/>
                <a:ea typeface="Courier New" pitchFamily="34" charset="-122"/>
                <a:cs typeface="Courier New" pitchFamily="34" charset="-120"/>
              </a:rPr>
              <a:t>share of demand on listings rated &lt; 4.0</a:t>
            </a:r>
            <a:endParaRPr lang="en-US" sz="1000" dirty="0"/>
          </a:p>
          <a:p>
            <a:pPr indent="0" marL="0">
              <a:buNone/>
            </a:pPr>
            <a:r>
              <a:rPr lang="en-US" sz="1000" dirty="0">
                <a:solidFill>
                  <a:srgbClr val="16243A"/>
                </a:solidFill>
                <a:latin typeface="Courier New" pitchFamily="34" charset="0"/>
                <a:ea typeface="Courier New" pitchFamily="34" charset="-122"/>
                <a:cs typeface="Courier New" pitchFamily="34" charset="-120"/>
              </a:rPr>
              <a:t>rating bar = median rating of top-10% listings</a:t>
            </a:r>
            <a:endParaRPr lang="en-US" sz="1000" dirty="0"/>
          </a:p>
          <a:p>
            <a:pPr indent="0" marL="0">
              <a:buNone/>
            </a:pPr>
            <a:r>
              <a:rPr lang="en-US" sz="1000" dirty="0">
                <a:solidFill>
                  <a:srgbClr val="16243A"/>
                </a:solidFill>
                <a:latin typeface="Courier New" pitchFamily="34" charset="0"/>
                <a:ea typeface="Courier New" pitchFamily="34" charset="-122"/>
                <a:cs typeface="Courier New" pitchFamily="34" charset="-120"/>
              </a:rPr>
              <a:t>by estimated revenue</a:t>
            </a:r>
            <a:endParaRPr lang="en-US" sz="1000" dirty="0"/>
          </a:p>
        </p:txBody>
      </p:sp>
      <p:sp>
        <p:nvSpPr>
          <p:cNvPr id="19" name="Shape 17"/>
          <p:cNvSpPr/>
          <p:nvPr/>
        </p:nvSpPr>
        <p:spPr>
          <a:xfrm>
            <a:off x="4297680" y="3931920"/>
            <a:ext cx="3566160" cy="2057400"/>
          </a:xfrm>
          <a:prstGeom prst="roundRect">
            <a:avLst>
              <a:gd name="adj" fmla="val 3556"/>
            </a:avLst>
          </a:prstGeom>
          <a:solidFill>
            <a:srgbClr val="FFFFFF"/>
          </a:solidFill>
          <a:ln w="12700">
            <a:solidFill>
              <a:srgbClr val="DCE3EB"/>
            </a:solidFill>
            <a:prstDash val="solid"/>
          </a:ln>
        </p:spPr>
      </p:sp>
      <p:sp>
        <p:nvSpPr>
          <p:cNvPr id="20" name="Text 18"/>
          <p:cNvSpPr txBox="1"/>
          <p:nvPr/>
        </p:nvSpPr>
        <p:spPr>
          <a:xfrm>
            <a:off x="4462272" y="4041648"/>
            <a:ext cx="3291840" cy="365760"/>
          </a:xfrm>
          <a:prstGeom prst="rect">
            <a:avLst/>
          </a:prstGeom>
          <a:noFill/>
          <a:ln/>
        </p:spPr>
        <p:txBody>
          <a:bodyPr wrap="square" lIns="0" tIns="0" rIns="0" bIns="0" rtlCol="0" anchor="ctr"/>
          <a:lstStyle/>
          <a:p>
            <a:pPr indent="0" marL="0">
              <a:buNone/>
            </a:pPr>
            <a:r>
              <a:rPr lang="en-US" sz="1500" b="1" dirty="0">
                <a:solidFill>
                  <a:srgbClr val="0E7C6B"/>
                </a:solidFill>
                <a:latin typeface="Cambria" pitchFamily="34" charset="0"/>
                <a:ea typeface="Cambria" pitchFamily="34" charset="-122"/>
                <a:cs typeface="Cambria" pitchFamily="34" charset="-120"/>
              </a:rPr>
              <a:t>Evidence grade</a:t>
            </a:r>
            <a:pPr indent="0" marL="0">
              <a:buNone/>
            </a:pPr>
            <a:r>
              <a:rPr lang="en-US" sz="1100" dirty="0">
                <a:solidFill>
                  <a:srgbClr val="6A7890"/>
                </a:solidFill>
                <a:latin typeface="Microsoft YaHei" pitchFamily="34" charset="0"/>
                <a:ea typeface="Microsoft YaHei" pitchFamily="34" charset="-122"/>
                <a:cs typeface="Microsoft YaHei" pitchFamily="34" charset="-120"/>
              </a:rPr>
              <a:t>  证据等级</a:t>
            </a:r>
            <a:endParaRPr lang="en-US" sz="1500" dirty="0"/>
          </a:p>
        </p:txBody>
      </p:sp>
      <p:sp>
        <p:nvSpPr>
          <p:cNvPr id="21" name="Text 19"/>
          <p:cNvSpPr txBox="1"/>
          <p:nvPr/>
        </p:nvSpPr>
        <p:spPr>
          <a:xfrm>
            <a:off x="4462272" y="4480560"/>
            <a:ext cx="3291840" cy="1417320"/>
          </a:xfrm>
          <a:prstGeom prst="rect">
            <a:avLst/>
          </a:prstGeom>
          <a:noFill/>
          <a:ln/>
        </p:spPr>
        <p:txBody>
          <a:bodyPr wrap="square" lIns="0" tIns="0" rIns="0" bIns="0" rtlCol="0" anchor="t"/>
          <a:lstStyle/>
          <a:p>
            <a:pPr indent="0" marL="0">
              <a:buNone/>
            </a:pPr>
            <a:r>
              <a:rPr lang="en-US" sz="1000" dirty="0">
                <a:solidFill>
                  <a:srgbClr val="16243A"/>
                </a:solidFill>
                <a:latin typeface="Courier New" pitchFamily="34" charset="0"/>
                <a:ea typeface="Courier New" pitchFamily="34" charset="-122"/>
                <a:cs typeface="Courier New" pitchFamily="34" charset="-120"/>
              </a:rPr>
              <a:t>A ≥ 50 listings, ≥ 25% badged, AUC ≥ 0.75</a:t>
            </a:r>
            <a:endParaRPr lang="en-US" sz="1000" dirty="0"/>
          </a:p>
          <a:p>
            <a:pPr indent="0" marL="0">
              <a:buNone/>
            </a:pPr>
            <a:r>
              <a:rPr lang="en-US" sz="1000" dirty="0">
                <a:solidFill>
                  <a:srgbClr val="16243A"/>
                </a:solidFill>
                <a:latin typeface="Courier New" pitchFamily="34" charset="0"/>
                <a:ea typeface="Courier New" pitchFamily="34" charset="-122"/>
                <a:cs typeface="Courier New" pitchFamily="34" charset="-120"/>
              </a:rPr>
              <a:t>B ≥ 20, ≥ 10%, AUC ≥ 0.65</a:t>
            </a:r>
            <a:endParaRPr lang="en-US" sz="1000" dirty="0"/>
          </a:p>
          <a:p>
            <a:pPr indent="0" marL="0">
              <a:buNone/>
            </a:pPr>
            <a:r>
              <a:rPr lang="en-US" sz="1000" dirty="0">
                <a:solidFill>
                  <a:srgbClr val="16243A"/>
                </a:solidFill>
                <a:latin typeface="Courier New" pitchFamily="34" charset="0"/>
                <a:ea typeface="Courier New" pitchFamily="34" charset="-122"/>
                <a:cs typeface="Courier New" pitchFamily="34" charset="-120"/>
              </a:rPr>
              <a:t>C ≥ 10, ≥ 5% badged · else D</a:t>
            </a:r>
            <a:endParaRPr lang="en-US" sz="1000" dirty="0"/>
          </a:p>
        </p:txBody>
      </p:sp>
      <p:sp>
        <p:nvSpPr>
          <p:cNvPr id="22" name="Shape 20"/>
          <p:cNvSpPr/>
          <p:nvPr/>
        </p:nvSpPr>
        <p:spPr>
          <a:xfrm>
            <a:off x="8046720" y="3931920"/>
            <a:ext cx="3566160" cy="2057400"/>
          </a:xfrm>
          <a:prstGeom prst="roundRect">
            <a:avLst>
              <a:gd name="adj" fmla="val 3556"/>
            </a:avLst>
          </a:prstGeom>
          <a:solidFill>
            <a:srgbClr val="FFFFFF"/>
          </a:solidFill>
          <a:ln w="12700">
            <a:solidFill>
              <a:srgbClr val="DCE3EB"/>
            </a:solidFill>
            <a:prstDash val="solid"/>
          </a:ln>
        </p:spPr>
      </p:sp>
      <p:sp>
        <p:nvSpPr>
          <p:cNvPr id="23" name="Text 21"/>
          <p:cNvSpPr txBox="1"/>
          <p:nvPr/>
        </p:nvSpPr>
        <p:spPr>
          <a:xfrm>
            <a:off x="8211312" y="4041648"/>
            <a:ext cx="3291840" cy="365760"/>
          </a:xfrm>
          <a:prstGeom prst="rect">
            <a:avLst/>
          </a:prstGeom>
          <a:noFill/>
          <a:ln/>
        </p:spPr>
        <p:txBody>
          <a:bodyPr wrap="square" lIns="0" tIns="0" rIns="0" bIns="0" rtlCol="0" anchor="ctr"/>
          <a:lstStyle/>
          <a:p>
            <a:pPr indent="0" marL="0">
              <a:buNone/>
            </a:pPr>
            <a:r>
              <a:rPr lang="en-US" sz="1500" b="1" dirty="0">
                <a:solidFill>
                  <a:srgbClr val="0E7C6B"/>
                </a:solidFill>
                <a:latin typeface="Cambria" pitchFamily="34" charset="0"/>
                <a:ea typeface="Cambria" pitchFamily="34" charset="-122"/>
                <a:cs typeface="Cambria" pitchFamily="34" charset="-120"/>
              </a:rPr>
              <a:t>Explain payload</a:t>
            </a:r>
            <a:pPr indent="0" marL="0">
              <a:buNone/>
            </a:pPr>
            <a:r>
              <a:rPr lang="en-US" sz="1100" dirty="0">
                <a:solidFill>
                  <a:srgbClr val="6A7890"/>
                </a:solidFill>
                <a:latin typeface="Microsoft YaHei" pitchFamily="34" charset="0"/>
                <a:ea typeface="Microsoft YaHei" pitchFamily="34" charset="-122"/>
                <a:cs typeface="Microsoft YaHei" pitchFamily="34" charset="-120"/>
              </a:rPr>
              <a:t>  解释数据</a:t>
            </a:r>
            <a:endParaRPr lang="en-US" sz="1500" dirty="0"/>
          </a:p>
        </p:txBody>
      </p:sp>
      <p:sp>
        <p:nvSpPr>
          <p:cNvPr id="24" name="Text 22"/>
          <p:cNvSpPr txBox="1"/>
          <p:nvPr/>
        </p:nvSpPr>
        <p:spPr>
          <a:xfrm>
            <a:off x="8211312" y="4480560"/>
            <a:ext cx="3291840" cy="1417320"/>
          </a:xfrm>
          <a:prstGeom prst="rect">
            <a:avLst/>
          </a:prstGeom>
          <a:noFill/>
          <a:ln/>
        </p:spPr>
        <p:txBody>
          <a:bodyPr wrap="square" lIns="0" tIns="0" rIns="0" bIns="0" rtlCol="0" anchor="t"/>
          <a:lstStyle/>
          <a:p>
            <a:pPr indent="0" marL="0">
              <a:buNone/>
            </a:pPr>
            <a:r>
              <a:rPr lang="en-US" sz="1000" dirty="0">
                <a:solidFill>
                  <a:srgbClr val="16243A"/>
                </a:solidFill>
                <a:latin typeface="Courier New" pitchFamily="34" charset="0"/>
                <a:ea typeface="Courier New" pitchFamily="34" charset="-122"/>
                <a:cs typeface="Courier New" pitchFamily="34" charset="-120"/>
              </a:rPr>
              <a:t>every metric row: value, low, high, n, unit,</a:t>
            </a:r>
            <a:endParaRPr lang="en-US" sz="1000" dirty="0"/>
          </a:p>
          <a:p>
            <a:pPr indent="0" marL="0">
              <a:buNone/>
            </a:pPr>
            <a:r>
              <a:rPr lang="en-US" sz="1000" dirty="0">
                <a:solidFill>
                  <a:srgbClr val="16243A"/>
                </a:solidFill>
                <a:latin typeface="Courier New" pitchFamily="34" charset="0"/>
                <a:ea typeface="Courier New" pitchFamily="34" charset="-122"/>
                <a:cs typeface="Courier New" pitchFamily="34" charset="-120"/>
              </a:rPr>
              <a:t>formula id, basis, caveat → the ⓘ in the UI</a:t>
            </a:r>
            <a:endParaRPr lang="en-US" sz="1000" dirty="0"/>
          </a:p>
        </p:txBody>
      </p:sp>
      <p:sp>
        <p:nvSpPr>
          <p:cNvPr id="25" name="Text 23"/>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OPPORTUNITY INDEX</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机会指数</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Weighted geometric mean on absolute scales</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绝对刻度、加权几何平均、覆盖率可见</a:t>
            </a:r>
            <a:endParaRPr lang="en-US" sz="1500" dirty="0"/>
          </a:p>
        </p:txBody>
      </p:sp>
      <p:sp>
        <p:nvSpPr>
          <p:cNvPr id="7" name="Text 5"/>
          <p:cNvSpPr txBox="1"/>
          <p:nvPr/>
        </p:nvSpPr>
        <p:spPr>
          <a:xfrm>
            <a:off x="548640" y="1691640"/>
            <a:ext cx="11109960" cy="1234440"/>
          </a:xfrm>
          <a:prstGeom prst="rect">
            <a:avLst/>
          </a:prstGeom>
          <a:solidFill>
            <a:srgbClr val="F4F6F9"/>
          </a:solidFill>
          <a:ln w="9525">
            <a:solidFill>
              <a:srgbClr val="DCE3EB"/>
            </a:solidFill>
          </a:ln>
        </p:spPr>
        <p:txBody>
          <a:bodyPr wrap="square" lIns="101600" tIns="101600" rIns="101600" bIns="101600" rtlCol="0" anchor="t"/>
          <a:lstStyle/>
          <a:p>
            <a:pPr indent="0" marL="0">
              <a:buNone/>
            </a:pPr>
            <a:r>
              <a:rPr lang="en-US" sz="1150" dirty="0">
                <a:solidFill>
                  <a:srgbClr val="16243A"/>
                </a:solidFill>
                <a:latin typeface="Courier New" pitchFamily="34" charset="0"/>
                <a:ea typeface="Courier New" pitchFamily="34" charset="-122"/>
                <a:cs typeface="Courier New" pitchFamily="34" charset="-120"/>
              </a:rPr>
              <a:t>t = clip((m − x0) / (x1 − x0), 0, 1)          # per component, absolute scale</a:t>
            </a: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t = y0 + t·(y1 − y0)                            # quality gap only: upside, neutral 0.5</a:t>
            </a: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index = 100 · exp( Σ wₖ·log(max(tₖ, ε)) / Σ wₖ )   # over available components</a:t>
            </a: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coverage = Σ w(available) / Σ w(all)</a:t>
            </a:r>
            <a:endParaRPr lang="en-US" sz="1150" dirty="0"/>
          </a:p>
        </p:txBody>
      </p:sp>
      <p:graphicFrame>
        <p:nvGraphicFramePr>
          <p:cNvPr id="8" name="Chart 0" descr=""/>
          <p:cNvGraphicFramePr/>
          <p:nvPr/>
        </p:nvGraphicFramePr>
        <p:xfrm>
          <a:off x="548640" y="3108960"/>
          <a:ext cx="5120640" cy="30175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035040" y="3154680"/>
            <a:ext cx="5577840" cy="329184"/>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Demand   </a:t>
            </a:r>
            <a:pPr indent="0" marL="0">
              <a:buNone/>
            </a:pPr>
            <a:r>
              <a:rPr lang="en-US" sz="1150" dirty="0">
                <a:solidFill>
                  <a:srgbClr val="56667D"/>
                </a:solidFill>
                <a:latin typeface="Calibri" pitchFamily="34" charset="0"/>
                <a:ea typeface="Calibri" pitchFamily="34" charset="-122"/>
                <a:cs typeface="Calibri" pitchFamily="34" charset="-120"/>
              </a:rPr>
              <a:t>segment revenue, log10: $1k → 0, $1M → 1</a:t>
            </a:r>
            <a:endParaRPr lang="en-US" sz="1150" dirty="0"/>
          </a:p>
        </p:txBody>
      </p:sp>
      <p:sp>
        <p:nvSpPr>
          <p:cNvPr id="10" name="Text 7"/>
          <p:cNvSpPr txBox="1"/>
          <p:nvPr/>
        </p:nvSpPr>
        <p:spPr>
          <a:xfrm>
            <a:off x="6035040" y="3520440"/>
            <a:ext cx="5577840" cy="329184"/>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Entry   </a:t>
            </a:r>
            <a:pPr indent="0" marL="0">
              <a:buNone/>
            </a:pPr>
            <a:r>
              <a:rPr lang="en-US" sz="1150" dirty="0">
                <a:solidFill>
                  <a:srgbClr val="56667D"/>
                </a:solidFill>
                <a:latin typeface="Calibri" pitchFamily="34" charset="0"/>
                <a:ea typeface="Calibri" pitchFamily="34" charset="-122"/>
                <a:cs typeface="Calibri" pitchFamily="34" charset="-120"/>
              </a:rPr>
              <a:t>entrant success 0 → 0.6</a:t>
            </a:r>
            <a:endParaRPr lang="en-US" sz="1150" dirty="0"/>
          </a:p>
        </p:txBody>
      </p:sp>
      <p:sp>
        <p:nvSpPr>
          <p:cNvPr id="11" name="Text 8"/>
          <p:cNvSpPr txBox="1"/>
          <p:nvPr/>
        </p:nvSpPr>
        <p:spPr>
          <a:xfrm>
            <a:off x="6035040" y="3886200"/>
            <a:ext cx="5577840" cy="329184"/>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Margin   </a:t>
            </a:r>
            <a:pPr indent="0" marL="0">
              <a:buNone/>
            </a:pPr>
            <a:r>
              <a:rPr lang="en-US" sz="1150" dirty="0">
                <a:solidFill>
                  <a:srgbClr val="56667D"/>
                </a:solidFill>
                <a:latin typeface="Calibri" pitchFamily="34" charset="0"/>
                <a:ea typeface="Calibri" pitchFamily="34" charset="-122"/>
                <a:cs typeface="Calibri" pitchFamily="34" charset="-120"/>
              </a:rPr>
              <a:t>median margin 0 → 0.40</a:t>
            </a:r>
            <a:endParaRPr lang="en-US" sz="1150" dirty="0"/>
          </a:p>
        </p:txBody>
      </p:sp>
      <p:sp>
        <p:nvSpPr>
          <p:cNvPr id="12" name="Text 9"/>
          <p:cNvSpPr txBox="1"/>
          <p:nvPr/>
        </p:nvSpPr>
        <p:spPr>
          <a:xfrm>
            <a:off x="6035040" y="4251960"/>
            <a:ext cx="5577840" cy="329184"/>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Competition   </a:t>
            </a:r>
            <a:pPr indent="0" marL="0">
              <a:buNone/>
            </a:pPr>
            <a:r>
              <a:rPr lang="en-US" sz="1150" dirty="0">
                <a:solidFill>
                  <a:srgbClr val="56667D"/>
                </a:solidFill>
                <a:latin typeface="Calibri" pitchFamily="34" charset="0"/>
                <a:ea typeface="Calibri" pitchFamily="34" charset="-122"/>
                <a:cs typeface="Calibri" pitchFamily="34" charset="-120"/>
              </a:rPr>
              <a:t>HHI 5,000 → 1,000</a:t>
            </a:r>
            <a:endParaRPr lang="en-US" sz="1150" dirty="0"/>
          </a:p>
        </p:txBody>
      </p:sp>
      <p:sp>
        <p:nvSpPr>
          <p:cNvPr id="13" name="Text 10"/>
          <p:cNvSpPr txBox="1"/>
          <p:nvPr/>
        </p:nvSpPr>
        <p:spPr>
          <a:xfrm>
            <a:off x="6035040" y="4617720"/>
            <a:ext cx="5577840" cy="329184"/>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Quality gap   </a:t>
            </a:r>
            <a:pPr indent="0" marL="0">
              <a:buNone/>
            </a:pPr>
            <a:r>
              <a:rPr lang="en-US" sz="1150" dirty="0">
                <a:solidFill>
                  <a:srgbClr val="56667D"/>
                </a:solidFill>
                <a:latin typeface="Calibri" pitchFamily="34" charset="0"/>
                <a:ea typeface="Calibri" pitchFamily="34" charset="-122"/>
                <a:cs typeface="Calibri" pitchFamily="34" charset="-120"/>
              </a:rPr>
              <a:t>0 → 0.40, mapped 0.5 → 1.0</a:t>
            </a:r>
            <a:endParaRPr lang="en-US" sz="1150" dirty="0"/>
          </a:p>
        </p:txBody>
      </p:sp>
      <p:sp>
        <p:nvSpPr>
          <p:cNvPr id="14" name="Text 11"/>
          <p:cNvSpPr txBox="1"/>
          <p:nvPr/>
        </p:nvSpPr>
        <p:spPr>
          <a:xfrm>
            <a:off x="6035040" y="4983480"/>
            <a:ext cx="5577840" cy="329184"/>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Saturation   </a:t>
            </a:r>
            <a:pPr indent="0" marL="0">
              <a:buNone/>
            </a:pPr>
            <a:r>
              <a:rPr lang="en-US" sz="1150" dirty="0">
                <a:solidFill>
                  <a:srgbClr val="56667D"/>
                </a:solidFill>
                <a:latin typeface="Calibri" pitchFamily="34" charset="0"/>
                <a:ea typeface="Calibri" pitchFamily="34" charset="-122"/>
                <a:cs typeface="Calibri" pitchFamily="34" charset="-120"/>
              </a:rPr>
              <a:t>unbadged share 0.95 → 0.50</a:t>
            </a:r>
            <a:endParaRPr lang="en-US" sz="1150" dirty="0"/>
          </a:p>
        </p:txBody>
      </p:sp>
      <p:sp>
        <p:nvSpPr>
          <p:cNvPr id="15" name="Shape 12"/>
          <p:cNvSpPr/>
          <p:nvPr/>
        </p:nvSpPr>
        <p:spPr>
          <a:xfrm>
            <a:off x="6035040" y="5522976"/>
            <a:ext cx="91440" cy="91440"/>
          </a:xfrm>
          <a:prstGeom prst="ellipse">
            <a:avLst/>
          </a:prstGeom>
          <a:solidFill>
            <a:srgbClr val="0E7C6B"/>
          </a:solidFill>
          <a:ln w="12700">
            <a:solidFill>
              <a:srgbClr val="0E7C6B"/>
            </a:solidFill>
            <a:prstDash val="solid"/>
          </a:ln>
        </p:spPr>
      </p:sp>
      <p:sp>
        <p:nvSpPr>
          <p:cNvPr id="16" name="Text 13"/>
          <p:cNvSpPr txBox="1"/>
          <p:nvPr/>
        </p:nvSpPr>
        <p:spPr>
          <a:xfrm>
            <a:off x="6236208" y="5440680"/>
            <a:ext cx="5376672" cy="429768"/>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Geometric: one near-zero component pulls the whole index down</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几何平均：任一分量接近零都会拉低整体指数</a:t>
            </a:r>
            <a:endParaRPr lang="en-US" sz="1100" dirty="0"/>
          </a:p>
        </p:txBody>
      </p:sp>
      <p:sp>
        <p:nvSpPr>
          <p:cNvPr id="17" name="Shape 14"/>
          <p:cNvSpPr/>
          <p:nvPr/>
        </p:nvSpPr>
        <p:spPr>
          <a:xfrm>
            <a:off x="6035040" y="5998464"/>
            <a:ext cx="91440" cy="91440"/>
          </a:xfrm>
          <a:prstGeom prst="ellipse">
            <a:avLst/>
          </a:prstGeom>
          <a:solidFill>
            <a:srgbClr val="0E7C6B"/>
          </a:solidFill>
          <a:ln w="12700">
            <a:solidFill>
              <a:srgbClr val="0E7C6B"/>
            </a:solidFill>
            <a:prstDash val="solid"/>
          </a:ln>
        </p:spPr>
      </p:sp>
      <p:sp>
        <p:nvSpPr>
          <p:cNvPr id="18" name="Text 15"/>
          <p:cNvSpPr txBox="1"/>
          <p:nvPr/>
        </p:nvSpPr>
        <p:spPr>
          <a:xfrm>
            <a:off x="6236208" y="5916168"/>
            <a:ext cx="5376672" cy="429768"/>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Product index = segment 0.7 · price band 0.2 · quality room 0.1</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产品指数 = 细分 0.7 · 价格带 0.2 · 质量空间 0.1</a:t>
            </a:r>
            <a:endParaRPr lang="en-US" sz="1100" dirty="0"/>
          </a:p>
        </p:txBody>
      </p:sp>
      <p:sp>
        <p:nvSpPr>
          <p:cNvPr id="19" name="Text 16"/>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DEMAND GAPS → RECOMMENDED PRODUCT</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需求缺口 → 推荐产品</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Bootstrap lift with false-discovery control</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带错误发现率控制的自助法提升度</a:t>
            </a:r>
            <a:endParaRPr lang="en-US" sz="1500" dirty="0"/>
          </a:p>
        </p:txBody>
      </p:sp>
      <p:sp>
        <p:nvSpPr>
          <p:cNvPr id="7" name="Shape 5"/>
          <p:cNvSpPr/>
          <p:nvPr/>
        </p:nvSpPr>
        <p:spPr>
          <a:xfrm>
            <a:off x="548640" y="1737360"/>
            <a:ext cx="2057400" cy="2331720"/>
          </a:xfrm>
          <a:prstGeom prst="roundRect">
            <a:avLst>
              <a:gd name="adj" fmla="val 3556"/>
            </a:avLst>
          </a:prstGeom>
          <a:solidFill>
            <a:srgbClr val="F4F6F9"/>
          </a:solidFill>
          <a:ln w="12700">
            <a:solidFill>
              <a:srgbClr val="DCE3EB"/>
            </a:solidFill>
            <a:prstDash val="solid"/>
          </a:ln>
        </p:spPr>
      </p:sp>
      <p:sp>
        <p:nvSpPr>
          <p:cNvPr id="8" name="Text 6"/>
          <p:cNvSpPr txBox="1"/>
          <p:nvPr/>
        </p:nvSpPr>
        <p:spPr>
          <a:xfrm>
            <a:off x="685800" y="1828800"/>
            <a:ext cx="1783080" cy="2148840"/>
          </a:xfrm>
          <a:prstGeom prst="rect">
            <a:avLst/>
          </a:prstGeom>
          <a:noFill/>
          <a:ln/>
        </p:spPr>
        <p:txBody>
          <a:bodyPr wrap="square" lIns="0" tIns="0" rIns="0" bIns="0" rtlCol="0" anchor="t"/>
          <a:lstStyle/>
          <a:p>
            <a:pPr indent="0" marL="0">
              <a:buNone/>
            </a:pPr>
            <a:r>
              <a:rPr lang="en-US" sz="1500" b="1" dirty="0">
                <a:solidFill>
                  <a:srgbClr val="0E7C6B"/>
                </a:solidFill>
                <a:latin typeface="Cambria" pitchFamily="34" charset="0"/>
                <a:ea typeface="Cambria" pitchFamily="34" charset="-122"/>
                <a:cs typeface="Cambria" pitchFamily="34" charset="-120"/>
              </a:rPr>
              <a:t>Candidates</a:t>
            </a:r>
            <a:endParaRPr lang="en-US" sz="1500" dirty="0"/>
          </a:p>
          <a:p>
            <a:pPr indent="0" marL="0">
              <a:buNone/>
            </a:pPr>
            <a:r>
              <a:rPr lang="en-US" sz="1050" dirty="0">
                <a:solidFill>
                  <a:srgbClr val="6A7890"/>
                </a:solidFill>
                <a:latin typeface="Microsoft YaHei" pitchFamily="34" charset="0"/>
                <a:ea typeface="Microsoft YaHei" pitchFamily="34" charset="-122"/>
                <a:cs typeface="Microsoft YaHei" pitchFamily="34" charset="-120"/>
              </a:rPr>
              <a:t>候选特征</a:t>
            </a:r>
            <a:endParaRPr lang="en-US" sz="1500" dirty="0"/>
          </a:p>
          <a:p>
            <a:pPr indent="0" marL="0">
              <a:buNone/>
            </a:pPr>
            <a:r>
              <a:rPr lang="en-US" sz="600" dirty="0">
                <a:solidFill>
                  <a:srgbClr val="000000"/>
                </a:solidFill>
              </a:rPr>
              <a:t> </a:t>
            </a:r>
            <a:endParaRPr lang="en-US" sz="1500" dirty="0"/>
          </a:p>
          <a:p>
            <a:pPr indent="0" marL="0">
              <a:buNone/>
            </a:pPr>
            <a:r>
              <a:rPr lang="en-US" sz="1100" dirty="0">
                <a:solidFill>
                  <a:srgbClr val="16243A"/>
                </a:solidFill>
                <a:latin typeface="Calibri" pitchFamily="34" charset="0"/>
                <a:ea typeface="Calibri" pitchFamily="34" charset="-122"/>
                <a:cs typeface="Calibri" pitchFamily="34" charset="-120"/>
              </a:rPr>
              <a:t>title terms, bucketed specs</a:t>
            </a:r>
            <a:endParaRPr lang="en-US" sz="1500" dirty="0"/>
          </a:p>
          <a:p>
            <a:pPr indent="0" marL="0">
              <a:buNone/>
            </a:pPr>
            <a:r>
              <a:rPr lang="en-US" sz="1100" dirty="0">
                <a:solidFill>
                  <a:srgbClr val="16243A"/>
                </a:solidFill>
                <a:latin typeface="Calibri" pitchFamily="34" charset="0"/>
                <a:ea typeface="Calibri" pitchFamily="34" charset="-122"/>
                <a:cs typeface="Calibri" pitchFamily="34" charset="-120"/>
              </a:rPr>
              <a:t>(rpm 40k–60k …), price bands</a:t>
            </a:r>
            <a:endParaRPr lang="en-US" sz="1500" dirty="0"/>
          </a:p>
          <a:p>
            <a:pPr indent="0" marL="0">
              <a:buNone/>
            </a:pPr>
            <a:r>
              <a:rPr lang="en-US" sz="1100" dirty="0">
                <a:solidFill>
                  <a:srgbClr val="16243A"/>
                </a:solidFill>
                <a:latin typeface="Calibri" pitchFamily="34" charset="0"/>
                <a:ea typeface="Calibri" pitchFamily="34" charset="-122"/>
                <a:cs typeface="Calibri" pitchFamily="34" charset="-120"/>
              </a:rPr>
              <a:t>segments with ≥ 8 listings</a:t>
            </a:r>
            <a:endParaRPr lang="en-US" sz="1500" dirty="0"/>
          </a:p>
        </p:txBody>
      </p:sp>
      <p:sp>
        <p:nvSpPr>
          <p:cNvPr id="9" name="Shape 7"/>
          <p:cNvSpPr/>
          <p:nvPr/>
        </p:nvSpPr>
        <p:spPr>
          <a:xfrm>
            <a:off x="2606040" y="2898648"/>
            <a:ext cx="228600" cy="0"/>
          </a:xfrm>
          <a:prstGeom prst="line">
            <a:avLst/>
          </a:prstGeom>
          <a:noFill/>
          <a:ln w="19050">
            <a:solidFill>
              <a:srgbClr val="0E7C6B"/>
            </a:solidFill>
            <a:prstDash val="solid"/>
            <a:tailEnd type="triangle"/>
          </a:ln>
        </p:spPr>
      </p:sp>
      <p:sp>
        <p:nvSpPr>
          <p:cNvPr id="10" name="Shape 8"/>
          <p:cNvSpPr/>
          <p:nvPr/>
        </p:nvSpPr>
        <p:spPr>
          <a:xfrm>
            <a:off x="2834640" y="1737360"/>
            <a:ext cx="2057400" cy="2331720"/>
          </a:xfrm>
          <a:prstGeom prst="roundRect">
            <a:avLst>
              <a:gd name="adj" fmla="val 3556"/>
            </a:avLst>
          </a:prstGeom>
          <a:solidFill>
            <a:srgbClr val="F4F6F9"/>
          </a:solidFill>
          <a:ln w="12700">
            <a:solidFill>
              <a:srgbClr val="DCE3EB"/>
            </a:solidFill>
            <a:prstDash val="solid"/>
          </a:ln>
        </p:spPr>
      </p:sp>
      <p:sp>
        <p:nvSpPr>
          <p:cNvPr id="11" name="Text 9"/>
          <p:cNvSpPr txBox="1"/>
          <p:nvPr/>
        </p:nvSpPr>
        <p:spPr>
          <a:xfrm>
            <a:off x="2971800" y="1828800"/>
            <a:ext cx="1783080" cy="2148840"/>
          </a:xfrm>
          <a:prstGeom prst="rect">
            <a:avLst/>
          </a:prstGeom>
          <a:noFill/>
          <a:ln/>
        </p:spPr>
        <p:txBody>
          <a:bodyPr wrap="square" lIns="0" tIns="0" rIns="0" bIns="0" rtlCol="0" anchor="t"/>
          <a:lstStyle/>
          <a:p>
            <a:pPr indent="0" marL="0">
              <a:buNone/>
            </a:pPr>
            <a:r>
              <a:rPr lang="en-US" sz="1500" b="1" dirty="0">
                <a:solidFill>
                  <a:srgbClr val="0E7C6B"/>
                </a:solidFill>
                <a:latin typeface="Cambria" pitchFamily="34" charset="0"/>
                <a:ea typeface="Cambria" pitchFamily="34" charset="-122"/>
                <a:cs typeface="Cambria" pitchFamily="34" charset="-120"/>
              </a:rPr>
              <a:t>Support</a:t>
            </a:r>
            <a:endParaRPr lang="en-US" sz="1500" dirty="0"/>
          </a:p>
          <a:p>
            <a:pPr indent="0" marL="0">
              <a:buNone/>
            </a:pPr>
            <a:r>
              <a:rPr lang="en-US" sz="1050" dirty="0">
                <a:solidFill>
                  <a:srgbClr val="6A7890"/>
                </a:solidFill>
                <a:latin typeface="Microsoft YaHei" pitchFamily="34" charset="0"/>
                <a:ea typeface="Microsoft YaHei" pitchFamily="34" charset="-122"/>
                <a:cs typeface="Microsoft YaHei" pitchFamily="34" charset="-120"/>
              </a:rPr>
              <a:t>支持度</a:t>
            </a:r>
            <a:endParaRPr lang="en-US" sz="1500" dirty="0"/>
          </a:p>
          <a:p>
            <a:pPr indent="0" marL="0">
              <a:buNone/>
            </a:pPr>
            <a:r>
              <a:rPr lang="en-US" sz="600" dirty="0">
                <a:solidFill>
                  <a:srgbClr val="000000"/>
                </a:solidFill>
              </a:rPr>
              <a:t> </a:t>
            </a:r>
            <a:endParaRPr lang="en-US" sz="1500" dirty="0"/>
          </a:p>
          <a:p>
            <a:pPr indent="0" marL="0">
              <a:buNone/>
            </a:pPr>
            <a:r>
              <a:rPr lang="en-US" sz="1100" dirty="0">
                <a:solidFill>
                  <a:srgbClr val="16243A"/>
                </a:solidFill>
                <a:latin typeface="Calibri" pitchFamily="34" charset="0"/>
                <a:ea typeface="Calibri" pitchFamily="34" charset="-122"/>
                <a:cs typeface="Calibri" pitchFamily="34" charset="-120"/>
              </a:rPr>
              <a:t>≥ 5 listings with AND</a:t>
            </a:r>
            <a:endParaRPr lang="en-US" sz="1500" dirty="0"/>
          </a:p>
          <a:p>
            <a:pPr indent="0" marL="0">
              <a:buNone/>
            </a:pPr>
            <a:r>
              <a:rPr lang="en-US" sz="1100" dirty="0">
                <a:solidFill>
                  <a:srgbClr val="16243A"/>
                </a:solidFill>
                <a:latin typeface="Calibri" pitchFamily="34" charset="0"/>
                <a:ea typeface="Calibri" pitchFamily="34" charset="-122"/>
                <a:cs typeface="Calibri" pitchFamily="34" charset="-120"/>
              </a:rPr>
              <a:t>≥ 5 without the feature</a:t>
            </a:r>
            <a:endParaRPr lang="en-US" sz="1500" dirty="0"/>
          </a:p>
          <a:p>
            <a:pPr indent="0" marL="0">
              <a:buNone/>
            </a:pPr>
            <a:r>
              <a:rPr lang="en-US" sz="1100" dirty="0">
                <a:solidFill>
                  <a:srgbClr val="16243A"/>
                </a:solidFill>
                <a:latin typeface="Calibri" pitchFamily="34" charset="0"/>
                <a:ea typeface="Calibri" pitchFamily="34" charset="-122"/>
                <a:cs typeface="Calibri" pitchFamily="34" charset="-120"/>
              </a:rPr>
              <a:t>top 40 candidates / segment</a:t>
            </a:r>
            <a:endParaRPr lang="en-US" sz="1500" dirty="0"/>
          </a:p>
        </p:txBody>
      </p:sp>
      <p:sp>
        <p:nvSpPr>
          <p:cNvPr id="12" name="Shape 10"/>
          <p:cNvSpPr/>
          <p:nvPr/>
        </p:nvSpPr>
        <p:spPr>
          <a:xfrm>
            <a:off x="4892040" y="2898648"/>
            <a:ext cx="228600" cy="0"/>
          </a:xfrm>
          <a:prstGeom prst="line">
            <a:avLst/>
          </a:prstGeom>
          <a:noFill/>
          <a:ln w="19050">
            <a:solidFill>
              <a:srgbClr val="0E7C6B"/>
            </a:solidFill>
            <a:prstDash val="solid"/>
            <a:tailEnd type="triangle"/>
          </a:ln>
        </p:spPr>
      </p:sp>
      <p:sp>
        <p:nvSpPr>
          <p:cNvPr id="13" name="Shape 11"/>
          <p:cNvSpPr/>
          <p:nvPr/>
        </p:nvSpPr>
        <p:spPr>
          <a:xfrm>
            <a:off x="5120640" y="1737360"/>
            <a:ext cx="2057400" cy="2331720"/>
          </a:xfrm>
          <a:prstGeom prst="roundRect">
            <a:avLst>
              <a:gd name="adj" fmla="val 3556"/>
            </a:avLst>
          </a:prstGeom>
          <a:solidFill>
            <a:srgbClr val="F4F6F9"/>
          </a:solidFill>
          <a:ln w="12700">
            <a:solidFill>
              <a:srgbClr val="DCE3EB"/>
            </a:solidFill>
            <a:prstDash val="solid"/>
          </a:ln>
        </p:spPr>
      </p:sp>
      <p:sp>
        <p:nvSpPr>
          <p:cNvPr id="14" name="Text 12"/>
          <p:cNvSpPr txBox="1"/>
          <p:nvPr/>
        </p:nvSpPr>
        <p:spPr>
          <a:xfrm>
            <a:off x="5257800" y="1828800"/>
            <a:ext cx="1783080" cy="2148840"/>
          </a:xfrm>
          <a:prstGeom prst="rect">
            <a:avLst/>
          </a:prstGeom>
          <a:noFill/>
          <a:ln/>
        </p:spPr>
        <p:txBody>
          <a:bodyPr wrap="square" lIns="0" tIns="0" rIns="0" bIns="0" rtlCol="0" anchor="t"/>
          <a:lstStyle/>
          <a:p>
            <a:pPr indent="0" marL="0">
              <a:buNone/>
            </a:pPr>
            <a:r>
              <a:rPr lang="en-US" sz="1500" b="1" dirty="0">
                <a:solidFill>
                  <a:srgbClr val="0E7C6B"/>
                </a:solidFill>
                <a:latin typeface="Cambria" pitchFamily="34" charset="0"/>
                <a:ea typeface="Cambria" pitchFamily="34" charset="-122"/>
                <a:cs typeface="Cambria" pitchFamily="34" charset="-120"/>
              </a:rPr>
              <a:t>Lift</a:t>
            </a:r>
            <a:endParaRPr lang="en-US" sz="1500" dirty="0"/>
          </a:p>
          <a:p>
            <a:pPr indent="0" marL="0">
              <a:buNone/>
            </a:pPr>
            <a:r>
              <a:rPr lang="en-US" sz="1050" dirty="0">
                <a:solidFill>
                  <a:srgbClr val="6A7890"/>
                </a:solidFill>
                <a:latin typeface="Microsoft YaHei" pitchFamily="34" charset="0"/>
                <a:ea typeface="Microsoft YaHei" pitchFamily="34" charset="-122"/>
                <a:cs typeface="Microsoft YaHei" pitchFamily="34" charset="-120"/>
              </a:rPr>
              <a:t>提升度</a:t>
            </a:r>
            <a:endParaRPr lang="en-US" sz="1500" dirty="0"/>
          </a:p>
          <a:p>
            <a:pPr indent="0" marL="0">
              <a:buNone/>
            </a:pPr>
            <a:r>
              <a:rPr lang="en-US" sz="600" dirty="0">
                <a:solidFill>
                  <a:srgbClr val="000000"/>
                </a:solidFill>
              </a:rPr>
              <a:t> </a:t>
            </a:r>
            <a:endParaRPr lang="en-US" sz="1500" dirty="0"/>
          </a:p>
          <a:p>
            <a:pPr indent="0" marL="0">
              <a:buNone/>
            </a:pPr>
            <a:r>
              <a:rPr lang="en-US" sz="1100" dirty="0">
                <a:solidFill>
                  <a:srgbClr val="16243A"/>
                </a:solidFill>
                <a:latin typeface="Calibri" pitchFamily="34" charset="0"/>
                <a:ea typeface="Calibri" pitchFamily="34" charset="-122"/>
                <a:cs typeface="Calibri" pitchFamily="34" charset="-120"/>
              </a:rPr>
              <a:t>mean units WITH ÷ WITHOUT</a:t>
            </a:r>
            <a:endParaRPr lang="en-US" sz="1500" dirty="0"/>
          </a:p>
          <a:p>
            <a:pPr indent="0" marL="0">
              <a:buNone/>
            </a:pPr>
            <a:r>
              <a:rPr lang="en-US" sz="1100" dirty="0">
                <a:solidFill>
                  <a:srgbClr val="16243A"/>
                </a:solidFill>
                <a:latin typeface="Calibri" pitchFamily="34" charset="0"/>
                <a:ea typeface="Calibri" pitchFamily="34" charset="-122"/>
                <a:cs typeface="Calibri" pitchFamily="34" charset="-120"/>
              </a:rPr>
              <a:t>400 bootstrap resamples</a:t>
            </a:r>
            <a:endParaRPr lang="en-US" sz="1500" dirty="0"/>
          </a:p>
          <a:p>
            <a:pPr indent="0" marL="0">
              <a:buNone/>
            </a:pPr>
            <a:r>
              <a:rPr lang="en-US" sz="1100" dirty="0">
                <a:solidFill>
                  <a:srgbClr val="16243A"/>
                </a:solidFill>
                <a:latin typeface="Calibri" pitchFamily="34" charset="0"/>
                <a:ea typeface="Calibri" pitchFamily="34" charset="-122"/>
                <a:cs typeface="Calibri" pitchFamily="34" charset="-120"/>
              </a:rPr>
              <a:t>→ interval + p-value</a:t>
            </a:r>
            <a:endParaRPr lang="en-US" sz="1500" dirty="0"/>
          </a:p>
        </p:txBody>
      </p:sp>
      <p:sp>
        <p:nvSpPr>
          <p:cNvPr id="15" name="Shape 13"/>
          <p:cNvSpPr/>
          <p:nvPr/>
        </p:nvSpPr>
        <p:spPr>
          <a:xfrm>
            <a:off x="7178040" y="2898648"/>
            <a:ext cx="228600" cy="0"/>
          </a:xfrm>
          <a:prstGeom prst="line">
            <a:avLst/>
          </a:prstGeom>
          <a:noFill/>
          <a:ln w="19050">
            <a:solidFill>
              <a:srgbClr val="0E7C6B"/>
            </a:solidFill>
            <a:prstDash val="solid"/>
            <a:tailEnd type="triangle"/>
          </a:ln>
        </p:spPr>
      </p:sp>
      <p:sp>
        <p:nvSpPr>
          <p:cNvPr id="16" name="Shape 14"/>
          <p:cNvSpPr/>
          <p:nvPr/>
        </p:nvSpPr>
        <p:spPr>
          <a:xfrm>
            <a:off x="7406640" y="1737360"/>
            <a:ext cx="2057400" cy="2331720"/>
          </a:xfrm>
          <a:prstGeom prst="roundRect">
            <a:avLst>
              <a:gd name="adj" fmla="val 3556"/>
            </a:avLst>
          </a:prstGeom>
          <a:solidFill>
            <a:srgbClr val="F4F6F9"/>
          </a:solidFill>
          <a:ln w="12700">
            <a:solidFill>
              <a:srgbClr val="DCE3EB"/>
            </a:solidFill>
            <a:prstDash val="solid"/>
          </a:ln>
        </p:spPr>
      </p:sp>
      <p:sp>
        <p:nvSpPr>
          <p:cNvPr id="17" name="Text 15"/>
          <p:cNvSpPr txBox="1"/>
          <p:nvPr/>
        </p:nvSpPr>
        <p:spPr>
          <a:xfrm>
            <a:off x="7543800" y="1828800"/>
            <a:ext cx="1783080" cy="2148840"/>
          </a:xfrm>
          <a:prstGeom prst="rect">
            <a:avLst/>
          </a:prstGeom>
          <a:noFill/>
          <a:ln/>
        </p:spPr>
        <p:txBody>
          <a:bodyPr wrap="square" lIns="0" tIns="0" rIns="0" bIns="0" rtlCol="0" anchor="t"/>
          <a:lstStyle/>
          <a:p>
            <a:pPr indent="0" marL="0">
              <a:buNone/>
            </a:pPr>
            <a:r>
              <a:rPr lang="en-US" sz="1500" b="1" dirty="0">
                <a:solidFill>
                  <a:srgbClr val="0E7C6B"/>
                </a:solidFill>
                <a:latin typeface="Cambria" pitchFamily="34" charset="0"/>
                <a:ea typeface="Cambria" pitchFamily="34" charset="-122"/>
                <a:cs typeface="Cambria" pitchFamily="34" charset="-120"/>
              </a:rPr>
              <a:t>FDR</a:t>
            </a:r>
            <a:endParaRPr lang="en-US" sz="1500" dirty="0"/>
          </a:p>
          <a:p>
            <a:pPr indent="0" marL="0">
              <a:buNone/>
            </a:pPr>
            <a:r>
              <a:rPr lang="en-US" sz="1050" dirty="0">
                <a:solidFill>
                  <a:srgbClr val="6A7890"/>
                </a:solidFill>
                <a:latin typeface="Microsoft YaHei" pitchFamily="34" charset="0"/>
                <a:ea typeface="Microsoft YaHei" pitchFamily="34" charset="-122"/>
                <a:cs typeface="Microsoft YaHei" pitchFamily="34" charset="-120"/>
              </a:rPr>
              <a:t>错误发现率</a:t>
            </a:r>
            <a:endParaRPr lang="en-US" sz="1500" dirty="0"/>
          </a:p>
          <a:p>
            <a:pPr indent="0" marL="0">
              <a:buNone/>
            </a:pPr>
            <a:r>
              <a:rPr lang="en-US" sz="600" dirty="0">
                <a:solidFill>
                  <a:srgbClr val="000000"/>
                </a:solidFill>
              </a:rPr>
              <a:t> </a:t>
            </a:r>
            <a:endParaRPr lang="en-US" sz="1500" dirty="0"/>
          </a:p>
          <a:p>
            <a:pPr indent="0" marL="0">
              <a:buNone/>
            </a:pPr>
            <a:r>
              <a:rPr lang="en-US" sz="1100" dirty="0">
                <a:solidFill>
                  <a:srgbClr val="16243A"/>
                </a:solidFill>
                <a:latin typeface="Calibri" pitchFamily="34" charset="0"/>
                <a:ea typeface="Calibri" pitchFamily="34" charset="-122"/>
                <a:cs typeface="Calibri" pitchFamily="34" charset="-120"/>
              </a:rPr>
              <a:t>Benjamini–Hochberg over all</a:t>
            </a:r>
            <a:endParaRPr lang="en-US" sz="1500" dirty="0"/>
          </a:p>
          <a:p>
            <a:pPr indent="0" marL="0">
              <a:buNone/>
            </a:pPr>
            <a:r>
              <a:rPr lang="en-US" sz="1100" dirty="0">
                <a:solidFill>
                  <a:srgbClr val="16243A"/>
                </a:solidFill>
                <a:latin typeface="Calibri" pitchFamily="34" charset="0"/>
                <a:ea typeface="Calibri" pitchFamily="34" charset="-122"/>
                <a:cs typeface="Calibri" pitchFamily="34" charset="-120"/>
              </a:rPr>
              <a:t>features, q ≤ 0.10</a:t>
            </a:r>
            <a:endParaRPr lang="en-US" sz="1500" dirty="0"/>
          </a:p>
        </p:txBody>
      </p:sp>
      <p:sp>
        <p:nvSpPr>
          <p:cNvPr id="18" name="Shape 16"/>
          <p:cNvSpPr/>
          <p:nvPr/>
        </p:nvSpPr>
        <p:spPr>
          <a:xfrm>
            <a:off x="9464040" y="2898648"/>
            <a:ext cx="228600" cy="0"/>
          </a:xfrm>
          <a:prstGeom prst="line">
            <a:avLst/>
          </a:prstGeom>
          <a:noFill/>
          <a:ln w="19050">
            <a:solidFill>
              <a:srgbClr val="0E7C6B"/>
            </a:solidFill>
            <a:prstDash val="solid"/>
            <a:tailEnd type="triangle"/>
          </a:ln>
        </p:spPr>
      </p:sp>
      <p:sp>
        <p:nvSpPr>
          <p:cNvPr id="19" name="Shape 17"/>
          <p:cNvSpPr/>
          <p:nvPr/>
        </p:nvSpPr>
        <p:spPr>
          <a:xfrm>
            <a:off x="9692640" y="1737360"/>
            <a:ext cx="2057400" cy="2331720"/>
          </a:xfrm>
          <a:prstGeom prst="roundRect">
            <a:avLst>
              <a:gd name="adj" fmla="val 3556"/>
            </a:avLst>
          </a:prstGeom>
          <a:solidFill>
            <a:srgbClr val="E3F2EF"/>
          </a:solidFill>
          <a:ln w="12700">
            <a:solidFill>
              <a:srgbClr val="0E7C6B"/>
            </a:solidFill>
            <a:prstDash val="solid"/>
          </a:ln>
        </p:spPr>
      </p:sp>
      <p:sp>
        <p:nvSpPr>
          <p:cNvPr id="20" name="Text 18"/>
          <p:cNvSpPr txBox="1"/>
          <p:nvPr/>
        </p:nvSpPr>
        <p:spPr>
          <a:xfrm>
            <a:off x="9829800" y="1828800"/>
            <a:ext cx="1783080" cy="2148840"/>
          </a:xfrm>
          <a:prstGeom prst="rect">
            <a:avLst/>
          </a:prstGeom>
          <a:noFill/>
          <a:ln/>
        </p:spPr>
        <p:txBody>
          <a:bodyPr wrap="square" lIns="0" tIns="0" rIns="0" bIns="0" rtlCol="0" anchor="t"/>
          <a:lstStyle/>
          <a:p>
            <a:pPr indent="0" marL="0">
              <a:buNone/>
            </a:pPr>
            <a:r>
              <a:rPr lang="en-US" sz="1500" b="1" dirty="0">
                <a:solidFill>
                  <a:srgbClr val="0E7C6B"/>
                </a:solidFill>
                <a:latin typeface="Cambria" pitchFamily="34" charset="0"/>
                <a:ea typeface="Cambria" pitchFamily="34" charset="-122"/>
                <a:cs typeface="Cambria" pitchFamily="34" charset="-120"/>
              </a:rPr>
              <a:t>Recommend</a:t>
            </a:r>
            <a:endParaRPr lang="en-US" sz="1500" dirty="0"/>
          </a:p>
          <a:p>
            <a:pPr indent="0" marL="0">
              <a:buNone/>
            </a:pPr>
            <a:r>
              <a:rPr lang="en-US" sz="1050" dirty="0">
                <a:solidFill>
                  <a:srgbClr val="6A7890"/>
                </a:solidFill>
                <a:latin typeface="Microsoft YaHei" pitchFamily="34" charset="0"/>
                <a:ea typeface="Microsoft YaHei" pitchFamily="34" charset="-122"/>
                <a:cs typeface="Microsoft YaHei" pitchFamily="34" charset="-120"/>
              </a:rPr>
              <a:t>推荐</a:t>
            </a:r>
            <a:endParaRPr lang="en-US" sz="1500" dirty="0"/>
          </a:p>
          <a:p>
            <a:pPr indent="0" marL="0">
              <a:buNone/>
            </a:pPr>
            <a:r>
              <a:rPr lang="en-US" sz="600" dirty="0">
                <a:solidFill>
                  <a:srgbClr val="000000"/>
                </a:solidFill>
              </a:rPr>
              <a:t> </a:t>
            </a:r>
            <a:endParaRPr lang="en-US" sz="1500" dirty="0"/>
          </a:p>
          <a:p>
            <a:pPr indent="0" marL="0">
              <a:buNone/>
            </a:pPr>
            <a:r>
              <a:rPr lang="en-US" sz="1100" dirty="0">
                <a:solidFill>
                  <a:srgbClr val="16243A"/>
                </a:solidFill>
                <a:latin typeface="Calibri" pitchFamily="34" charset="0"/>
                <a:ea typeface="Calibri" pitchFamily="34" charset="-122"/>
                <a:cs typeface="Calibri" pitchFamily="34" charset="-120"/>
              </a:rPr>
              <a:t>significant AND under-supplied</a:t>
            </a:r>
            <a:endParaRPr lang="en-US" sz="1500" dirty="0"/>
          </a:p>
          <a:p>
            <a:pPr indent="0" marL="0">
              <a:buNone/>
            </a:pPr>
            <a:r>
              <a:rPr lang="en-US" sz="1100" dirty="0">
                <a:solidFill>
                  <a:srgbClr val="16243A"/>
                </a:solidFill>
                <a:latin typeface="Calibri" pitchFamily="34" charset="0"/>
                <a:ea typeface="Calibri" pitchFamily="34" charset="-122"/>
                <a:cs typeface="Calibri" pitchFamily="34" charset="-120"/>
              </a:rPr>
              <a:t>up to 3 co-occurring gaps</a:t>
            </a:r>
            <a:endParaRPr lang="en-US" sz="1500" dirty="0"/>
          </a:p>
          <a:p>
            <a:pPr indent="0" marL="0">
              <a:buNone/>
            </a:pPr>
            <a:r>
              <a:rPr lang="en-US" sz="1100" dirty="0">
                <a:solidFill>
                  <a:srgbClr val="16243A"/>
                </a:solidFill>
                <a:latin typeface="Calibri" pitchFamily="34" charset="0"/>
                <a:ea typeface="Calibri" pitchFamily="34" charset="-122"/>
                <a:cs typeface="Calibri" pitchFamily="34" charset="-120"/>
              </a:rPr>
              <a:t>+ best price band</a:t>
            </a:r>
            <a:endParaRPr lang="en-US" sz="1500" dirty="0"/>
          </a:p>
        </p:txBody>
      </p:sp>
      <p:sp>
        <p:nvSpPr>
          <p:cNvPr id="21" name="Text 19"/>
          <p:cNvSpPr txBox="1"/>
          <p:nvPr/>
        </p:nvSpPr>
        <p:spPr>
          <a:xfrm>
            <a:off x="548640" y="4297680"/>
            <a:ext cx="6766560" cy="457200"/>
          </a:xfrm>
          <a:prstGeom prst="rect">
            <a:avLst/>
          </a:prstGeom>
          <a:solidFill>
            <a:srgbClr val="F4F6F9"/>
          </a:solidFill>
          <a:ln w="9525">
            <a:solidFill>
              <a:srgbClr val="DCE3EB"/>
            </a:solidFill>
          </a:ln>
        </p:spPr>
        <p:txBody>
          <a:bodyPr wrap="square" lIns="101600" tIns="101600" rIns="101600" bIns="101600" rtlCol="0" anchor="t"/>
          <a:lstStyle/>
          <a:p>
            <a:pPr indent="0" marL="0">
              <a:buNone/>
            </a:pPr>
            <a:r>
              <a:rPr lang="en-US" sz="1100" dirty="0">
                <a:solidFill>
                  <a:srgbClr val="16243A"/>
                </a:solidFill>
                <a:latin typeface="Courier New" pitchFamily="34" charset="0"/>
                <a:ea typeface="Courier New" pitchFamily="34" charset="-122"/>
                <a:cs typeface="Courier New" pitchFamily="34" charset="-120"/>
              </a:rPr>
              <a:t>q₍ᵢ₎ = min over j ≥ i of  p₍ⱼ₎ · m / j        (sorted p-values, m tests)</a:t>
            </a:r>
            <a:endParaRPr lang="en-US" sz="1100" dirty="0"/>
          </a:p>
        </p:txBody>
      </p:sp>
      <p:sp>
        <p:nvSpPr>
          <p:cNvPr id="22" name="Shape 20"/>
          <p:cNvSpPr/>
          <p:nvPr/>
        </p:nvSpPr>
        <p:spPr>
          <a:xfrm>
            <a:off x="548640" y="5020056"/>
            <a:ext cx="91440" cy="91440"/>
          </a:xfrm>
          <a:prstGeom prst="ellipse">
            <a:avLst/>
          </a:prstGeom>
          <a:solidFill>
            <a:srgbClr val="0E7C6B"/>
          </a:solidFill>
          <a:ln w="12700">
            <a:solidFill>
              <a:srgbClr val="0E7C6B"/>
            </a:solidFill>
            <a:prstDash val="solid"/>
          </a:ln>
        </p:spPr>
      </p:sp>
      <p:sp>
        <p:nvSpPr>
          <p:cNvPr id="23" name="Text 21"/>
          <p:cNvSpPr txBox="1"/>
          <p:nvPr/>
        </p:nvSpPr>
        <p:spPr>
          <a:xfrm>
            <a:off x="749808" y="4937760"/>
            <a:ext cx="6565392" cy="612648"/>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Why FDR, not Bonferroni: hundreds of features are tested; controlling the share of false discoveries keeps real gaps visible</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为何用 FDR 而非 Bonferroni：检验数百个特征时，控制错误发现比例才能保留真实缺口</a:t>
            </a:r>
            <a:endParaRPr lang="en-US" sz="1150" dirty="0"/>
          </a:p>
        </p:txBody>
      </p:sp>
      <p:sp>
        <p:nvSpPr>
          <p:cNvPr id="24" name="Shape 22"/>
          <p:cNvSpPr/>
          <p:nvPr/>
        </p:nvSpPr>
        <p:spPr>
          <a:xfrm>
            <a:off x="548640" y="5678424"/>
            <a:ext cx="91440" cy="91440"/>
          </a:xfrm>
          <a:prstGeom prst="ellipse">
            <a:avLst/>
          </a:prstGeom>
          <a:solidFill>
            <a:srgbClr val="0E7C6B"/>
          </a:solidFill>
          <a:ln w="12700">
            <a:solidFill>
              <a:srgbClr val="0E7C6B"/>
            </a:solidFill>
            <a:prstDash val="solid"/>
          </a:ln>
        </p:spPr>
      </p:sp>
      <p:sp>
        <p:nvSpPr>
          <p:cNvPr id="25" name="Text 23"/>
          <p:cNvSpPr txBox="1"/>
          <p:nvPr/>
        </p:nvSpPr>
        <p:spPr>
          <a:xfrm>
            <a:off x="749808" y="5596128"/>
            <a:ext cx="6565392" cy="612648"/>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No significant gap → recommends the best price band and says so</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无显著缺口时，推荐最佳价格带并明确说明</a:t>
            </a:r>
            <a:endParaRPr lang="en-US" sz="1150" dirty="0"/>
          </a:p>
        </p:txBody>
      </p:sp>
      <p:sp>
        <p:nvSpPr>
          <p:cNvPr id="26" name="Shape 24"/>
          <p:cNvSpPr/>
          <p:nvPr/>
        </p:nvSpPr>
        <p:spPr>
          <a:xfrm>
            <a:off x="7680960" y="4297680"/>
            <a:ext cx="3977640" cy="1737360"/>
          </a:xfrm>
          <a:prstGeom prst="roundRect">
            <a:avLst>
              <a:gd name="adj" fmla="val 4211"/>
            </a:avLst>
          </a:prstGeom>
          <a:solidFill>
            <a:srgbClr val="FBF1DE"/>
          </a:solidFill>
          <a:ln w="12700">
            <a:solidFill>
              <a:srgbClr val="E9C98A"/>
            </a:solidFill>
            <a:prstDash val="solid"/>
          </a:ln>
        </p:spPr>
      </p:sp>
      <p:sp>
        <p:nvSpPr>
          <p:cNvPr id="27" name="Text 25"/>
          <p:cNvSpPr txBox="1"/>
          <p:nvPr/>
        </p:nvSpPr>
        <p:spPr>
          <a:xfrm>
            <a:off x="7863840" y="4389120"/>
            <a:ext cx="3657600" cy="1554480"/>
          </a:xfrm>
          <a:prstGeom prst="rect">
            <a:avLst/>
          </a:prstGeom>
          <a:noFill/>
          <a:ln/>
        </p:spPr>
        <p:txBody>
          <a:bodyPr wrap="square" lIns="0" tIns="0" rIns="0" bIns="0" rtlCol="0" anchor="t"/>
          <a:lstStyle/>
          <a:p>
            <a:pPr indent="0" marL="0">
              <a:buNone/>
            </a:pPr>
            <a:r>
              <a:rPr lang="en-US" sz="1200" b="1" dirty="0">
                <a:solidFill>
                  <a:srgbClr val="B7791F"/>
                </a:solidFill>
                <a:latin typeface="Calibri" pitchFamily="34" charset="0"/>
                <a:ea typeface="Calibri" pitchFamily="34" charset="-122"/>
                <a:cs typeface="Calibri" pitchFamily="34" charset="-120"/>
              </a:rPr>
              <a:t>Real result · dental_models</a:t>
            </a:r>
            <a:endParaRPr lang="en-US" sz="1200" dirty="0"/>
          </a:p>
          <a:p>
            <a:pPr indent="0" marL="0">
              <a:buNone/>
            </a:pPr>
            <a:r>
              <a:rPr lang="en-US" sz="1000" dirty="0">
                <a:solidFill>
                  <a:srgbClr val="B7791F"/>
                </a:solidFill>
                <a:latin typeface="Microsoft YaHei" pitchFamily="34" charset="0"/>
                <a:ea typeface="Microsoft YaHei" pitchFamily="34" charset="-122"/>
                <a:cs typeface="Microsoft YaHei" pitchFamily="34" charset="-120"/>
              </a:rPr>
              <a:t>真实结果</a:t>
            </a:r>
            <a:endParaRPr lang="en-US" sz="1200" dirty="0"/>
          </a:p>
          <a:p>
            <a:pPr indent="0" marL="0">
              <a:buNone/>
            </a:pPr>
            <a:r>
              <a:rPr lang="en-US" sz="1150" dirty="0">
                <a:solidFill>
                  <a:srgbClr val="16243A"/>
                </a:solidFill>
                <a:latin typeface="Calibri" pitchFamily="34" charset="0"/>
                <a:ea typeface="Calibri" pitchFamily="34" charset="-122"/>
                <a:cs typeface="Calibri" pitchFamily="34" charset="-120"/>
              </a:rPr>
              <a:t>“teaching”: lift 3.0× (1.43–5.11), q = 0.097, supply 72% → demand 89%; price $4.99–$16.99</a:t>
            </a:r>
            <a:endParaRPr lang="en-US" sz="1200" dirty="0"/>
          </a:p>
        </p:txBody>
      </p:sp>
      <p:sp>
        <p:nvSpPr>
          <p:cNvPr id="28" name="Text 26"/>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SIGNIFICANCE LAYER</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显著性层</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Alerts only for changes larger than the noise</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仅当变化超过噪声时才预警</a:t>
            </a:r>
            <a:endParaRPr lang="en-US" sz="1500" dirty="0"/>
          </a:p>
        </p:txBody>
      </p:sp>
      <p:sp>
        <p:nvSpPr>
          <p:cNvPr id="7" name="Text 5"/>
          <p:cNvSpPr txBox="1"/>
          <p:nvPr/>
        </p:nvSpPr>
        <p:spPr>
          <a:xfrm>
            <a:off x="548640" y="1691640"/>
            <a:ext cx="6675120" cy="1737360"/>
          </a:xfrm>
          <a:prstGeom prst="rect">
            <a:avLst/>
          </a:prstGeom>
          <a:solidFill>
            <a:srgbClr val="F4F6F9"/>
          </a:solidFill>
          <a:ln w="9525">
            <a:solidFill>
              <a:srgbClr val="DCE3EB"/>
            </a:solidFill>
          </a:ln>
        </p:spPr>
        <p:txBody>
          <a:bodyPr wrap="square" lIns="101600" tIns="101600" rIns="101600" bIns="101600" rtlCol="0" anchor="t"/>
          <a:lstStyle/>
          <a:p>
            <a:pPr indent="0" marL="0">
              <a:buNone/>
            </a:pPr>
            <a:r>
              <a:rPr lang="en-US" sz="1150" dirty="0">
                <a:solidFill>
                  <a:srgbClr val="16243A"/>
                </a:solidFill>
                <a:latin typeface="Courier New" pitchFamily="34" charset="0"/>
                <a:ea typeface="Courier New" pitchFamily="34" charset="-122"/>
                <a:cs typeface="Courier New" pitchFamily="34" charset="-120"/>
              </a:rPr>
              <a:t>se = (log hi − log lo) / (2 · 1.96)            # from each 95% interval</a:t>
            </a: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z  = (log after − log before) / √(se_before² + se_after²)</a:t>
            </a: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p  = 2 · (1 − Φ(|z|))</a:t>
            </a: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q  = Benjamini–Hochberg over all tests of the run</a:t>
            </a:r>
            <a:endParaRPr lang="en-US" sz="1150" dirty="0"/>
          </a:p>
          <a:p>
            <a:pPr indent="0" marL="0">
              <a:buNone/>
            </a:pPr>
            <a:r>
              <a:rPr lang="en-US" sz="1150" dirty="0">
                <a:solidFill>
                  <a:srgbClr val="16243A"/>
                </a:solidFill>
                <a:latin typeface="Courier New" pitchFamily="34" charset="0"/>
                <a:ea typeface="Courier New" pitchFamily="34" charset="-122"/>
                <a:cs typeface="Courier New" pitchFamily="34" charset="-120"/>
              </a:rPr>
              <a:t>significant  ⇔  q ≤ 0.05</a:t>
            </a:r>
            <a:endParaRPr lang="en-US" sz="1150" dirty="0"/>
          </a:p>
        </p:txBody>
      </p:sp>
      <p:sp>
        <p:nvSpPr>
          <p:cNvPr id="8" name="Text 6"/>
          <p:cNvSpPr txBox="1"/>
          <p:nvPr/>
        </p:nvSpPr>
        <p:spPr>
          <a:xfrm>
            <a:off x="548640" y="3657600"/>
            <a:ext cx="640080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TESTED EVENTS</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检验的事件</a:t>
            </a:r>
            <a:endParaRPr lang="en-US" sz="1000" dirty="0"/>
          </a:p>
        </p:txBody>
      </p:sp>
      <p:sp>
        <p:nvSpPr>
          <p:cNvPr id="9" name="Shape 7"/>
          <p:cNvSpPr/>
          <p:nvPr/>
        </p:nvSpPr>
        <p:spPr>
          <a:xfrm>
            <a:off x="548640" y="4059936"/>
            <a:ext cx="91440" cy="91440"/>
          </a:xfrm>
          <a:prstGeom prst="ellipse">
            <a:avLst/>
          </a:prstGeom>
          <a:solidFill>
            <a:srgbClr val="0E7C6B"/>
          </a:solidFill>
          <a:ln w="12700">
            <a:solidFill>
              <a:srgbClr val="0E7C6B"/>
            </a:solidFill>
            <a:prstDash val="solid"/>
          </a:ln>
        </p:spPr>
      </p:sp>
      <p:sp>
        <p:nvSpPr>
          <p:cNvPr id="10" name="Text 8"/>
          <p:cNvSpPr txBox="1"/>
          <p:nvPr/>
        </p:nvSpPr>
        <p:spPr>
          <a:xfrm>
            <a:off x="749808" y="3977640"/>
            <a:ext cx="6473952" cy="502920"/>
          </a:xfrm>
          <a:prstGeom prst="rect">
            <a:avLst/>
          </a:prstGeom>
          <a:noFill/>
          <a:ln/>
        </p:spPr>
        <p:txBody>
          <a:bodyPr wrap="square" lIns="0" tIns="0" rIns="0" bIns="0" rtlCol="0" anchor="t"/>
          <a:lstStyle/>
          <a:p>
            <a:pPr indent="0" marL="0">
              <a:spcAft>
                <a:spcPts val="100"/>
              </a:spcAft>
              <a:buNone/>
            </a:pPr>
            <a:r>
              <a:rPr lang="en-US" sz="1200" dirty="0">
                <a:solidFill>
                  <a:srgbClr val="16243A"/>
                </a:solidFill>
                <a:latin typeface="Calibri" pitchFamily="34" charset="0"/>
                <a:ea typeface="Calibri" pitchFamily="34" charset="-122"/>
                <a:cs typeface="Calibri" pitchFamily="34" charset="-120"/>
              </a:rPr>
              <a:t>Market size change (revenue estimate)</a:t>
            </a:r>
            <a:endParaRPr lang="en-US" sz="120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市场规模变化（销售额估计）</a:t>
            </a:r>
            <a:endParaRPr lang="en-US" sz="1200" dirty="0"/>
          </a:p>
        </p:txBody>
      </p:sp>
      <p:sp>
        <p:nvSpPr>
          <p:cNvPr id="11" name="Shape 9"/>
          <p:cNvSpPr/>
          <p:nvPr/>
        </p:nvSpPr>
        <p:spPr>
          <a:xfrm>
            <a:off x="548640" y="4608576"/>
            <a:ext cx="91440" cy="91440"/>
          </a:xfrm>
          <a:prstGeom prst="ellipse">
            <a:avLst/>
          </a:prstGeom>
          <a:solidFill>
            <a:srgbClr val="0E7C6B"/>
          </a:solidFill>
          <a:ln w="12700">
            <a:solidFill>
              <a:srgbClr val="0E7C6B"/>
            </a:solidFill>
            <a:prstDash val="solid"/>
          </a:ln>
        </p:spPr>
      </p:sp>
      <p:sp>
        <p:nvSpPr>
          <p:cNvPr id="12" name="Text 10"/>
          <p:cNvSpPr txBox="1"/>
          <p:nvPr/>
        </p:nvSpPr>
        <p:spPr>
          <a:xfrm>
            <a:off x="749808" y="4526280"/>
            <a:ext cx="6473952" cy="502920"/>
          </a:xfrm>
          <a:prstGeom prst="rect">
            <a:avLst/>
          </a:prstGeom>
          <a:noFill/>
          <a:ln/>
        </p:spPr>
        <p:txBody>
          <a:bodyPr wrap="square" lIns="0" tIns="0" rIns="0" bIns="0" rtlCol="0" anchor="t"/>
          <a:lstStyle/>
          <a:p>
            <a:pPr indent="0" marL="0">
              <a:spcAft>
                <a:spcPts val="100"/>
              </a:spcAft>
              <a:buNone/>
            </a:pPr>
            <a:r>
              <a:rPr lang="en-US" sz="1200" dirty="0">
                <a:solidFill>
                  <a:srgbClr val="16243A"/>
                </a:solidFill>
                <a:latin typeface="Calibri" pitchFamily="34" charset="0"/>
                <a:ea typeface="Calibri" pitchFamily="34" charset="-122"/>
                <a:cs typeface="Calibri" pitchFamily="34" charset="-120"/>
              </a:rPr>
              <a:t>Brand share change</a:t>
            </a:r>
            <a:endParaRPr lang="en-US" sz="120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品牌份额变化</a:t>
            </a:r>
            <a:endParaRPr lang="en-US" sz="1200" dirty="0"/>
          </a:p>
        </p:txBody>
      </p:sp>
      <p:sp>
        <p:nvSpPr>
          <p:cNvPr id="13" name="Shape 11"/>
          <p:cNvSpPr/>
          <p:nvPr/>
        </p:nvSpPr>
        <p:spPr>
          <a:xfrm>
            <a:off x="548640" y="5157216"/>
            <a:ext cx="91440" cy="91440"/>
          </a:xfrm>
          <a:prstGeom prst="ellipse">
            <a:avLst/>
          </a:prstGeom>
          <a:solidFill>
            <a:srgbClr val="0E7C6B"/>
          </a:solidFill>
          <a:ln w="12700">
            <a:solidFill>
              <a:srgbClr val="0E7C6B"/>
            </a:solidFill>
            <a:prstDash val="solid"/>
          </a:ln>
        </p:spPr>
      </p:sp>
      <p:sp>
        <p:nvSpPr>
          <p:cNvPr id="14" name="Text 12"/>
          <p:cNvSpPr txBox="1"/>
          <p:nvPr/>
        </p:nvSpPr>
        <p:spPr>
          <a:xfrm>
            <a:off x="749808" y="5074920"/>
            <a:ext cx="6473952" cy="502920"/>
          </a:xfrm>
          <a:prstGeom prst="rect">
            <a:avLst/>
          </a:prstGeom>
          <a:noFill/>
          <a:ln/>
        </p:spPr>
        <p:txBody>
          <a:bodyPr wrap="square" lIns="0" tIns="0" rIns="0" bIns="0" rtlCol="0" anchor="t"/>
          <a:lstStyle/>
          <a:p>
            <a:pPr indent="0" marL="0">
              <a:spcAft>
                <a:spcPts val="100"/>
              </a:spcAft>
              <a:buNone/>
            </a:pPr>
            <a:r>
              <a:rPr lang="en-US" sz="1200" dirty="0">
                <a:solidFill>
                  <a:srgbClr val="16243A"/>
                </a:solidFill>
                <a:latin typeface="Calibri" pitchFamily="34" charset="0"/>
                <a:ea typeface="Calibri" pitchFamily="34" charset="-122"/>
                <a:cs typeface="Calibri" pitchFamily="34" charset="-120"/>
              </a:rPr>
              <a:t>Sub-category demand shift (≥ 20%)</a:t>
            </a:r>
            <a:endParaRPr lang="en-US" sz="120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子类目需求变化（≥20%）</a:t>
            </a:r>
            <a:endParaRPr lang="en-US" sz="1200" dirty="0"/>
          </a:p>
        </p:txBody>
      </p:sp>
      <p:sp>
        <p:nvSpPr>
          <p:cNvPr id="15" name="Text 13"/>
          <p:cNvSpPr txBox="1"/>
          <p:nvPr/>
        </p:nvSpPr>
        <p:spPr>
          <a:xfrm>
            <a:off x="7589520" y="1691640"/>
            <a:ext cx="4023360" cy="237744"/>
          </a:xfrm>
          <a:prstGeom prst="rect">
            <a:avLst/>
          </a:prstGeom>
          <a:noFill/>
          <a:ln/>
        </p:spPr>
        <p:txBody>
          <a:bodyPr wrap="square" lIns="0" tIns="0" rIns="0" bIns="0" rtlCol="0" anchor="ctr"/>
          <a:lstStyle/>
          <a:p>
            <a:pPr indent="0" marL="0">
              <a:buNone/>
            </a:pPr>
            <a:r>
              <a:rPr lang="en-US" sz="1000" b="1" spc="200" kern="0" dirty="0">
                <a:solidFill>
                  <a:srgbClr val="B7791F"/>
                </a:solidFill>
                <a:latin typeface="Calibri" pitchFamily="34" charset="0"/>
                <a:ea typeface="Calibri" pitchFamily="34" charset="-122"/>
                <a:cs typeface="Calibri" pitchFamily="34" charset="-120"/>
              </a:rPr>
              <a:t>ROUTING</a:t>
            </a:r>
            <a:pPr indent="0" marL="0">
              <a:buNone/>
            </a:pPr>
            <a:r>
              <a:rPr lang="en-US" sz="1000" b="1" dirty="0">
                <a:solidFill>
                  <a:srgbClr val="B7791F"/>
                </a:solidFill>
                <a:latin typeface="Microsoft YaHei" pitchFamily="34" charset="0"/>
                <a:ea typeface="Microsoft YaHei" pitchFamily="34" charset="-122"/>
                <a:cs typeface="Microsoft YaHei" pitchFamily="34" charset="-120"/>
              </a:rPr>
              <a:t>  分发规则</a:t>
            </a:r>
            <a:endParaRPr lang="en-US" sz="1000" dirty="0"/>
          </a:p>
        </p:txBody>
      </p:sp>
      <p:sp>
        <p:nvSpPr>
          <p:cNvPr id="16" name="Shape 14"/>
          <p:cNvSpPr/>
          <p:nvPr/>
        </p:nvSpPr>
        <p:spPr>
          <a:xfrm>
            <a:off x="7589520" y="2093976"/>
            <a:ext cx="91440" cy="91440"/>
          </a:xfrm>
          <a:prstGeom prst="ellipse">
            <a:avLst/>
          </a:prstGeom>
          <a:solidFill>
            <a:srgbClr val="0E7C6B"/>
          </a:solidFill>
          <a:ln w="12700">
            <a:solidFill>
              <a:srgbClr val="0E7C6B"/>
            </a:solidFill>
            <a:prstDash val="solid"/>
          </a:ln>
        </p:spPr>
      </p:sp>
      <p:sp>
        <p:nvSpPr>
          <p:cNvPr id="17" name="Text 15"/>
          <p:cNvSpPr txBox="1"/>
          <p:nvPr/>
        </p:nvSpPr>
        <p:spPr>
          <a:xfrm>
            <a:off x="7790688" y="2011680"/>
            <a:ext cx="386791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Significant → alert to category owners; ≥ 50% change → “important”</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显著 → 通知类目负责人；变化 ≥50% 为“重要”</a:t>
            </a:r>
            <a:endParaRPr lang="en-US" sz="1150" dirty="0"/>
          </a:p>
        </p:txBody>
      </p:sp>
      <p:sp>
        <p:nvSpPr>
          <p:cNvPr id="18" name="Shape 16"/>
          <p:cNvSpPr/>
          <p:nvPr/>
        </p:nvSpPr>
        <p:spPr>
          <a:xfrm>
            <a:off x="7589520" y="2962656"/>
            <a:ext cx="91440" cy="91440"/>
          </a:xfrm>
          <a:prstGeom prst="ellipse">
            <a:avLst/>
          </a:prstGeom>
          <a:solidFill>
            <a:srgbClr val="0E7C6B"/>
          </a:solidFill>
          <a:ln w="12700">
            <a:solidFill>
              <a:srgbClr val="0E7C6B"/>
            </a:solidFill>
            <a:prstDash val="solid"/>
          </a:ln>
        </p:spPr>
      </p:sp>
      <p:sp>
        <p:nvSpPr>
          <p:cNvPr id="19" name="Text 17"/>
          <p:cNvSpPr txBox="1"/>
          <p:nvPr/>
        </p:nvSpPr>
        <p:spPr>
          <a:xfrm>
            <a:off x="7790688" y="2880360"/>
            <a:ext cx="386791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Not significant → kept as “info” in the event log, never routed</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不显著 → 在事件日志中保留为“信息”，不推送</a:t>
            </a:r>
            <a:endParaRPr lang="en-US" sz="1150" dirty="0"/>
          </a:p>
        </p:txBody>
      </p:sp>
      <p:sp>
        <p:nvSpPr>
          <p:cNvPr id="20" name="Shape 18"/>
          <p:cNvSpPr/>
          <p:nvPr/>
        </p:nvSpPr>
        <p:spPr>
          <a:xfrm>
            <a:off x="7589520" y="3831336"/>
            <a:ext cx="91440" cy="91440"/>
          </a:xfrm>
          <a:prstGeom prst="ellipse">
            <a:avLst/>
          </a:prstGeom>
          <a:solidFill>
            <a:srgbClr val="0E7C6B"/>
          </a:solidFill>
          <a:ln w="12700">
            <a:solidFill>
              <a:srgbClr val="0E7C6B"/>
            </a:solidFill>
            <a:prstDash val="solid"/>
          </a:ln>
        </p:spPr>
      </p:sp>
      <p:sp>
        <p:nvSpPr>
          <p:cNvPr id="21" name="Text 19"/>
          <p:cNvSpPr txBox="1"/>
          <p:nvPr/>
        </p:nvSpPr>
        <p:spPr>
          <a:xfrm>
            <a:off x="7790688" y="3749040"/>
            <a:ext cx="386791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Exact data (no uncertainty) → any change is certain</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精确数据（无不确定性）→ 任何变化都是确定的</a:t>
            </a:r>
            <a:endParaRPr lang="en-US" sz="1150" dirty="0"/>
          </a:p>
        </p:txBody>
      </p:sp>
      <p:sp>
        <p:nvSpPr>
          <p:cNvPr id="22" name="Shape 20"/>
          <p:cNvSpPr/>
          <p:nvPr/>
        </p:nvSpPr>
        <p:spPr>
          <a:xfrm>
            <a:off x="7589520" y="4700016"/>
            <a:ext cx="91440" cy="91440"/>
          </a:xfrm>
          <a:prstGeom prst="ellipse">
            <a:avLst/>
          </a:prstGeom>
          <a:solidFill>
            <a:srgbClr val="0E7C6B"/>
          </a:solidFill>
          <a:ln w="12700">
            <a:solidFill>
              <a:srgbClr val="0E7C6B"/>
            </a:solidFill>
            <a:prstDash val="solid"/>
          </a:ln>
        </p:spPr>
      </p:sp>
      <p:sp>
        <p:nvSpPr>
          <p:cNvPr id="23" name="Text 21"/>
          <p:cNvSpPr txBox="1"/>
          <p:nvPr/>
        </p:nvSpPr>
        <p:spPr>
          <a:xfrm>
            <a:off x="7790688" y="4617720"/>
            <a:ext cx="386791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Log scale: positive quantities, asymmetric intervals</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对数尺度：正值量、非对称区间</a:t>
            </a:r>
            <a:endParaRPr lang="en-US" sz="1150" dirty="0"/>
          </a:p>
        </p:txBody>
      </p:sp>
      <p:sp>
        <p:nvSpPr>
          <p:cNvPr id="24" name="Text 22"/>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GROWTH &amp; FORECAST</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增长与预测</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Random-effects log-linear trend across snapshots</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跨快照的随机效应对数线性趋势</a:t>
            </a:r>
            <a:endParaRPr lang="en-US" sz="1500" dirty="0"/>
          </a:p>
        </p:txBody>
      </p:sp>
      <p:sp>
        <p:nvSpPr>
          <p:cNvPr id="7" name="Text 5"/>
          <p:cNvSpPr txBox="1"/>
          <p:nvPr/>
        </p:nvSpPr>
        <p:spPr>
          <a:xfrm>
            <a:off x="548640" y="1691640"/>
            <a:ext cx="6949440" cy="2834640"/>
          </a:xfrm>
          <a:prstGeom prst="rect">
            <a:avLst/>
          </a:prstGeom>
          <a:solidFill>
            <a:srgbClr val="F4F6F9"/>
          </a:solidFill>
          <a:ln w="9525">
            <a:solidFill>
              <a:srgbClr val="DCE3EB"/>
            </a:solidFill>
          </a:ln>
        </p:spPr>
        <p:txBody>
          <a:bodyPr wrap="square" lIns="101600" tIns="101600" rIns="101600" bIns="101600" rtlCol="0" anchor="t"/>
          <a:lstStyle/>
          <a:p>
            <a:pPr indent="0" marL="0">
              <a:buNone/>
            </a:pPr>
            <a:r>
              <a:rPr lang="en-US" sz="1100" dirty="0">
                <a:solidFill>
                  <a:srgbClr val="16243A"/>
                </a:solidFill>
                <a:latin typeface="Courier New" pitchFamily="34" charset="0"/>
                <a:ea typeface="Courier New" pitchFamily="34" charset="-122"/>
                <a:cs typeface="Courier New" pitchFamily="34" charset="-120"/>
              </a:rPr>
              <a:t>log yᵢ = a + b·tᵢ + uᵢ + eᵢ          tᵢ = days / 30.4375</a:t>
            </a:r>
            <a:endParaRPr lang="en-US" sz="1100" dirty="0"/>
          </a:p>
          <a:p>
            <a:pPr indent="0" marL="0">
              <a:buNone/>
            </a:pPr>
            <a:r>
              <a:rPr lang="en-US" sz="1100" dirty="0">
                <a:solidFill>
                  <a:srgbClr val="16243A"/>
                </a:solidFill>
                <a:latin typeface="Courier New" pitchFamily="34" charset="0"/>
                <a:ea typeface="Courier New" pitchFamily="34" charset="-122"/>
                <a:cs typeface="Courier New" pitchFamily="34" charset="-120"/>
              </a:rPr>
              <a:t>eᵢ ~ N(0, sᵢ²)   sᵢ = (log hiᵢ − log loᵢ)/(2·1.96), ≥ 0.01</a:t>
            </a:r>
            <a:endParaRPr lang="en-US" sz="1100" dirty="0"/>
          </a:p>
          <a:p>
            <a:pPr indent="0" marL="0">
              <a:buNone/>
            </a:pPr>
            <a:r>
              <a:rPr lang="en-US" sz="1100" dirty="0">
                <a:solidFill>
                  <a:srgbClr val="16243A"/>
                </a:solidFill>
                <a:latin typeface="Courier New" pitchFamily="34" charset="0"/>
                <a:ea typeface="Courier New" pitchFamily="34" charset="-122"/>
                <a:cs typeface="Courier New" pitchFamily="34" charset="-120"/>
              </a:rPr>
              <a:t>uᵢ ~ N(0, τ²)    real month-to-month variation</a:t>
            </a:r>
            <a:endParaRPr lang="en-US" sz="1100" dirty="0"/>
          </a:p>
          <a:p>
            <a:pPr indent="0" marL="0">
              <a:buNone/>
            </a:pPr>
            <a:endParaRPr lang="en-US" sz="1100" dirty="0"/>
          </a:p>
          <a:p>
            <a:pPr indent="0" marL="0">
              <a:buNone/>
            </a:pPr>
            <a:r>
              <a:rPr lang="en-US" sz="1100" dirty="0">
                <a:solidFill>
                  <a:srgbClr val="16243A"/>
                </a:solidFill>
                <a:latin typeface="Courier New" pitchFamily="34" charset="0"/>
                <a:ea typeface="Courier New" pitchFamily="34" charset="-122"/>
                <a:cs typeface="Courier New" pitchFamily="34" charset="-120"/>
              </a:rPr>
              <a:t>τ²   : method of moments (DerSimonian–Laird for regression), ≥ 0</a:t>
            </a:r>
            <a:endParaRPr lang="en-US" sz="1100" dirty="0"/>
          </a:p>
          <a:p>
            <a:pPr indent="0" marL="0">
              <a:buNone/>
            </a:pPr>
            <a:r>
              <a:rPr lang="en-US" sz="1100" dirty="0">
                <a:solidFill>
                  <a:srgbClr val="16243A"/>
                </a:solidFill>
                <a:latin typeface="Courier New" pitchFamily="34" charset="0"/>
                <a:ea typeface="Courier New" pitchFamily="34" charset="-122"/>
                <a:cs typeface="Courier New" pitchFamily="34" charset="-120"/>
              </a:rPr>
              <a:t>β    : weighted least squares, wᵢ = 1/(sᵢ² + τ²)</a:t>
            </a:r>
            <a:endParaRPr lang="en-US" sz="1100" dirty="0"/>
          </a:p>
          <a:p>
            <a:pPr indent="0" marL="0">
              <a:buNone/>
            </a:pPr>
            <a:r>
              <a:rPr lang="en-US" sz="1100" dirty="0">
                <a:solidFill>
                  <a:srgbClr val="16243A"/>
                </a:solidFill>
                <a:latin typeface="Courier New" pitchFamily="34" charset="0"/>
                <a:ea typeface="Courier New" pitchFamily="34" charset="-122"/>
                <a:cs typeface="Courier New" pitchFamily="34" charset="-120"/>
              </a:rPr>
              <a:t>growth/month = eᵇ − 1,  t-interval on n − 2 df,  test b = 0</a:t>
            </a:r>
            <a:endParaRPr lang="en-US" sz="1100" dirty="0"/>
          </a:p>
          <a:p>
            <a:pPr indent="0" marL="0">
              <a:buNone/>
            </a:pPr>
            <a:r>
              <a:rPr lang="en-US" sz="1100" dirty="0">
                <a:solidFill>
                  <a:srgbClr val="16243A"/>
                </a:solidFill>
                <a:latin typeface="Courier New" pitchFamily="34" charset="0"/>
                <a:ea typeface="Courier New" pitchFamily="34" charset="-122"/>
                <a:cs typeface="Courier New" pitchFamily="34" charset="-120"/>
              </a:rPr>
              <a:t>forecast h : a + b(t_last + h),  var = xᵀ Cov x + τ²</a:t>
            </a:r>
            <a:endParaRPr lang="en-US" sz="1100" dirty="0"/>
          </a:p>
        </p:txBody>
      </p:sp>
      <p:sp>
        <p:nvSpPr>
          <p:cNvPr id="8" name="Text 6"/>
          <p:cNvSpPr txBox="1"/>
          <p:nvPr/>
        </p:nvSpPr>
        <p:spPr>
          <a:xfrm>
            <a:off x="7863840" y="1691640"/>
            <a:ext cx="384048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EXECUTION</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执行</a:t>
            </a:r>
            <a:endParaRPr lang="en-US" sz="1000" dirty="0"/>
          </a:p>
        </p:txBody>
      </p:sp>
      <p:sp>
        <p:nvSpPr>
          <p:cNvPr id="9" name="Shape 7"/>
          <p:cNvSpPr/>
          <p:nvPr/>
        </p:nvSpPr>
        <p:spPr>
          <a:xfrm>
            <a:off x="7863840" y="2093976"/>
            <a:ext cx="91440" cy="91440"/>
          </a:xfrm>
          <a:prstGeom prst="ellipse">
            <a:avLst/>
          </a:prstGeom>
          <a:solidFill>
            <a:srgbClr val="0E7C6B"/>
          </a:solidFill>
          <a:ln w="12700">
            <a:solidFill>
              <a:srgbClr val="0E7C6B"/>
            </a:solidFill>
            <a:prstDash val="solid"/>
          </a:ln>
        </p:spPr>
      </p:sp>
      <p:sp>
        <p:nvSpPr>
          <p:cNvPr id="10" name="Text 8"/>
          <p:cNvSpPr txBox="1"/>
          <p:nvPr/>
        </p:nvSpPr>
        <p:spPr>
          <a:xfrm>
            <a:off x="8065008" y="2011680"/>
            <a:ext cx="3639312" cy="82296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Each upload appends market + sub-category estimates to revenue_history (keyed by snapshot date; re-upload replaces)</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每次上传把市场与子类目估计写入 revenue_history（按快照日期，重传则替换）</a:t>
            </a:r>
            <a:endParaRPr lang="en-US" sz="1100" dirty="0"/>
          </a:p>
        </p:txBody>
      </p:sp>
      <p:sp>
        <p:nvSpPr>
          <p:cNvPr id="11" name="Shape 9"/>
          <p:cNvSpPr/>
          <p:nvPr/>
        </p:nvSpPr>
        <p:spPr>
          <a:xfrm>
            <a:off x="7863840" y="2962656"/>
            <a:ext cx="91440" cy="91440"/>
          </a:xfrm>
          <a:prstGeom prst="ellipse">
            <a:avLst/>
          </a:prstGeom>
          <a:solidFill>
            <a:srgbClr val="0E7C6B"/>
          </a:solidFill>
          <a:ln w="12700">
            <a:solidFill>
              <a:srgbClr val="0E7C6B"/>
            </a:solidFill>
            <a:prstDash val="solid"/>
          </a:ln>
        </p:spPr>
      </p:sp>
      <p:sp>
        <p:nvSpPr>
          <p:cNvPr id="12" name="Text 10"/>
          <p:cNvSpPr txBox="1"/>
          <p:nvPr/>
        </p:nvSpPr>
        <p:spPr>
          <a:xfrm>
            <a:off x="8065008" y="2880360"/>
            <a:ext cx="3639312" cy="82296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&lt; 3 periods → status needs_snapshots; nothing fitted</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少于 3 期 → 状态为需要更多快照，不拟合</a:t>
            </a:r>
            <a:endParaRPr lang="en-US" sz="1100" dirty="0"/>
          </a:p>
        </p:txBody>
      </p:sp>
      <p:sp>
        <p:nvSpPr>
          <p:cNvPr id="13" name="Shape 11"/>
          <p:cNvSpPr/>
          <p:nvPr/>
        </p:nvSpPr>
        <p:spPr>
          <a:xfrm>
            <a:off x="7863840" y="3831336"/>
            <a:ext cx="91440" cy="91440"/>
          </a:xfrm>
          <a:prstGeom prst="ellipse">
            <a:avLst/>
          </a:prstGeom>
          <a:solidFill>
            <a:srgbClr val="0E7C6B"/>
          </a:solidFill>
          <a:ln w="12700">
            <a:solidFill>
              <a:srgbClr val="0E7C6B"/>
            </a:solidFill>
            <a:prstDash val="solid"/>
          </a:ln>
        </p:spPr>
      </p:sp>
      <p:sp>
        <p:nvSpPr>
          <p:cNvPr id="14" name="Text 12"/>
          <p:cNvSpPr txBox="1"/>
          <p:nvPr/>
        </p:nvSpPr>
        <p:spPr>
          <a:xfrm>
            <a:off x="8065008" y="3749040"/>
            <a:ext cx="3639312" cy="82296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Sub-categories matched across runs by label</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子类目按名称跨期匹配</a:t>
            </a:r>
            <a:endParaRPr lang="en-US" sz="1100" dirty="0"/>
          </a:p>
        </p:txBody>
      </p:sp>
      <p:sp>
        <p:nvSpPr>
          <p:cNvPr id="15" name="Shape 13"/>
          <p:cNvSpPr/>
          <p:nvPr/>
        </p:nvSpPr>
        <p:spPr>
          <a:xfrm>
            <a:off x="7863840" y="4700016"/>
            <a:ext cx="91440" cy="91440"/>
          </a:xfrm>
          <a:prstGeom prst="ellipse">
            <a:avLst/>
          </a:prstGeom>
          <a:solidFill>
            <a:srgbClr val="0E7C6B"/>
          </a:solidFill>
          <a:ln w="12700">
            <a:solidFill>
              <a:srgbClr val="0E7C6B"/>
            </a:solidFill>
            <a:prstDash val="solid"/>
          </a:ln>
        </p:spPr>
      </p:sp>
      <p:sp>
        <p:nvSpPr>
          <p:cNvPr id="16" name="Text 14"/>
          <p:cNvSpPr txBox="1"/>
          <p:nvPr/>
        </p:nvSpPr>
        <p:spPr>
          <a:xfrm>
            <a:off x="8065008" y="4617720"/>
            <a:ext cx="3639312" cy="82296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Horizon &gt; observed span → beyond_span ⚠</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预测期超出历史跨度 → 标记 ⚠</a:t>
            </a:r>
            <a:endParaRPr lang="en-US" sz="1100" dirty="0"/>
          </a:p>
        </p:txBody>
      </p:sp>
      <p:sp>
        <p:nvSpPr>
          <p:cNvPr id="17" name="Text 15"/>
          <p:cNvSpPr txBox="1"/>
          <p:nvPr/>
        </p:nvSpPr>
        <p:spPr>
          <a:xfrm>
            <a:off x="548640" y="4754880"/>
            <a:ext cx="6400800" cy="237744"/>
          </a:xfrm>
          <a:prstGeom prst="rect">
            <a:avLst/>
          </a:prstGeom>
          <a:noFill/>
          <a:ln/>
        </p:spPr>
        <p:txBody>
          <a:bodyPr wrap="square" lIns="0" tIns="0" rIns="0" bIns="0" rtlCol="0" anchor="ctr"/>
          <a:lstStyle/>
          <a:p>
            <a:pPr indent="0" marL="0">
              <a:buNone/>
            </a:pPr>
            <a:r>
              <a:rPr lang="en-US" sz="1000" b="1" spc="200" kern="0" dirty="0">
                <a:solidFill>
                  <a:srgbClr val="B7791F"/>
                </a:solidFill>
                <a:latin typeface="Calibri" pitchFamily="34" charset="0"/>
                <a:ea typeface="Calibri" pitchFamily="34" charset="-122"/>
                <a:cs typeface="Calibri" pitchFamily="34" charset="-120"/>
              </a:rPr>
              <a:t>VALIDATION</a:t>
            </a:r>
            <a:pPr indent="0" marL="0">
              <a:buNone/>
            </a:pPr>
            <a:r>
              <a:rPr lang="en-US" sz="1000" b="1" dirty="0">
                <a:solidFill>
                  <a:srgbClr val="B7791F"/>
                </a:solidFill>
                <a:latin typeface="Microsoft YaHei" pitchFamily="34" charset="0"/>
                <a:ea typeface="Microsoft YaHei" pitchFamily="34" charset="-122"/>
                <a:cs typeface="Microsoft YaHei" pitchFamily="34" charset="-120"/>
              </a:rPr>
              <a:t>  验证</a:t>
            </a:r>
            <a:endParaRPr lang="en-US" sz="1000" dirty="0"/>
          </a:p>
        </p:txBody>
      </p:sp>
      <p:sp>
        <p:nvSpPr>
          <p:cNvPr id="18" name="Shape 16"/>
          <p:cNvSpPr/>
          <p:nvPr/>
        </p:nvSpPr>
        <p:spPr>
          <a:xfrm>
            <a:off x="548640" y="5157216"/>
            <a:ext cx="91440" cy="91440"/>
          </a:xfrm>
          <a:prstGeom prst="ellipse">
            <a:avLst/>
          </a:prstGeom>
          <a:solidFill>
            <a:srgbClr val="0E7C6B"/>
          </a:solidFill>
          <a:ln w="12700">
            <a:solidFill>
              <a:srgbClr val="0E7C6B"/>
            </a:solidFill>
            <a:prstDash val="solid"/>
          </a:ln>
        </p:spPr>
      </p:sp>
      <p:sp>
        <p:nvSpPr>
          <p:cNvPr id="19" name="Text 17"/>
          <p:cNvSpPr txBox="1"/>
          <p:nvPr/>
        </p:nvSpPr>
        <p:spPr>
          <a:xfrm>
            <a:off x="749808" y="5074920"/>
            <a:ext cx="6748272" cy="685800"/>
          </a:xfrm>
          <a:prstGeom prst="rect">
            <a:avLst/>
          </a:prstGeom>
          <a:noFill/>
          <a:ln/>
        </p:spPr>
        <p:txBody>
          <a:bodyPr wrap="square" lIns="0" tIns="0" rIns="0" bIns="0" rtlCol="0" anchor="t"/>
          <a:lstStyle/>
          <a:p>
            <a:pPr indent="0" marL="0">
              <a:spcAft>
                <a:spcPts val="100"/>
              </a:spcAft>
              <a:buNone/>
            </a:pPr>
            <a:r>
              <a:rPr lang="en-US" sz="1200" dirty="0">
                <a:solidFill>
                  <a:srgbClr val="16243A"/>
                </a:solidFill>
                <a:latin typeface="Calibri" pitchFamily="34" charset="0"/>
                <a:ea typeface="Calibri" pitchFamily="34" charset="-122"/>
                <a:cs typeface="Calibri" pitchFamily="34" charset="-120"/>
              </a:rPr>
              <a:t>Simulated series (n = 4–12, τ = 0–0.15): growth and forecast intervals covered the truth 96–100% (nominal 95%)</a:t>
            </a:r>
            <a:endParaRPr lang="en-US" sz="1200" dirty="0"/>
          </a:p>
          <a:p>
            <a:pPr indent="0" marL="0">
              <a:spcAft>
                <a:spcPts val="100"/>
              </a:spcAft>
              <a:buNone/>
            </a:pPr>
            <a:r>
              <a:rPr lang="en-US" sz="1050" dirty="0">
                <a:solidFill>
                  <a:srgbClr val="6A7890"/>
                </a:solidFill>
                <a:latin typeface="Microsoft YaHei" pitchFamily="34" charset="0"/>
                <a:ea typeface="Microsoft YaHei" pitchFamily="34" charset="-122"/>
                <a:cs typeface="Microsoft YaHei" pitchFamily="34" charset="-120"/>
              </a:rPr>
              <a:t>模拟序列（n=4–12，τ=0–0.15）：增长与预测区间覆盖真值 96–100%（名义 95%）</a:t>
            </a:r>
            <a:endParaRPr lang="en-US" sz="1200" dirty="0"/>
          </a:p>
        </p:txBody>
      </p:sp>
      <p:sp>
        <p:nvSpPr>
          <p:cNvPr id="20" name="Text 18"/>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LAUNCH SIMULATOR</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上市模拟器</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Simulating a product that doesn't exist yet</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对尚未存在产品的后验预测模拟</a:t>
            </a:r>
            <a:endParaRPr lang="en-US" sz="1500" dirty="0"/>
          </a:p>
        </p:txBody>
      </p:sp>
      <p:sp>
        <p:nvSpPr>
          <p:cNvPr id="7" name="Shape 5"/>
          <p:cNvSpPr/>
          <p:nvPr/>
        </p:nvSpPr>
        <p:spPr>
          <a:xfrm>
            <a:off x="548640" y="1691640"/>
            <a:ext cx="2148840" cy="603504"/>
          </a:xfrm>
          <a:prstGeom prst="roundRect">
            <a:avLst>
              <a:gd name="adj" fmla="val 10606"/>
            </a:avLst>
          </a:prstGeom>
          <a:solidFill>
            <a:srgbClr val="FFFFFF"/>
          </a:solidFill>
          <a:ln w="12700">
            <a:solidFill>
              <a:srgbClr val="DCE3EB"/>
            </a:solidFill>
            <a:prstDash val="solid"/>
          </a:ln>
        </p:spPr>
      </p:sp>
      <p:sp>
        <p:nvSpPr>
          <p:cNvPr id="8" name="Text 6"/>
          <p:cNvSpPr txBox="1"/>
          <p:nvPr/>
        </p:nvSpPr>
        <p:spPr>
          <a:xfrm>
            <a:off x="640080" y="1691640"/>
            <a:ext cx="1965960" cy="603504"/>
          </a:xfrm>
          <a:prstGeom prst="rect">
            <a:avLst/>
          </a:prstGeom>
          <a:noFill/>
          <a:ln/>
        </p:spPr>
        <p:txBody>
          <a:bodyPr wrap="square" lIns="0" tIns="0" rIns="0" bIns="0" rtlCol="0" anchor="ctr"/>
          <a:lstStyle/>
          <a:p>
            <a:pPr algn="l" indent="0" marL="0">
              <a:buNone/>
            </a:pPr>
            <a:r>
              <a:rPr lang="en-US" sz="1200" b="1" dirty="0">
                <a:solidFill>
                  <a:srgbClr val="16243A"/>
                </a:solidFill>
                <a:latin typeface="Calibri" pitchFamily="34" charset="0"/>
                <a:ea typeface="Calibri" pitchFamily="34" charset="-122"/>
                <a:cs typeface="Calibri" pitchFamily="34" charset="-120"/>
              </a:rPr>
              <a:t>Model card</a:t>
            </a:r>
            <a:endParaRPr lang="en-US" sz="120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模型卡</a:t>
            </a:r>
            <a:endParaRPr lang="en-US" sz="1200" dirty="0"/>
          </a:p>
        </p:txBody>
      </p:sp>
      <p:sp>
        <p:nvSpPr>
          <p:cNvPr id="9" name="Text 7"/>
          <p:cNvSpPr txBox="1"/>
          <p:nvPr/>
        </p:nvSpPr>
        <p:spPr>
          <a:xfrm>
            <a:off x="2834640" y="1691640"/>
            <a:ext cx="4297680" cy="60350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stored after fitting: β, σ, family, bootstrap sets, covariate scaling, as_of</a:t>
            </a:r>
            <a:endParaRPr lang="en-US" sz="1150" dirty="0"/>
          </a:p>
        </p:txBody>
      </p:sp>
      <p:sp>
        <p:nvSpPr>
          <p:cNvPr id="10" name="Shape 8"/>
          <p:cNvSpPr/>
          <p:nvPr/>
        </p:nvSpPr>
        <p:spPr>
          <a:xfrm>
            <a:off x="548640" y="2404872"/>
            <a:ext cx="2148840" cy="603504"/>
          </a:xfrm>
          <a:prstGeom prst="roundRect">
            <a:avLst>
              <a:gd name="adj" fmla="val 10606"/>
            </a:avLst>
          </a:prstGeom>
          <a:solidFill>
            <a:srgbClr val="FFFFFF"/>
          </a:solidFill>
          <a:ln w="12700">
            <a:solidFill>
              <a:srgbClr val="DCE3EB"/>
            </a:solidFill>
            <a:prstDash val="solid"/>
          </a:ln>
        </p:spPr>
      </p:sp>
      <p:sp>
        <p:nvSpPr>
          <p:cNvPr id="11" name="Text 9"/>
          <p:cNvSpPr txBox="1"/>
          <p:nvPr/>
        </p:nvSpPr>
        <p:spPr>
          <a:xfrm>
            <a:off x="640080" y="2404872"/>
            <a:ext cx="1965960" cy="603504"/>
          </a:xfrm>
          <a:prstGeom prst="rect">
            <a:avLst/>
          </a:prstGeom>
          <a:noFill/>
          <a:ln/>
        </p:spPr>
        <p:txBody>
          <a:bodyPr wrap="square" lIns="0" tIns="0" rIns="0" bIns="0" rtlCol="0" anchor="ctr"/>
          <a:lstStyle/>
          <a:p>
            <a:pPr algn="l" indent="0" marL="0">
              <a:buNone/>
            </a:pPr>
            <a:r>
              <a:rPr lang="en-US" sz="1200" b="1" dirty="0">
                <a:solidFill>
                  <a:srgbClr val="16243A"/>
                </a:solidFill>
                <a:latin typeface="Calibri" pitchFamily="34" charset="0"/>
                <a:ea typeface="Calibri" pitchFamily="34" charset="-122"/>
                <a:cs typeface="Calibri" pitchFamily="34" charset="-120"/>
              </a:rPr>
              <a:t>Placement</a:t>
            </a:r>
            <a:endParaRPr lang="en-US" sz="120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定位</a:t>
            </a:r>
            <a:endParaRPr lang="en-US" sz="1200" dirty="0"/>
          </a:p>
        </p:txBody>
      </p:sp>
      <p:sp>
        <p:nvSpPr>
          <p:cNvPr id="12" name="Text 10"/>
          <p:cNvSpPr txBox="1"/>
          <p:nvPr/>
        </p:nvSpPr>
        <p:spPr>
          <a:xfrm>
            <a:off x="2834640" y="2404872"/>
            <a:ext cx="4297680" cy="60350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idea text → nearest listings by similarity → segment; low similarity → risk</a:t>
            </a:r>
            <a:endParaRPr lang="en-US" sz="1150" dirty="0"/>
          </a:p>
        </p:txBody>
      </p:sp>
      <p:sp>
        <p:nvSpPr>
          <p:cNvPr id="13" name="Shape 11"/>
          <p:cNvSpPr/>
          <p:nvPr/>
        </p:nvSpPr>
        <p:spPr>
          <a:xfrm>
            <a:off x="548640" y="3118104"/>
            <a:ext cx="2148840" cy="603504"/>
          </a:xfrm>
          <a:prstGeom prst="roundRect">
            <a:avLst>
              <a:gd name="adj" fmla="val 10606"/>
            </a:avLst>
          </a:prstGeom>
          <a:solidFill>
            <a:srgbClr val="FFFFFF"/>
          </a:solidFill>
          <a:ln w="12700">
            <a:solidFill>
              <a:srgbClr val="DCE3EB"/>
            </a:solidFill>
            <a:prstDash val="solid"/>
          </a:ln>
        </p:spPr>
      </p:sp>
      <p:sp>
        <p:nvSpPr>
          <p:cNvPr id="14" name="Text 12"/>
          <p:cNvSpPr txBox="1"/>
          <p:nvPr/>
        </p:nvSpPr>
        <p:spPr>
          <a:xfrm>
            <a:off x="640080" y="3118104"/>
            <a:ext cx="1965960" cy="603504"/>
          </a:xfrm>
          <a:prstGeom prst="rect">
            <a:avLst/>
          </a:prstGeom>
          <a:noFill/>
          <a:ln/>
        </p:spPr>
        <p:txBody>
          <a:bodyPr wrap="square" lIns="0" tIns="0" rIns="0" bIns="0" rtlCol="0" anchor="ctr"/>
          <a:lstStyle/>
          <a:p>
            <a:pPr algn="l" indent="0" marL="0">
              <a:buNone/>
            </a:pPr>
            <a:r>
              <a:rPr lang="en-US" sz="1200" b="1" dirty="0">
                <a:solidFill>
                  <a:srgbClr val="16243A"/>
                </a:solidFill>
                <a:latin typeface="Calibri" pitchFamily="34" charset="0"/>
                <a:ea typeface="Calibri" pitchFamily="34" charset="-122"/>
                <a:cs typeface="Calibri" pitchFamily="34" charset="-120"/>
              </a:rPr>
              <a:t>Segment offset</a:t>
            </a:r>
            <a:endParaRPr lang="en-US" sz="120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细分偏移</a:t>
            </a:r>
            <a:endParaRPr lang="en-US" sz="1200" dirty="0"/>
          </a:p>
        </p:txBody>
      </p:sp>
      <p:sp>
        <p:nvSpPr>
          <p:cNvPr id="15" name="Text 13"/>
          <p:cNvSpPr txBox="1"/>
          <p:nvPr/>
        </p:nvSpPr>
        <p:spPr>
          <a:xfrm>
            <a:off x="2834640" y="3118104"/>
            <a:ext cx="4297680" cy="60350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shrunk mean log-residual of the segment vs the market</a:t>
            </a:r>
            <a:endParaRPr lang="en-US" sz="1150" dirty="0"/>
          </a:p>
        </p:txBody>
      </p:sp>
      <p:sp>
        <p:nvSpPr>
          <p:cNvPr id="16" name="Shape 14"/>
          <p:cNvSpPr/>
          <p:nvPr/>
        </p:nvSpPr>
        <p:spPr>
          <a:xfrm>
            <a:off x="548640" y="3831336"/>
            <a:ext cx="2148840" cy="603504"/>
          </a:xfrm>
          <a:prstGeom prst="roundRect">
            <a:avLst>
              <a:gd name="adj" fmla="val 10606"/>
            </a:avLst>
          </a:prstGeom>
          <a:solidFill>
            <a:srgbClr val="FFFFFF"/>
          </a:solidFill>
          <a:ln w="12700">
            <a:solidFill>
              <a:srgbClr val="DCE3EB"/>
            </a:solidFill>
            <a:prstDash val="solid"/>
          </a:ln>
        </p:spPr>
      </p:sp>
      <p:sp>
        <p:nvSpPr>
          <p:cNvPr id="17" name="Text 15"/>
          <p:cNvSpPr txBox="1"/>
          <p:nvPr/>
        </p:nvSpPr>
        <p:spPr>
          <a:xfrm>
            <a:off x="640080" y="3831336"/>
            <a:ext cx="1965960" cy="603504"/>
          </a:xfrm>
          <a:prstGeom prst="rect">
            <a:avLst/>
          </a:prstGeom>
          <a:noFill/>
          <a:ln/>
        </p:spPr>
        <p:txBody>
          <a:bodyPr wrap="square" lIns="0" tIns="0" rIns="0" bIns="0" rtlCol="0" anchor="ctr"/>
          <a:lstStyle/>
          <a:p>
            <a:pPr algn="l" indent="0" marL="0">
              <a:buNone/>
            </a:pPr>
            <a:r>
              <a:rPr lang="en-US" sz="1200" b="1" dirty="0">
                <a:solidFill>
                  <a:srgbClr val="16243A"/>
                </a:solidFill>
                <a:latin typeface="Calibri" pitchFamily="34" charset="0"/>
                <a:ea typeface="Calibri" pitchFamily="34" charset="-122"/>
                <a:cs typeface="Calibri" pitchFamily="34" charset="-120"/>
              </a:rPr>
              <a:t>Covariates</a:t>
            </a:r>
            <a:endParaRPr lang="en-US" sz="120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协变量</a:t>
            </a:r>
            <a:endParaRPr lang="en-US" sz="1200" dirty="0"/>
          </a:p>
        </p:txBody>
      </p:sp>
      <p:sp>
        <p:nvSpPr>
          <p:cNvPr id="18" name="Text 16"/>
          <p:cNvSpPr txBox="1"/>
          <p:nvPr/>
        </p:nvSpPr>
        <p:spPr>
          <a:xfrm>
            <a:off x="2834640" y="3831336"/>
            <a:ext cx="4297680" cy="60350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given price; rating = given or segment median (stated); default age</a:t>
            </a:r>
            <a:endParaRPr lang="en-US" sz="1150" dirty="0"/>
          </a:p>
        </p:txBody>
      </p:sp>
      <p:sp>
        <p:nvSpPr>
          <p:cNvPr id="19" name="Shape 17"/>
          <p:cNvSpPr/>
          <p:nvPr/>
        </p:nvSpPr>
        <p:spPr>
          <a:xfrm>
            <a:off x="548640" y="4544568"/>
            <a:ext cx="2148840" cy="603504"/>
          </a:xfrm>
          <a:prstGeom prst="roundRect">
            <a:avLst>
              <a:gd name="adj" fmla="val 10606"/>
            </a:avLst>
          </a:prstGeom>
          <a:solidFill>
            <a:srgbClr val="E3F2EF"/>
          </a:solidFill>
          <a:ln w="12700">
            <a:solidFill>
              <a:srgbClr val="0E7C6B"/>
            </a:solidFill>
            <a:prstDash val="solid"/>
          </a:ln>
        </p:spPr>
      </p:sp>
      <p:sp>
        <p:nvSpPr>
          <p:cNvPr id="20" name="Text 18"/>
          <p:cNvSpPr txBox="1"/>
          <p:nvPr/>
        </p:nvSpPr>
        <p:spPr>
          <a:xfrm>
            <a:off x="640080" y="4544568"/>
            <a:ext cx="1965960" cy="603504"/>
          </a:xfrm>
          <a:prstGeom prst="rect">
            <a:avLst/>
          </a:prstGeom>
          <a:noFill/>
          <a:ln/>
        </p:spPr>
        <p:txBody>
          <a:bodyPr wrap="square" lIns="0" tIns="0" rIns="0" bIns="0" rtlCol="0" anchor="ctr"/>
          <a:lstStyle/>
          <a:p>
            <a:pPr algn="l" indent="0" marL="0">
              <a:buNone/>
            </a:pPr>
            <a:r>
              <a:rPr lang="en-US" sz="1200" b="1" dirty="0">
                <a:solidFill>
                  <a:srgbClr val="16243A"/>
                </a:solidFill>
                <a:latin typeface="Calibri" pitchFamily="34" charset="0"/>
                <a:ea typeface="Calibri" pitchFamily="34" charset="-122"/>
                <a:cs typeface="Calibri" pitchFamily="34" charset="-120"/>
              </a:rPr>
              <a:t>Draws</a:t>
            </a:r>
            <a:endParaRPr lang="en-US" sz="120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抽样</a:t>
            </a:r>
            <a:endParaRPr lang="en-US" sz="1200" dirty="0"/>
          </a:p>
        </p:txBody>
      </p:sp>
      <p:sp>
        <p:nvSpPr>
          <p:cNvPr id="21" name="Text 19"/>
          <p:cNvSpPr txBox="1"/>
          <p:nvPr/>
        </p:nvSpPr>
        <p:spPr>
          <a:xfrm>
            <a:off x="2834640" y="4544568"/>
            <a:ext cx="4297680" cy="60350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400 draws: parameter set + error noise, truncated at the top-rung cap</a:t>
            </a:r>
            <a:endParaRPr lang="en-US" sz="1150" dirty="0"/>
          </a:p>
        </p:txBody>
      </p:sp>
      <p:sp>
        <p:nvSpPr>
          <p:cNvPr id="22" name="Shape 20"/>
          <p:cNvSpPr/>
          <p:nvPr/>
        </p:nvSpPr>
        <p:spPr>
          <a:xfrm>
            <a:off x="548640" y="5257800"/>
            <a:ext cx="2148840" cy="603504"/>
          </a:xfrm>
          <a:prstGeom prst="roundRect">
            <a:avLst>
              <a:gd name="adj" fmla="val 10606"/>
            </a:avLst>
          </a:prstGeom>
          <a:solidFill>
            <a:srgbClr val="FFFFFF"/>
          </a:solidFill>
          <a:ln w="12700">
            <a:solidFill>
              <a:srgbClr val="DCE3EB"/>
            </a:solidFill>
            <a:prstDash val="solid"/>
          </a:ln>
        </p:spPr>
      </p:sp>
      <p:sp>
        <p:nvSpPr>
          <p:cNvPr id="23" name="Text 21"/>
          <p:cNvSpPr txBox="1"/>
          <p:nvPr/>
        </p:nvSpPr>
        <p:spPr>
          <a:xfrm>
            <a:off x="640080" y="5257800"/>
            <a:ext cx="1965960" cy="603504"/>
          </a:xfrm>
          <a:prstGeom prst="rect">
            <a:avLst/>
          </a:prstGeom>
          <a:noFill/>
          <a:ln/>
        </p:spPr>
        <p:txBody>
          <a:bodyPr wrap="square" lIns="0" tIns="0" rIns="0" bIns="0" rtlCol="0" anchor="ctr"/>
          <a:lstStyle/>
          <a:p>
            <a:pPr algn="l" indent="0" marL="0">
              <a:buNone/>
            </a:pPr>
            <a:r>
              <a:rPr lang="en-US" sz="1200" b="1" dirty="0">
                <a:solidFill>
                  <a:srgbClr val="16243A"/>
                </a:solidFill>
                <a:latin typeface="Calibri" pitchFamily="34" charset="0"/>
                <a:ea typeface="Calibri" pitchFamily="34" charset="-122"/>
                <a:cs typeface="Calibri" pitchFamily="34" charset="-120"/>
              </a:rPr>
              <a:t>Economics</a:t>
            </a:r>
            <a:endParaRPr lang="en-US" sz="120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经济性</a:t>
            </a:r>
            <a:endParaRPr lang="en-US" sz="1200" dirty="0"/>
          </a:p>
        </p:txBody>
      </p:sp>
      <p:sp>
        <p:nvSpPr>
          <p:cNvPr id="24" name="Text 22"/>
          <p:cNvSpPr txBox="1"/>
          <p:nvPr/>
        </p:nvSpPr>
        <p:spPr>
          <a:xfrm>
            <a:off x="2834640" y="5257800"/>
            <a:ext cx="4297680" cy="603504"/>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profit = units · margin − fixed; no unit cost → no profit shown</a:t>
            </a:r>
            <a:endParaRPr lang="en-US" sz="1150" dirty="0"/>
          </a:p>
        </p:txBody>
      </p:sp>
      <p:sp>
        <p:nvSpPr>
          <p:cNvPr id="25" name="Text 23"/>
          <p:cNvSpPr txBox="1"/>
          <p:nvPr/>
        </p:nvSpPr>
        <p:spPr>
          <a:xfrm>
            <a:off x="7498080" y="1691640"/>
            <a:ext cx="411480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OUTPUTS</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输出</a:t>
            </a:r>
            <a:endParaRPr lang="en-US" sz="1000" dirty="0"/>
          </a:p>
        </p:txBody>
      </p:sp>
      <p:sp>
        <p:nvSpPr>
          <p:cNvPr id="26" name="Shape 24"/>
          <p:cNvSpPr/>
          <p:nvPr/>
        </p:nvSpPr>
        <p:spPr>
          <a:xfrm>
            <a:off x="7498080" y="2093976"/>
            <a:ext cx="91440" cy="91440"/>
          </a:xfrm>
          <a:prstGeom prst="ellipse">
            <a:avLst/>
          </a:prstGeom>
          <a:solidFill>
            <a:srgbClr val="0E7C6B"/>
          </a:solidFill>
          <a:ln w="12700">
            <a:solidFill>
              <a:srgbClr val="0E7C6B"/>
            </a:solidFill>
            <a:prstDash val="solid"/>
          </a:ln>
        </p:spPr>
      </p:sp>
      <p:sp>
        <p:nvSpPr>
          <p:cNvPr id="27" name="Text 25"/>
          <p:cNvSpPr txBox="1"/>
          <p:nvPr/>
        </p:nvSpPr>
        <p:spPr>
          <a:xfrm>
            <a:off x="7699248" y="2011680"/>
            <a:ext cx="3959352" cy="612648"/>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units / revenue / profit: median, p10–p90</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销量 / 销售额 / 利润：中位数与 p10–p90</a:t>
            </a:r>
            <a:endParaRPr lang="en-US" sz="1150" dirty="0"/>
          </a:p>
        </p:txBody>
      </p:sp>
      <p:sp>
        <p:nvSpPr>
          <p:cNvPr id="28" name="Shape 26"/>
          <p:cNvSpPr/>
          <p:nvPr/>
        </p:nvSpPr>
        <p:spPr>
          <a:xfrm>
            <a:off x="7498080" y="2752344"/>
            <a:ext cx="91440" cy="91440"/>
          </a:xfrm>
          <a:prstGeom prst="ellipse">
            <a:avLst/>
          </a:prstGeom>
          <a:solidFill>
            <a:srgbClr val="0E7C6B"/>
          </a:solidFill>
          <a:ln w="12700">
            <a:solidFill>
              <a:srgbClr val="0E7C6B"/>
            </a:solidFill>
            <a:prstDash val="solid"/>
          </a:ln>
        </p:spPr>
      </p:sp>
      <p:sp>
        <p:nvSpPr>
          <p:cNvPr id="29" name="Text 27"/>
          <p:cNvSpPr txBox="1"/>
          <p:nvPr/>
        </p:nvSpPr>
        <p:spPr>
          <a:xfrm>
            <a:off x="7699248" y="2670048"/>
            <a:ext cx="3959352" cy="612648"/>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P(profit &gt; 0), P(target), break-even, payback</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盈利概率、达标概率、盈亏平衡、回本期</a:t>
            </a:r>
            <a:endParaRPr lang="en-US" sz="1150" dirty="0"/>
          </a:p>
        </p:txBody>
      </p:sp>
      <p:sp>
        <p:nvSpPr>
          <p:cNvPr id="30" name="Shape 28"/>
          <p:cNvSpPr/>
          <p:nvPr/>
        </p:nvSpPr>
        <p:spPr>
          <a:xfrm>
            <a:off x="7498080" y="3410712"/>
            <a:ext cx="91440" cy="91440"/>
          </a:xfrm>
          <a:prstGeom prst="ellipse">
            <a:avLst/>
          </a:prstGeom>
          <a:solidFill>
            <a:srgbClr val="0E7C6B"/>
          </a:solidFill>
          <a:ln w="12700">
            <a:solidFill>
              <a:srgbClr val="0E7C6B"/>
            </a:solidFill>
            <a:prstDash val="solid"/>
          </a:ln>
        </p:spPr>
      </p:sp>
      <p:sp>
        <p:nvSpPr>
          <p:cNvPr id="31" name="Text 29"/>
          <p:cNvSpPr txBox="1"/>
          <p:nvPr/>
        </p:nvSpPr>
        <p:spPr>
          <a:xfrm>
            <a:off x="7699248" y="3328416"/>
            <a:ext cx="3959352" cy="612648"/>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Price curve on a grid of segment prices</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细分价格网格上的价格曲线</a:t>
            </a:r>
            <a:endParaRPr lang="en-US" sz="1150" dirty="0"/>
          </a:p>
        </p:txBody>
      </p:sp>
      <p:sp>
        <p:nvSpPr>
          <p:cNvPr id="32" name="Shape 30"/>
          <p:cNvSpPr/>
          <p:nvPr/>
        </p:nvSpPr>
        <p:spPr>
          <a:xfrm>
            <a:off x="7498080" y="4069080"/>
            <a:ext cx="91440" cy="91440"/>
          </a:xfrm>
          <a:prstGeom prst="ellipse">
            <a:avLst/>
          </a:prstGeom>
          <a:solidFill>
            <a:srgbClr val="0E7C6B"/>
          </a:solidFill>
          <a:ln w="12700">
            <a:solidFill>
              <a:srgbClr val="0E7C6B"/>
            </a:solidFill>
            <a:prstDash val="solid"/>
          </a:ln>
        </p:spPr>
      </p:sp>
      <p:sp>
        <p:nvSpPr>
          <p:cNvPr id="33" name="Text 31"/>
          <p:cNvSpPr txBox="1"/>
          <p:nvPr/>
        </p:nvSpPr>
        <p:spPr>
          <a:xfrm>
            <a:off x="7699248" y="3986784"/>
            <a:ext cx="3959352" cy="612648"/>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Gaps covered, risks with their numbers, real entrants' sales</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覆盖的缺口、带数值的风险、真实新品销量</a:t>
            </a:r>
            <a:endParaRPr lang="en-US" sz="1150" dirty="0"/>
          </a:p>
        </p:txBody>
      </p:sp>
      <p:sp>
        <p:nvSpPr>
          <p:cNvPr id="34" name="Text 32"/>
          <p:cNvSpPr txBox="1"/>
          <p:nvPr/>
        </p:nvSpPr>
        <p:spPr>
          <a:xfrm>
            <a:off x="7498080" y="4754880"/>
            <a:ext cx="4114800" cy="237744"/>
          </a:xfrm>
          <a:prstGeom prst="rect">
            <a:avLst/>
          </a:prstGeom>
          <a:noFill/>
          <a:ln/>
        </p:spPr>
        <p:txBody>
          <a:bodyPr wrap="square" lIns="0" tIns="0" rIns="0" bIns="0" rtlCol="0" anchor="ctr"/>
          <a:lstStyle/>
          <a:p>
            <a:pPr indent="0" marL="0">
              <a:buNone/>
            </a:pPr>
            <a:r>
              <a:rPr lang="en-US" sz="1000" b="1" spc="200" kern="0" dirty="0">
                <a:solidFill>
                  <a:srgbClr val="B7791F"/>
                </a:solidFill>
                <a:latin typeface="Calibri" pitchFamily="34" charset="0"/>
                <a:ea typeface="Calibri" pitchFamily="34" charset="-122"/>
                <a:cs typeface="Calibri" pitchFamily="34" charset="-120"/>
              </a:rPr>
              <a:t>COMMON RANDOM NUMBERS</a:t>
            </a:r>
            <a:pPr indent="0" marL="0">
              <a:buNone/>
            </a:pPr>
            <a:r>
              <a:rPr lang="en-US" sz="1000" b="1" dirty="0">
                <a:solidFill>
                  <a:srgbClr val="B7791F"/>
                </a:solidFill>
                <a:latin typeface="Microsoft YaHei" pitchFamily="34" charset="0"/>
                <a:ea typeface="Microsoft YaHei" pitchFamily="34" charset="-122"/>
                <a:cs typeface="Microsoft YaHei" pitchFamily="34" charset="-120"/>
              </a:rPr>
              <a:t>  共同随机数</a:t>
            </a:r>
            <a:endParaRPr lang="en-US" sz="1000" dirty="0"/>
          </a:p>
        </p:txBody>
      </p:sp>
      <p:sp>
        <p:nvSpPr>
          <p:cNvPr id="35" name="Shape 33"/>
          <p:cNvSpPr/>
          <p:nvPr/>
        </p:nvSpPr>
        <p:spPr>
          <a:xfrm>
            <a:off x="7498080" y="5157216"/>
            <a:ext cx="91440" cy="91440"/>
          </a:xfrm>
          <a:prstGeom prst="ellipse">
            <a:avLst/>
          </a:prstGeom>
          <a:solidFill>
            <a:srgbClr val="0E7C6B"/>
          </a:solidFill>
          <a:ln w="12700">
            <a:solidFill>
              <a:srgbClr val="0E7C6B"/>
            </a:solidFill>
            <a:prstDash val="solid"/>
          </a:ln>
        </p:spPr>
      </p:sp>
      <p:sp>
        <p:nvSpPr>
          <p:cNvPr id="36" name="Text 34"/>
          <p:cNvSpPr txBox="1"/>
          <p:nvPr/>
        </p:nvSpPr>
        <p:spPr>
          <a:xfrm>
            <a:off x="7699248" y="5074920"/>
            <a:ext cx="395935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Same draws for every scenario and price point → differences come from the scenario, not noise; smooth price curve</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每个方案与价格点使用相同抽样 → 差异来自方案本身而非噪声，价格曲线平滑</a:t>
            </a:r>
            <a:endParaRPr lang="en-US" sz="1150" dirty="0"/>
          </a:p>
        </p:txBody>
      </p:sp>
      <p:sp>
        <p:nvSpPr>
          <p:cNvPr id="37" name="Text 35"/>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KNOWLEDGE GRAPH, VECTORS &amp; OPPORTUNITY BOARD</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知识图谱、向量与机会看板</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Joining evidence without re-scoring it</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汇聚证据而不重新打分</a:t>
            </a:r>
            <a:endParaRPr lang="en-US" sz="1500" dirty="0"/>
          </a:p>
        </p:txBody>
      </p:sp>
      <p:sp>
        <p:nvSpPr>
          <p:cNvPr id="7" name="Text 5"/>
          <p:cNvSpPr txBox="1"/>
          <p:nvPr/>
        </p:nvSpPr>
        <p:spPr>
          <a:xfrm>
            <a:off x="548640" y="1691640"/>
            <a:ext cx="365760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GRAPH ONTOLOGY</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图谱本体</a:t>
            </a:r>
            <a:endParaRPr lang="en-US" sz="1000" dirty="0"/>
          </a:p>
        </p:txBody>
      </p:sp>
      <p:sp>
        <p:nvSpPr>
          <p:cNvPr id="8" name="Shape 6"/>
          <p:cNvSpPr/>
          <p:nvPr/>
        </p:nvSpPr>
        <p:spPr>
          <a:xfrm>
            <a:off x="548640" y="2093976"/>
            <a:ext cx="91440" cy="91440"/>
          </a:xfrm>
          <a:prstGeom prst="ellipse">
            <a:avLst/>
          </a:prstGeom>
          <a:solidFill>
            <a:srgbClr val="0E7C6B"/>
          </a:solidFill>
          <a:ln w="12700">
            <a:solidFill>
              <a:srgbClr val="0E7C6B"/>
            </a:solidFill>
            <a:prstDash val="solid"/>
          </a:ln>
        </p:spPr>
      </p:sp>
      <p:sp>
        <p:nvSpPr>
          <p:cNvPr id="9" name="Text 7"/>
          <p:cNvSpPr txBox="1"/>
          <p:nvPr/>
        </p:nvSpPr>
        <p:spPr>
          <a:xfrm>
            <a:off x="749808" y="2011680"/>
            <a:ext cx="3456432" cy="82296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Nodes: market, sub-category, segment, product, listing, brand, gap, recommendation, supplier</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节点：市场、子类目、细分、产品、商品页、品牌、缺口、推荐、供应商</a:t>
            </a:r>
            <a:endParaRPr lang="en-US" sz="1100" dirty="0"/>
          </a:p>
        </p:txBody>
      </p:sp>
      <p:sp>
        <p:nvSpPr>
          <p:cNvPr id="10" name="Shape 8"/>
          <p:cNvSpPr/>
          <p:nvPr/>
        </p:nvSpPr>
        <p:spPr>
          <a:xfrm>
            <a:off x="548640" y="2962656"/>
            <a:ext cx="91440" cy="91440"/>
          </a:xfrm>
          <a:prstGeom prst="ellipse">
            <a:avLst/>
          </a:prstGeom>
          <a:solidFill>
            <a:srgbClr val="0E7C6B"/>
          </a:solidFill>
          <a:ln w="12700">
            <a:solidFill>
              <a:srgbClr val="0E7C6B"/>
            </a:solidFill>
            <a:prstDash val="solid"/>
          </a:ln>
        </p:spPr>
      </p:sp>
      <p:sp>
        <p:nvSpPr>
          <p:cNvPr id="11" name="Text 9"/>
          <p:cNvSpPr txBox="1"/>
          <p:nvPr/>
        </p:nvSpPr>
        <p:spPr>
          <a:xfrm>
            <a:off x="749808" y="2880360"/>
            <a:ext cx="3456432" cy="82296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Every edge: evidence + basis (fact / estimate / test / similarity) + strength 0–1</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每条边：证据 + 依据（事实/估计/检验/相似度）+ 强度 0–1</a:t>
            </a:r>
            <a:endParaRPr lang="en-US" sz="1100" dirty="0"/>
          </a:p>
        </p:txBody>
      </p:sp>
      <p:sp>
        <p:nvSpPr>
          <p:cNvPr id="12" name="Shape 10"/>
          <p:cNvSpPr/>
          <p:nvPr/>
        </p:nvSpPr>
        <p:spPr>
          <a:xfrm>
            <a:off x="548640" y="3831336"/>
            <a:ext cx="91440" cy="91440"/>
          </a:xfrm>
          <a:prstGeom prst="ellipse">
            <a:avLst/>
          </a:prstGeom>
          <a:solidFill>
            <a:srgbClr val="0E7C6B"/>
          </a:solidFill>
          <a:ln w="12700">
            <a:solidFill>
              <a:srgbClr val="0E7C6B"/>
            </a:solidFill>
            <a:prstDash val="solid"/>
          </a:ln>
        </p:spPr>
      </p:sp>
      <p:sp>
        <p:nvSpPr>
          <p:cNvPr id="13" name="Text 11"/>
          <p:cNvSpPr txBox="1"/>
          <p:nvPr/>
        </p:nvSpPr>
        <p:spPr>
          <a:xfrm>
            <a:off x="749808" y="3749040"/>
            <a:ext cx="3456432" cy="82296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find_path: shortest path with weight 1 + (1 − strength)</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路径查找：权重 1 + (1 − 强度) 的最短路径</a:t>
            </a:r>
            <a:endParaRPr lang="en-US" sz="1100" dirty="0"/>
          </a:p>
        </p:txBody>
      </p:sp>
      <p:sp>
        <p:nvSpPr>
          <p:cNvPr id="14" name="Shape 12"/>
          <p:cNvSpPr/>
          <p:nvPr/>
        </p:nvSpPr>
        <p:spPr>
          <a:xfrm>
            <a:off x="548640" y="4700016"/>
            <a:ext cx="91440" cy="91440"/>
          </a:xfrm>
          <a:prstGeom prst="ellipse">
            <a:avLst/>
          </a:prstGeom>
          <a:solidFill>
            <a:srgbClr val="0E7C6B"/>
          </a:solidFill>
          <a:ln w="12700">
            <a:solidFill>
              <a:srgbClr val="0E7C6B"/>
            </a:solidFill>
            <a:prstDash val="solid"/>
          </a:ln>
        </p:spPr>
      </p:sp>
      <p:sp>
        <p:nvSpPr>
          <p:cNvPr id="15" name="Text 13"/>
          <p:cNvSpPr txBox="1"/>
          <p:nvPr/>
        </p:nvSpPr>
        <p:spPr>
          <a:xfrm>
            <a:off x="749808" y="4617720"/>
            <a:ext cx="3456432" cy="82296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Non-significant gaps / momentum are never drawn</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不显著的缺口与动能不会被画出</a:t>
            </a:r>
            <a:endParaRPr lang="en-US" sz="1100" dirty="0"/>
          </a:p>
        </p:txBody>
      </p:sp>
      <p:sp>
        <p:nvSpPr>
          <p:cNvPr id="16" name="Text 14"/>
          <p:cNvSpPr txBox="1"/>
          <p:nvPr/>
        </p:nvSpPr>
        <p:spPr>
          <a:xfrm>
            <a:off x="4480560" y="1691640"/>
            <a:ext cx="347472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OFFLINE EMBEDDINGS</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离线向量</a:t>
            </a:r>
            <a:endParaRPr lang="en-US" sz="1000" dirty="0"/>
          </a:p>
        </p:txBody>
      </p:sp>
      <p:sp>
        <p:nvSpPr>
          <p:cNvPr id="17" name="Text 15"/>
          <p:cNvSpPr txBox="1"/>
          <p:nvPr/>
        </p:nvSpPr>
        <p:spPr>
          <a:xfrm>
            <a:off x="4480560" y="2011680"/>
            <a:ext cx="3383280" cy="1234440"/>
          </a:xfrm>
          <a:prstGeom prst="rect">
            <a:avLst/>
          </a:prstGeom>
          <a:solidFill>
            <a:srgbClr val="F4F6F9"/>
          </a:solidFill>
          <a:ln w="9525">
            <a:solidFill>
              <a:srgbClr val="DCE3EB"/>
            </a:solidFill>
          </a:ln>
        </p:spPr>
        <p:txBody>
          <a:bodyPr wrap="square" lIns="101600" tIns="101600" rIns="101600" bIns="101600" rtlCol="0" anchor="t"/>
          <a:lstStyle/>
          <a:p>
            <a:pPr indent="0" marL="0">
              <a:buNone/>
            </a:pPr>
            <a:r>
              <a:rPr lang="en-US" sz="1050" dirty="0">
                <a:solidFill>
                  <a:srgbClr val="16243A"/>
                </a:solidFill>
                <a:latin typeface="Courier New" pitchFamily="34" charset="0"/>
                <a:ea typeface="Courier New" pitchFamily="34" charset="-122"/>
                <a:cs typeface="Courier New" pitchFamily="34" charset="-120"/>
              </a:rPr>
              <a:t>word 1–2-gram + char 3–5-gram</a:t>
            </a:r>
            <a:endParaRPr lang="en-US" sz="1050" dirty="0"/>
          </a:p>
          <a:p>
            <a:pPr indent="0" marL="0">
              <a:buNone/>
            </a:pPr>
            <a:r>
              <a:rPr lang="en-US" sz="1050" dirty="0">
                <a:solidFill>
                  <a:srgbClr val="16243A"/>
                </a:solidFill>
                <a:latin typeface="Courier New" pitchFamily="34" charset="0"/>
                <a:ea typeface="Courier New" pitchFamily="34" charset="-122"/>
                <a:cs typeface="Courier New" pitchFamily="34" charset="-120"/>
              </a:rPr>
              <a:t>hashing (2¹⁴ each) → L2 norm</a:t>
            </a:r>
            <a:endParaRPr lang="en-US" sz="1050" dirty="0"/>
          </a:p>
          <a:p>
            <a:pPr indent="0" marL="0">
              <a:buNone/>
            </a:pPr>
            <a:r>
              <a:rPr lang="en-US" sz="1050" dirty="0">
                <a:solidFill>
                  <a:srgbClr val="16243A"/>
                </a:solidFill>
                <a:latin typeface="Courier New" pitchFamily="34" charset="0"/>
                <a:ea typeface="Courier New" pitchFamily="34" charset="-122"/>
                <a:cs typeface="Courier New" pitchFamily="34" charset="-120"/>
              </a:rPr>
              <a:t>→ random projection to 256-d</a:t>
            </a:r>
            <a:endParaRPr lang="en-US" sz="1050" dirty="0"/>
          </a:p>
          <a:p>
            <a:pPr indent="0" marL="0">
              <a:buNone/>
            </a:pPr>
            <a:r>
              <a:rPr lang="en-US" sz="1050" dirty="0">
                <a:solidFill>
                  <a:srgbClr val="16243A"/>
                </a:solidFill>
                <a:latin typeface="Courier New" pitchFamily="34" charset="0"/>
                <a:ea typeface="Courier New" pitchFamily="34" charset="-122"/>
                <a:cs typeface="Courier New" pitchFamily="34" charset="-120"/>
              </a:rPr>
              <a:t>→ L2 norm → Qdrant</a:t>
            </a:r>
            <a:endParaRPr lang="en-US" sz="1050" dirty="0"/>
          </a:p>
        </p:txBody>
      </p:sp>
      <p:sp>
        <p:nvSpPr>
          <p:cNvPr id="18" name="Shape 16"/>
          <p:cNvSpPr/>
          <p:nvPr/>
        </p:nvSpPr>
        <p:spPr>
          <a:xfrm>
            <a:off x="4480560" y="3511296"/>
            <a:ext cx="91440" cy="91440"/>
          </a:xfrm>
          <a:prstGeom prst="ellipse">
            <a:avLst/>
          </a:prstGeom>
          <a:solidFill>
            <a:srgbClr val="0E7C6B"/>
          </a:solidFill>
          <a:ln w="12700">
            <a:solidFill>
              <a:srgbClr val="0E7C6B"/>
            </a:solidFill>
            <a:prstDash val="solid"/>
          </a:ln>
        </p:spPr>
      </p:sp>
      <p:sp>
        <p:nvSpPr>
          <p:cNvPr id="19" name="Text 17"/>
          <p:cNvSpPr txBox="1"/>
          <p:nvPr/>
        </p:nvSpPr>
        <p:spPr>
          <a:xfrm>
            <a:off x="4681728" y="3429000"/>
            <a:ext cx="3182112" cy="96012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Deterministic, no model download; drives similar products and galaxy layout (top-3 SVD per segment)</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确定性、无需下载模型；用于相似产品与星系布局（每细分前三 SVD 分量）</a:t>
            </a:r>
            <a:endParaRPr lang="en-US" sz="1100" dirty="0"/>
          </a:p>
        </p:txBody>
      </p:sp>
      <p:sp>
        <p:nvSpPr>
          <p:cNvPr id="20" name="Text 18"/>
          <p:cNvSpPr txBox="1"/>
          <p:nvPr/>
        </p:nvSpPr>
        <p:spPr>
          <a:xfrm>
            <a:off x="8229600" y="1691640"/>
            <a:ext cx="3474720" cy="237744"/>
          </a:xfrm>
          <a:prstGeom prst="rect">
            <a:avLst/>
          </a:prstGeom>
          <a:noFill/>
          <a:ln/>
        </p:spPr>
        <p:txBody>
          <a:bodyPr wrap="square" lIns="0" tIns="0" rIns="0" bIns="0" rtlCol="0" anchor="ctr"/>
          <a:lstStyle/>
          <a:p>
            <a:pPr indent="0" marL="0">
              <a:buNone/>
            </a:pPr>
            <a:r>
              <a:rPr lang="en-US" sz="1000" b="1" spc="200" kern="0" dirty="0">
                <a:solidFill>
                  <a:srgbClr val="B7791F"/>
                </a:solidFill>
                <a:latin typeface="Calibri" pitchFamily="34" charset="0"/>
                <a:ea typeface="Calibri" pitchFamily="34" charset="-122"/>
                <a:cs typeface="Calibri" pitchFamily="34" charset="-120"/>
              </a:rPr>
              <a:t>OPPORTUNITY BOARD</a:t>
            </a:r>
            <a:pPr indent="0" marL="0">
              <a:buNone/>
            </a:pPr>
            <a:r>
              <a:rPr lang="en-US" sz="1000" b="1" dirty="0">
                <a:solidFill>
                  <a:srgbClr val="B7791F"/>
                </a:solidFill>
                <a:latin typeface="Microsoft YaHei" pitchFamily="34" charset="0"/>
                <a:ea typeface="Microsoft YaHei" pitchFamily="34" charset="-122"/>
                <a:cs typeface="Microsoft YaHei" pitchFamily="34" charset="-120"/>
              </a:rPr>
              <a:t>  机会看板</a:t>
            </a:r>
            <a:endParaRPr lang="en-US" sz="1000" dirty="0"/>
          </a:p>
        </p:txBody>
      </p:sp>
      <p:sp>
        <p:nvSpPr>
          <p:cNvPr id="21" name="Shape 19"/>
          <p:cNvSpPr/>
          <p:nvPr/>
        </p:nvSpPr>
        <p:spPr>
          <a:xfrm>
            <a:off x="8229600" y="2093976"/>
            <a:ext cx="91440" cy="91440"/>
          </a:xfrm>
          <a:prstGeom prst="ellipse">
            <a:avLst/>
          </a:prstGeom>
          <a:solidFill>
            <a:srgbClr val="0E7C6B"/>
          </a:solidFill>
          <a:ln w="12700">
            <a:solidFill>
              <a:srgbClr val="0E7C6B"/>
            </a:solidFill>
            <a:prstDash val="solid"/>
          </a:ln>
        </p:spPr>
      </p:sp>
      <p:sp>
        <p:nvSpPr>
          <p:cNvPr id="22" name="Text 20"/>
          <p:cNvSpPr txBox="1"/>
          <p:nvPr/>
        </p:nvSpPr>
        <p:spPr>
          <a:xfrm>
            <a:off x="8430768" y="2011680"/>
            <a:ext cx="3273552" cy="86868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Top 8 sub-categories per market by opportunity index</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每个市场按机会指数取前 8 个子类目</a:t>
            </a:r>
            <a:endParaRPr lang="en-US" sz="1100" dirty="0"/>
          </a:p>
        </p:txBody>
      </p:sp>
      <p:sp>
        <p:nvSpPr>
          <p:cNvPr id="23" name="Shape 21"/>
          <p:cNvSpPr/>
          <p:nvPr/>
        </p:nvSpPr>
        <p:spPr>
          <a:xfrm>
            <a:off x="8229600" y="3008376"/>
            <a:ext cx="91440" cy="91440"/>
          </a:xfrm>
          <a:prstGeom prst="ellipse">
            <a:avLst/>
          </a:prstGeom>
          <a:solidFill>
            <a:srgbClr val="0E7C6B"/>
          </a:solidFill>
          <a:ln w="12700">
            <a:solidFill>
              <a:srgbClr val="0E7C6B"/>
            </a:solidFill>
            <a:prstDash val="solid"/>
          </a:ln>
        </p:spPr>
      </p:sp>
      <p:sp>
        <p:nvSpPr>
          <p:cNvPr id="24" name="Text 22"/>
          <p:cNvSpPr txBox="1"/>
          <p:nvPr/>
        </p:nvSpPr>
        <p:spPr>
          <a:xfrm>
            <a:off x="8430768" y="2926080"/>
            <a:ext cx="3273552" cy="86868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Concept = gap recommendation at √(low·high) of its price range; else typical product at median price</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概念 = 缺口推荐，定价为价格区间几何中点；否则按中位价的典型产品</a:t>
            </a:r>
            <a:endParaRPr lang="en-US" sz="1100" dirty="0"/>
          </a:p>
        </p:txBody>
      </p:sp>
      <p:sp>
        <p:nvSpPr>
          <p:cNvPr id="25" name="Shape 23"/>
          <p:cNvSpPr/>
          <p:nvPr/>
        </p:nvSpPr>
        <p:spPr>
          <a:xfrm>
            <a:off x="8229600" y="3922776"/>
            <a:ext cx="91440" cy="91440"/>
          </a:xfrm>
          <a:prstGeom prst="ellipse">
            <a:avLst/>
          </a:prstGeom>
          <a:solidFill>
            <a:srgbClr val="0E7C6B"/>
          </a:solidFill>
          <a:ln w="12700">
            <a:solidFill>
              <a:srgbClr val="0E7C6B"/>
            </a:solidFill>
            <a:prstDash val="solid"/>
          </a:ln>
        </p:spPr>
      </p:sp>
      <p:sp>
        <p:nvSpPr>
          <p:cNvPr id="26" name="Text 24"/>
          <p:cNvSpPr txBox="1"/>
          <p:nvPr/>
        </p:nvSpPr>
        <p:spPr>
          <a:xfrm>
            <a:off x="8430768" y="3840480"/>
            <a:ext cx="3273552" cy="86868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Joined: simulate(), growth fit, leading brand, entry, momentum</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汇聚：模拟、增长拟合、领先品牌、进入、动能</a:t>
            </a:r>
            <a:endParaRPr lang="en-US" sz="1100" dirty="0"/>
          </a:p>
        </p:txBody>
      </p:sp>
      <p:sp>
        <p:nvSpPr>
          <p:cNvPr id="27" name="Shape 25"/>
          <p:cNvSpPr/>
          <p:nvPr/>
        </p:nvSpPr>
        <p:spPr>
          <a:xfrm>
            <a:off x="8229600" y="4837176"/>
            <a:ext cx="91440" cy="91440"/>
          </a:xfrm>
          <a:prstGeom prst="ellipse">
            <a:avLst/>
          </a:prstGeom>
          <a:solidFill>
            <a:srgbClr val="0E7C6B"/>
          </a:solidFill>
          <a:ln w="12700">
            <a:solidFill>
              <a:srgbClr val="0E7C6B"/>
            </a:solidFill>
            <a:prstDash val="solid"/>
          </a:ln>
        </p:spPr>
      </p:sp>
      <p:sp>
        <p:nvSpPr>
          <p:cNvPr id="28" name="Text 26"/>
          <p:cNvSpPr txBox="1"/>
          <p:nvPr/>
        </p:nvSpPr>
        <p:spPr>
          <a:xfrm>
            <a:off x="8430768" y="4754880"/>
            <a:ext cx="3273552" cy="868680"/>
          </a:xfrm>
          <a:prstGeom prst="rect">
            <a:avLst/>
          </a:prstGeom>
          <a:noFill/>
          <a:ln/>
        </p:spPr>
        <p:txBody>
          <a:bodyPr wrap="square" lIns="0" tIns="0" rIns="0" bIns="0" rtlCol="0" anchor="t"/>
          <a:lstStyle/>
          <a:p>
            <a:pPr indent="0" marL="0">
              <a:spcAft>
                <a:spcPts val="100"/>
              </a:spcAft>
              <a:buNone/>
            </a:pPr>
            <a:r>
              <a:rPr lang="en-US" sz="1100" dirty="0">
                <a:solidFill>
                  <a:srgbClr val="16243A"/>
                </a:solidFill>
                <a:latin typeface="Calibri" pitchFamily="34" charset="0"/>
                <a:ea typeface="Calibri" pitchFamily="34" charset="-122"/>
                <a:cs typeface="Calibri" pitchFamily="34" charset="-120"/>
              </a:rPr>
              <a:t>Cached per market run_id:updated_at</a:t>
            </a:r>
            <a:endParaRPr lang="en-US" sz="110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按市场运行版本缓存</a:t>
            </a:r>
            <a:endParaRPr lang="en-US" sz="1100" dirty="0"/>
          </a:p>
        </p:txBody>
      </p:sp>
      <p:sp>
        <p:nvSpPr>
          <p:cNvPr id="29" name="Text 27"/>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MARKET ANALYST</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市场分析师</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Code computes the facts; AI may only rephrase them</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代码计算事实，AI 只能改写</a:t>
            </a:r>
            <a:endParaRPr lang="en-US" sz="1500" dirty="0"/>
          </a:p>
        </p:txBody>
      </p:sp>
      <p:sp>
        <p:nvSpPr>
          <p:cNvPr id="7" name="Shape 5"/>
          <p:cNvSpPr/>
          <p:nvPr/>
        </p:nvSpPr>
        <p:spPr>
          <a:xfrm>
            <a:off x="548640" y="1691640"/>
            <a:ext cx="2331720" cy="621792"/>
          </a:xfrm>
          <a:prstGeom prst="roundRect">
            <a:avLst>
              <a:gd name="adj" fmla="val 10294"/>
            </a:avLst>
          </a:prstGeom>
          <a:solidFill>
            <a:srgbClr val="FFFFFF"/>
          </a:solidFill>
          <a:ln w="12700">
            <a:solidFill>
              <a:srgbClr val="DCE3EB"/>
            </a:solidFill>
            <a:prstDash val="solid"/>
          </a:ln>
        </p:spPr>
      </p:sp>
      <p:sp>
        <p:nvSpPr>
          <p:cNvPr id="8" name="Text 6"/>
          <p:cNvSpPr txBox="1"/>
          <p:nvPr/>
        </p:nvSpPr>
        <p:spPr>
          <a:xfrm>
            <a:off x="640080" y="1691640"/>
            <a:ext cx="2148840" cy="621792"/>
          </a:xfrm>
          <a:prstGeom prst="rect">
            <a:avLst/>
          </a:prstGeom>
          <a:noFill/>
          <a:ln/>
        </p:spPr>
        <p:txBody>
          <a:bodyPr wrap="square" lIns="0" tIns="0" rIns="0" bIns="0" rtlCol="0" anchor="ctr"/>
          <a:lstStyle/>
          <a:p>
            <a:pPr algn="l" indent="0" marL="0">
              <a:buNone/>
            </a:pPr>
            <a:r>
              <a:rPr lang="en-US" sz="1200" b="1" dirty="0">
                <a:solidFill>
                  <a:srgbClr val="16243A"/>
                </a:solidFill>
                <a:latin typeface="Calibri" pitchFamily="34" charset="0"/>
                <a:ea typeface="Calibri" pitchFamily="34" charset="-122"/>
                <a:cs typeface="Calibri" pitchFamily="34" charset="-120"/>
              </a:rPr>
              <a:t>Intent</a:t>
            </a:r>
            <a:endParaRPr lang="en-US" sz="120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意图</a:t>
            </a:r>
            <a:endParaRPr lang="en-US" sz="1200" dirty="0"/>
          </a:p>
        </p:txBody>
      </p:sp>
      <p:sp>
        <p:nvSpPr>
          <p:cNvPr id="9" name="Text 7"/>
          <p:cNvSpPr txBox="1"/>
          <p:nvPr/>
        </p:nvSpPr>
        <p:spPr>
          <a:xfrm>
            <a:off x="3017520" y="1691640"/>
            <a:ext cx="4846320" cy="621792"/>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ordered regexes in EN + ZH: launch, compare, why, recommend, competitors, entry, economics, growth, size …</a:t>
            </a:r>
            <a:endParaRPr lang="en-US" sz="1150" dirty="0"/>
          </a:p>
        </p:txBody>
      </p:sp>
      <p:sp>
        <p:nvSpPr>
          <p:cNvPr id="10" name="Shape 8"/>
          <p:cNvSpPr/>
          <p:nvPr/>
        </p:nvSpPr>
        <p:spPr>
          <a:xfrm>
            <a:off x="548640" y="2423160"/>
            <a:ext cx="2331720" cy="621792"/>
          </a:xfrm>
          <a:prstGeom prst="roundRect">
            <a:avLst>
              <a:gd name="adj" fmla="val 10294"/>
            </a:avLst>
          </a:prstGeom>
          <a:solidFill>
            <a:srgbClr val="FFFFFF"/>
          </a:solidFill>
          <a:ln w="12700">
            <a:solidFill>
              <a:srgbClr val="DCE3EB"/>
            </a:solidFill>
            <a:prstDash val="solid"/>
          </a:ln>
        </p:spPr>
      </p:sp>
      <p:sp>
        <p:nvSpPr>
          <p:cNvPr id="11" name="Text 9"/>
          <p:cNvSpPr txBox="1"/>
          <p:nvPr/>
        </p:nvSpPr>
        <p:spPr>
          <a:xfrm>
            <a:off x="640080" y="2423160"/>
            <a:ext cx="2148840" cy="621792"/>
          </a:xfrm>
          <a:prstGeom prst="rect">
            <a:avLst/>
          </a:prstGeom>
          <a:noFill/>
          <a:ln/>
        </p:spPr>
        <p:txBody>
          <a:bodyPr wrap="square" lIns="0" tIns="0" rIns="0" bIns="0" rtlCol="0" anchor="ctr"/>
          <a:lstStyle/>
          <a:p>
            <a:pPr algn="l" indent="0" marL="0">
              <a:buNone/>
            </a:pPr>
            <a:r>
              <a:rPr lang="en-US" sz="1200" b="1" dirty="0">
                <a:solidFill>
                  <a:srgbClr val="16243A"/>
                </a:solidFill>
                <a:latin typeface="Calibri" pitchFamily="34" charset="0"/>
                <a:ea typeface="Calibri" pitchFamily="34" charset="-122"/>
                <a:cs typeface="Calibri" pitchFamily="34" charset="-120"/>
              </a:rPr>
              <a:t>Scope</a:t>
            </a:r>
            <a:endParaRPr lang="en-US" sz="120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范围</a:t>
            </a:r>
            <a:endParaRPr lang="en-US" sz="1200" dirty="0"/>
          </a:p>
        </p:txBody>
      </p:sp>
      <p:sp>
        <p:nvSpPr>
          <p:cNvPr id="12" name="Text 10"/>
          <p:cNvSpPr txBox="1"/>
          <p:nvPr/>
        </p:nvSpPr>
        <p:spPr>
          <a:xfrm>
            <a:off x="3017520" y="2423160"/>
            <a:ext cx="4846320" cy="621792"/>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markets, segments or brand named in the question; user's visible markets only</a:t>
            </a:r>
            <a:endParaRPr lang="en-US" sz="1150" dirty="0"/>
          </a:p>
        </p:txBody>
      </p:sp>
      <p:sp>
        <p:nvSpPr>
          <p:cNvPr id="13" name="Shape 11"/>
          <p:cNvSpPr/>
          <p:nvPr/>
        </p:nvSpPr>
        <p:spPr>
          <a:xfrm>
            <a:off x="548640" y="3154680"/>
            <a:ext cx="2331720" cy="621792"/>
          </a:xfrm>
          <a:prstGeom prst="roundRect">
            <a:avLst>
              <a:gd name="adj" fmla="val 10294"/>
            </a:avLst>
          </a:prstGeom>
          <a:solidFill>
            <a:srgbClr val="FFFFFF"/>
          </a:solidFill>
          <a:ln w="12700">
            <a:solidFill>
              <a:srgbClr val="DCE3EB"/>
            </a:solidFill>
            <a:prstDash val="solid"/>
          </a:ln>
        </p:spPr>
      </p:sp>
      <p:sp>
        <p:nvSpPr>
          <p:cNvPr id="14" name="Text 12"/>
          <p:cNvSpPr txBox="1"/>
          <p:nvPr/>
        </p:nvSpPr>
        <p:spPr>
          <a:xfrm>
            <a:off x="640080" y="3154680"/>
            <a:ext cx="2148840" cy="621792"/>
          </a:xfrm>
          <a:prstGeom prst="rect">
            <a:avLst/>
          </a:prstGeom>
          <a:noFill/>
          <a:ln/>
        </p:spPr>
        <p:txBody>
          <a:bodyPr wrap="square" lIns="0" tIns="0" rIns="0" bIns="0" rtlCol="0" anchor="ctr"/>
          <a:lstStyle/>
          <a:p>
            <a:pPr algn="l" indent="0" marL="0">
              <a:buNone/>
            </a:pPr>
            <a:r>
              <a:rPr lang="en-US" sz="1200" b="1" dirty="0">
                <a:solidFill>
                  <a:srgbClr val="16243A"/>
                </a:solidFill>
                <a:latin typeface="Calibri" pitchFamily="34" charset="0"/>
                <a:ea typeface="Calibri" pitchFamily="34" charset="-122"/>
                <a:cs typeface="Calibri" pitchFamily="34" charset="-120"/>
              </a:rPr>
              <a:t>Tools → facts</a:t>
            </a:r>
            <a:endParaRPr lang="en-US" sz="120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工具 → 事实</a:t>
            </a:r>
            <a:endParaRPr lang="en-US" sz="1200" dirty="0"/>
          </a:p>
        </p:txBody>
      </p:sp>
      <p:sp>
        <p:nvSpPr>
          <p:cNvPr id="15" name="Text 13"/>
          <p:cNvSpPr txBox="1"/>
          <p:nvPr/>
        </p:nvSpPr>
        <p:spPr>
          <a:xfrm>
            <a:off x="3017520" y="3154680"/>
            <a:ext cx="4846320" cy="621792"/>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each fact: EN sentence, ZH sentence, numbers, source API path</a:t>
            </a:r>
            <a:endParaRPr lang="en-US" sz="1150" dirty="0"/>
          </a:p>
        </p:txBody>
      </p:sp>
      <p:sp>
        <p:nvSpPr>
          <p:cNvPr id="16" name="Shape 14"/>
          <p:cNvSpPr/>
          <p:nvPr/>
        </p:nvSpPr>
        <p:spPr>
          <a:xfrm>
            <a:off x="548640" y="3886200"/>
            <a:ext cx="2331720" cy="621792"/>
          </a:xfrm>
          <a:prstGeom prst="roundRect">
            <a:avLst>
              <a:gd name="adj" fmla="val 10294"/>
            </a:avLst>
          </a:prstGeom>
          <a:solidFill>
            <a:srgbClr val="FFFFFF"/>
          </a:solidFill>
          <a:ln w="12700">
            <a:solidFill>
              <a:srgbClr val="DCE3EB"/>
            </a:solidFill>
            <a:prstDash val="solid"/>
          </a:ln>
        </p:spPr>
      </p:sp>
      <p:sp>
        <p:nvSpPr>
          <p:cNvPr id="17" name="Text 15"/>
          <p:cNvSpPr txBox="1"/>
          <p:nvPr/>
        </p:nvSpPr>
        <p:spPr>
          <a:xfrm>
            <a:off x="640080" y="3886200"/>
            <a:ext cx="2148840" cy="621792"/>
          </a:xfrm>
          <a:prstGeom prst="rect">
            <a:avLst/>
          </a:prstGeom>
          <a:noFill/>
          <a:ln/>
        </p:spPr>
        <p:txBody>
          <a:bodyPr wrap="square" lIns="0" tIns="0" rIns="0" bIns="0" rtlCol="0" anchor="ctr"/>
          <a:lstStyle/>
          <a:p>
            <a:pPr algn="l" indent="0" marL="0">
              <a:buNone/>
            </a:pPr>
            <a:r>
              <a:rPr lang="en-US" sz="1200" b="1" dirty="0">
                <a:solidFill>
                  <a:srgbClr val="16243A"/>
                </a:solidFill>
                <a:latin typeface="Calibri" pitchFamily="34" charset="0"/>
                <a:ea typeface="Calibri" pitchFamily="34" charset="-122"/>
                <a:cs typeface="Calibri" pitchFamily="34" charset="-120"/>
              </a:rPr>
              <a:t>Phrasing (optional)</a:t>
            </a:r>
            <a:endParaRPr lang="en-US" sz="120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改写（可选）</a:t>
            </a:r>
            <a:endParaRPr lang="en-US" sz="1200" dirty="0"/>
          </a:p>
        </p:txBody>
      </p:sp>
      <p:sp>
        <p:nvSpPr>
          <p:cNvPr id="18" name="Text 16"/>
          <p:cNvSpPr txBox="1"/>
          <p:nvPr/>
        </p:nvSpPr>
        <p:spPr>
          <a:xfrm>
            <a:off x="3017520" y="3886200"/>
            <a:ext cx="4846320" cy="621792"/>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Gemini 2.5 Flash gets question + facts, must cite fact ids</a:t>
            </a:r>
            <a:endParaRPr lang="en-US" sz="1150" dirty="0"/>
          </a:p>
        </p:txBody>
      </p:sp>
      <p:sp>
        <p:nvSpPr>
          <p:cNvPr id="19" name="Shape 17"/>
          <p:cNvSpPr/>
          <p:nvPr/>
        </p:nvSpPr>
        <p:spPr>
          <a:xfrm>
            <a:off x="548640" y="4617720"/>
            <a:ext cx="2331720" cy="621792"/>
          </a:xfrm>
          <a:prstGeom prst="roundRect">
            <a:avLst>
              <a:gd name="adj" fmla="val 10294"/>
            </a:avLst>
          </a:prstGeom>
          <a:solidFill>
            <a:srgbClr val="FBF1DE"/>
          </a:solidFill>
          <a:ln w="12700">
            <a:solidFill>
              <a:srgbClr val="E9C98A"/>
            </a:solidFill>
            <a:prstDash val="solid"/>
          </a:ln>
        </p:spPr>
      </p:sp>
      <p:sp>
        <p:nvSpPr>
          <p:cNvPr id="20" name="Text 18"/>
          <p:cNvSpPr txBox="1"/>
          <p:nvPr/>
        </p:nvSpPr>
        <p:spPr>
          <a:xfrm>
            <a:off x="640080" y="4617720"/>
            <a:ext cx="2148840" cy="621792"/>
          </a:xfrm>
          <a:prstGeom prst="rect">
            <a:avLst/>
          </a:prstGeom>
          <a:noFill/>
          <a:ln/>
        </p:spPr>
        <p:txBody>
          <a:bodyPr wrap="square" lIns="0" tIns="0" rIns="0" bIns="0" rtlCol="0" anchor="ctr"/>
          <a:lstStyle/>
          <a:p>
            <a:pPr algn="l" indent="0" marL="0">
              <a:buNone/>
            </a:pPr>
            <a:r>
              <a:rPr lang="en-US" sz="1200" b="1" dirty="0">
                <a:solidFill>
                  <a:srgbClr val="16243A"/>
                </a:solidFill>
                <a:latin typeface="Calibri" pitchFamily="34" charset="0"/>
                <a:ea typeface="Calibri" pitchFamily="34" charset="-122"/>
                <a:cs typeface="Calibri" pitchFamily="34" charset="-120"/>
              </a:rPr>
              <a:t>Number guard</a:t>
            </a:r>
            <a:endParaRPr lang="en-US" sz="120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数字守卫</a:t>
            </a:r>
            <a:endParaRPr lang="en-US" sz="1200" dirty="0"/>
          </a:p>
        </p:txBody>
      </p:sp>
      <p:sp>
        <p:nvSpPr>
          <p:cNvPr id="21" name="Text 19"/>
          <p:cNvSpPr txBox="1"/>
          <p:nvPr/>
        </p:nvSpPr>
        <p:spPr>
          <a:xfrm>
            <a:off x="3017520" y="4617720"/>
            <a:ext cx="4846320" cy="621792"/>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extract every number (%, k, M, 万); any not in the facts → reply rejected</a:t>
            </a:r>
            <a:endParaRPr lang="en-US" sz="1150" dirty="0"/>
          </a:p>
        </p:txBody>
      </p:sp>
      <p:sp>
        <p:nvSpPr>
          <p:cNvPr id="22" name="Shape 20"/>
          <p:cNvSpPr/>
          <p:nvPr/>
        </p:nvSpPr>
        <p:spPr>
          <a:xfrm>
            <a:off x="548640" y="5349240"/>
            <a:ext cx="2331720" cy="621792"/>
          </a:xfrm>
          <a:prstGeom prst="roundRect">
            <a:avLst>
              <a:gd name="adj" fmla="val 10294"/>
            </a:avLst>
          </a:prstGeom>
          <a:solidFill>
            <a:srgbClr val="FFFFFF"/>
          </a:solidFill>
          <a:ln w="12700">
            <a:solidFill>
              <a:srgbClr val="DCE3EB"/>
            </a:solidFill>
            <a:prstDash val="solid"/>
          </a:ln>
        </p:spPr>
      </p:sp>
      <p:sp>
        <p:nvSpPr>
          <p:cNvPr id="23" name="Text 21"/>
          <p:cNvSpPr txBox="1"/>
          <p:nvPr/>
        </p:nvSpPr>
        <p:spPr>
          <a:xfrm>
            <a:off x="640080" y="5349240"/>
            <a:ext cx="2148840" cy="621792"/>
          </a:xfrm>
          <a:prstGeom prst="rect">
            <a:avLst/>
          </a:prstGeom>
          <a:noFill/>
          <a:ln/>
        </p:spPr>
        <p:txBody>
          <a:bodyPr wrap="square" lIns="0" tIns="0" rIns="0" bIns="0" rtlCol="0" anchor="ctr"/>
          <a:lstStyle/>
          <a:p>
            <a:pPr algn="l" indent="0" marL="0">
              <a:buNone/>
            </a:pPr>
            <a:r>
              <a:rPr lang="en-US" sz="1200" b="1" dirty="0">
                <a:solidFill>
                  <a:srgbClr val="16243A"/>
                </a:solidFill>
                <a:latin typeface="Calibri" pitchFamily="34" charset="0"/>
                <a:ea typeface="Calibri" pitchFamily="34" charset="-122"/>
                <a:cs typeface="Calibri" pitchFamily="34" charset="-120"/>
              </a:rPr>
              <a:t>Trace</a:t>
            </a:r>
            <a:endParaRPr lang="en-US" sz="1200" dirty="0"/>
          </a:p>
          <a:p>
            <a:pPr algn="l" indent="0" marL="0">
              <a:buNone/>
            </a:pPr>
            <a:r>
              <a:rPr lang="en-US" sz="1000" dirty="0">
                <a:solidFill>
                  <a:srgbClr val="6A7890"/>
                </a:solidFill>
                <a:latin typeface="Microsoft YaHei" pitchFamily="34" charset="0"/>
                <a:ea typeface="Microsoft YaHei" pitchFamily="34" charset="-122"/>
                <a:cs typeface="Microsoft YaHei" pitchFamily="34" charset="-120"/>
              </a:rPr>
              <a:t>追踪</a:t>
            </a:r>
            <a:endParaRPr lang="en-US" sz="1200" dirty="0"/>
          </a:p>
        </p:txBody>
      </p:sp>
      <p:sp>
        <p:nvSpPr>
          <p:cNvPr id="24" name="Text 22"/>
          <p:cNvSpPr txBox="1"/>
          <p:nvPr/>
        </p:nvSpPr>
        <p:spPr>
          <a:xfrm>
            <a:off x="3017520" y="5349240"/>
            <a:ext cx="4846320" cy="621792"/>
          </a:xfrm>
          <a:prstGeom prst="rect">
            <a:avLst/>
          </a:prstGeom>
          <a:noFill/>
          <a:ln/>
        </p:spPr>
        <p:txBody>
          <a:bodyPr wrap="square" lIns="0" tIns="0" rIns="0" bIns="0" rtlCol="0" anchor="ctr"/>
          <a:lstStyle/>
          <a:p>
            <a:pPr indent="0" marL="0">
              <a:buNone/>
            </a:pPr>
            <a:r>
              <a:rPr lang="en-US" sz="1150" dirty="0">
                <a:solidFill>
                  <a:srgbClr val="56667D"/>
                </a:solidFill>
                <a:latin typeface="Calibri" pitchFamily="34" charset="0"/>
                <a:ea typeface="Calibri" pitchFamily="34" charset="-122"/>
                <a:cs typeface="Calibri" pitchFamily="34" charset="-120"/>
              </a:rPr>
              <a:t>ai_traces: model, prompt version, input hash, output, status</a:t>
            </a:r>
            <a:endParaRPr lang="en-US" sz="1150" dirty="0"/>
          </a:p>
        </p:txBody>
      </p:sp>
      <p:sp>
        <p:nvSpPr>
          <p:cNvPr id="25" name="Text 23"/>
          <p:cNvSpPr txBox="1"/>
          <p:nvPr/>
        </p:nvSpPr>
        <p:spPr>
          <a:xfrm>
            <a:off x="8229600" y="1691640"/>
            <a:ext cx="347472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GUARANTEE</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保证</a:t>
            </a:r>
            <a:endParaRPr lang="en-US" sz="1000" dirty="0"/>
          </a:p>
        </p:txBody>
      </p:sp>
      <p:sp>
        <p:nvSpPr>
          <p:cNvPr id="26" name="Shape 24"/>
          <p:cNvSpPr/>
          <p:nvPr/>
        </p:nvSpPr>
        <p:spPr>
          <a:xfrm>
            <a:off x="8229600" y="2093976"/>
            <a:ext cx="91440" cy="91440"/>
          </a:xfrm>
          <a:prstGeom prst="ellipse">
            <a:avLst/>
          </a:prstGeom>
          <a:solidFill>
            <a:srgbClr val="0E7C6B"/>
          </a:solidFill>
          <a:ln w="12700">
            <a:solidFill>
              <a:srgbClr val="0E7C6B"/>
            </a:solidFill>
            <a:prstDash val="solid"/>
          </a:ln>
        </p:spPr>
      </p:sp>
      <p:sp>
        <p:nvSpPr>
          <p:cNvPr id="27" name="Text 25"/>
          <p:cNvSpPr txBox="1"/>
          <p:nvPr/>
        </p:nvSpPr>
        <p:spPr>
          <a:xfrm>
            <a:off x="8430768" y="2011680"/>
            <a:ext cx="3273552" cy="109728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The answer shown is always the computed facts, or a phrasing whose every number matches them within tolerance</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展示的答案要么是计算出的事实，要么是所有数字都在容差内与事实一致的改写</a:t>
            </a:r>
            <a:endParaRPr lang="en-US" sz="1150" dirty="0"/>
          </a:p>
        </p:txBody>
      </p:sp>
      <p:sp>
        <p:nvSpPr>
          <p:cNvPr id="28" name="Shape 26"/>
          <p:cNvSpPr/>
          <p:nvPr/>
        </p:nvSpPr>
        <p:spPr>
          <a:xfrm>
            <a:off x="8229600" y="3236976"/>
            <a:ext cx="91440" cy="91440"/>
          </a:xfrm>
          <a:prstGeom prst="ellipse">
            <a:avLst/>
          </a:prstGeom>
          <a:solidFill>
            <a:srgbClr val="0E7C6B"/>
          </a:solidFill>
          <a:ln w="12700">
            <a:solidFill>
              <a:srgbClr val="0E7C6B"/>
            </a:solidFill>
            <a:prstDash val="solid"/>
          </a:ln>
        </p:spPr>
      </p:sp>
      <p:sp>
        <p:nvSpPr>
          <p:cNvPr id="29" name="Text 27"/>
          <p:cNvSpPr txBox="1"/>
          <p:nvPr/>
        </p:nvSpPr>
        <p:spPr>
          <a:xfrm>
            <a:off x="8430768" y="3154680"/>
            <a:ext cx="3273552" cy="109728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Each fact links to the page that shows the same number</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每条事实都链接到显示同一数字的页面</a:t>
            </a:r>
            <a:endParaRPr lang="en-US" sz="1150" dirty="0"/>
          </a:p>
        </p:txBody>
      </p:sp>
      <p:sp>
        <p:nvSpPr>
          <p:cNvPr id="30" name="Shape 28"/>
          <p:cNvSpPr/>
          <p:nvPr/>
        </p:nvSpPr>
        <p:spPr>
          <a:xfrm>
            <a:off x="8229600" y="4379976"/>
            <a:ext cx="91440" cy="91440"/>
          </a:xfrm>
          <a:prstGeom prst="ellipse">
            <a:avLst/>
          </a:prstGeom>
          <a:solidFill>
            <a:srgbClr val="0E7C6B"/>
          </a:solidFill>
          <a:ln w="12700">
            <a:solidFill>
              <a:srgbClr val="0E7C6B"/>
            </a:solidFill>
            <a:prstDash val="solid"/>
          </a:ln>
        </p:spPr>
      </p:sp>
      <p:sp>
        <p:nvSpPr>
          <p:cNvPr id="31" name="Text 29"/>
          <p:cNvSpPr txBox="1"/>
          <p:nvPr/>
        </p:nvSpPr>
        <p:spPr>
          <a:xfrm>
            <a:off x="8430768" y="4297680"/>
            <a:ext cx="3273552" cy="109728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Works fully without an API key</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无 API 密钥也能完整运行</a:t>
            </a:r>
            <a:endParaRPr lang="en-US" sz="1150" dirty="0"/>
          </a:p>
        </p:txBody>
      </p:sp>
      <p:sp>
        <p:nvSpPr>
          <p:cNvPr id="32" name="Text 30"/>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API LAYER &amp; FRONTEND</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接口层与前端</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Security, caching and bilingual rendering</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安全、缓存与双语渲染</a:t>
            </a:r>
            <a:endParaRPr lang="en-US" sz="1500" dirty="0"/>
          </a:p>
        </p:txBody>
      </p:sp>
      <p:sp>
        <p:nvSpPr>
          <p:cNvPr id="7" name="Text 5"/>
          <p:cNvSpPr txBox="1"/>
          <p:nvPr/>
        </p:nvSpPr>
        <p:spPr>
          <a:xfrm>
            <a:off x="548640" y="1691640"/>
            <a:ext cx="548640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PER REQUEST (FASTAPI)</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每个请求（FastAPI）</a:t>
            </a:r>
            <a:endParaRPr lang="en-US" sz="1000" dirty="0"/>
          </a:p>
        </p:txBody>
      </p:sp>
      <p:sp>
        <p:nvSpPr>
          <p:cNvPr id="8" name="Shape 6"/>
          <p:cNvSpPr/>
          <p:nvPr/>
        </p:nvSpPr>
        <p:spPr>
          <a:xfrm>
            <a:off x="548640" y="2093976"/>
            <a:ext cx="91440" cy="91440"/>
          </a:xfrm>
          <a:prstGeom prst="ellipse">
            <a:avLst/>
          </a:prstGeom>
          <a:solidFill>
            <a:srgbClr val="0E7C6B"/>
          </a:solidFill>
          <a:ln w="12700">
            <a:solidFill>
              <a:srgbClr val="0E7C6B"/>
            </a:solidFill>
            <a:prstDash val="solid"/>
          </a:ln>
        </p:spPr>
      </p:sp>
      <p:sp>
        <p:nvSpPr>
          <p:cNvPr id="9" name="Text 7"/>
          <p:cNvSpPr txBox="1"/>
          <p:nvPr/>
        </p:nvSpPr>
        <p:spPr>
          <a:xfrm>
            <a:off x="749808" y="2011680"/>
            <a:ext cx="5468112" cy="73152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Auth: Bearer dmis_… token → SHA-256 lookup; 90-day expiry; DIP_AUTH=off for local</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认证：Bearer 令牌 → SHA-256 查询；90 天过期；本地可关闭</a:t>
            </a:r>
            <a:endParaRPr lang="en-US" sz="1150" dirty="0"/>
          </a:p>
        </p:txBody>
      </p:sp>
      <p:sp>
        <p:nvSpPr>
          <p:cNvPr id="10" name="Shape 8"/>
          <p:cNvSpPr/>
          <p:nvPr/>
        </p:nvSpPr>
        <p:spPr>
          <a:xfrm>
            <a:off x="548640" y="2871216"/>
            <a:ext cx="91440" cy="91440"/>
          </a:xfrm>
          <a:prstGeom prst="ellipse">
            <a:avLst/>
          </a:prstGeom>
          <a:solidFill>
            <a:srgbClr val="0E7C6B"/>
          </a:solidFill>
          <a:ln w="12700">
            <a:solidFill>
              <a:srgbClr val="0E7C6B"/>
            </a:solidFill>
            <a:prstDash val="solid"/>
          </a:ln>
        </p:spPr>
      </p:sp>
      <p:sp>
        <p:nvSpPr>
          <p:cNvPr id="11" name="Text 9"/>
          <p:cNvSpPr txBox="1"/>
          <p:nvPr/>
        </p:nvSpPr>
        <p:spPr>
          <a:xfrm>
            <a:off x="749808" y="2788920"/>
            <a:ext cx="5468112" cy="73152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RBAC: require(resource, action) per route; 7 roles</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权限：每个路由 require(资源, 动作)；7 种角色</a:t>
            </a:r>
            <a:endParaRPr lang="en-US" sz="1150" dirty="0"/>
          </a:p>
        </p:txBody>
      </p:sp>
      <p:sp>
        <p:nvSpPr>
          <p:cNvPr id="12" name="Shape 10"/>
          <p:cNvSpPr/>
          <p:nvPr/>
        </p:nvSpPr>
        <p:spPr>
          <a:xfrm>
            <a:off x="548640" y="3648456"/>
            <a:ext cx="91440" cy="91440"/>
          </a:xfrm>
          <a:prstGeom prst="ellipse">
            <a:avLst/>
          </a:prstGeom>
          <a:solidFill>
            <a:srgbClr val="0E7C6B"/>
          </a:solidFill>
          <a:ln w="12700">
            <a:solidFill>
              <a:srgbClr val="0E7C6B"/>
            </a:solidFill>
            <a:prstDash val="solid"/>
          </a:ln>
        </p:spPr>
      </p:sp>
      <p:sp>
        <p:nvSpPr>
          <p:cNvPr id="13" name="Text 11"/>
          <p:cNvSpPr txBox="1"/>
          <p:nvPr/>
        </p:nvSpPr>
        <p:spPr>
          <a:xfrm>
            <a:off x="749808" y="3566160"/>
            <a:ext cx="5468112" cy="73152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Market scope: product managers see only their categories (assert_market)</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市场范围：产品经理只能访问其负责类目</a:t>
            </a:r>
            <a:endParaRPr lang="en-US" sz="1150" dirty="0"/>
          </a:p>
        </p:txBody>
      </p:sp>
      <p:sp>
        <p:nvSpPr>
          <p:cNvPr id="14" name="Shape 12"/>
          <p:cNvSpPr/>
          <p:nvPr/>
        </p:nvSpPr>
        <p:spPr>
          <a:xfrm>
            <a:off x="548640" y="4425696"/>
            <a:ext cx="91440" cy="91440"/>
          </a:xfrm>
          <a:prstGeom prst="ellipse">
            <a:avLst/>
          </a:prstGeom>
          <a:solidFill>
            <a:srgbClr val="0E7C6B"/>
          </a:solidFill>
          <a:ln w="12700">
            <a:solidFill>
              <a:srgbClr val="0E7C6B"/>
            </a:solidFill>
            <a:prstDash val="solid"/>
          </a:ln>
        </p:spPr>
      </p:sp>
      <p:sp>
        <p:nvSpPr>
          <p:cNvPr id="15" name="Text 13"/>
          <p:cNvSpPr txBox="1"/>
          <p:nvPr/>
        </p:nvSpPr>
        <p:spPr>
          <a:xfrm>
            <a:off x="749808" y="4343400"/>
            <a:ext cx="5468112" cy="73152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@response_cache: key = args + data version + scope</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响应缓存：键 = 参数 + 数据版本 + 范围</a:t>
            </a:r>
            <a:endParaRPr lang="en-US" sz="1150" dirty="0"/>
          </a:p>
        </p:txBody>
      </p:sp>
      <p:sp>
        <p:nvSpPr>
          <p:cNvPr id="16" name="Shape 14"/>
          <p:cNvSpPr/>
          <p:nvPr/>
        </p:nvSpPr>
        <p:spPr>
          <a:xfrm>
            <a:off x="548640" y="5202936"/>
            <a:ext cx="91440" cy="91440"/>
          </a:xfrm>
          <a:prstGeom prst="ellipse">
            <a:avLst/>
          </a:prstGeom>
          <a:solidFill>
            <a:srgbClr val="0E7C6B"/>
          </a:solidFill>
          <a:ln w="12700">
            <a:solidFill>
              <a:srgbClr val="0E7C6B"/>
            </a:solidFill>
            <a:prstDash val="solid"/>
          </a:ln>
        </p:spPr>
      </p:sp>
      <p:sp>
        <p:nvSpPr>
          <p:cNvPr id="17" name="Text 15"/>
          <p:cNvSpPr txBox="1"/>
          <p:nvPr/>
        </p:nvSpPr>
        <p:spPr>
          <a:xfrm>
            <a:off x="749808" y="5120640"/>
            <a:ext cx="5468112" cy="73152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Audit middleware: state-changing requests; read-only computations excluded</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审计中间件：记录改变状态的请求；只读计算不记录</a:t>
            </a:r>
            <a:endParaRPr lang="en-US" sz="1150" dirty="0"/>
          </a:p>
        </p:txBody>
      </p:sp>
      <p:sp>
        <p:nvSpPr>
          <p:cNvPr id="18" name="Text 16"/>
          <p:cNvSpPr txBox="1"/>
          <p:nvPr/>
        </p:nvSpPr>
        <p:spPr>
          <a:xfrm>
            <a:off x="6583680" y="1691640"/>
            <a:ext cx="502920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FRONTEND (NEXT.JS / REACT)</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前端（Next.js / React）</a:t>
            </a:r>
            <a:endParaRPr lang="en-US" sz="1000" dirty="0"/>
          </a:p>
        </p:txBody>
      </p:sp>
      <p:sp>
        <p:nvSpPr>
          <p:cNvPr id="19" name="Shape 17"/>
          <p:cNvSpPr/>
          <p:nvPr/>
        </p:nvSpPr>
        <p:spPr>
          <a:xfrm>
            <a:off x="6583680" y="2093976"/>
            <a:ext cx="91440" cy="91440"/>
          </a:xfrm>
          <a:prstGeom prst="ellipse">
            <a:avLst/>
          </a:prstGeom>
          <a:solidFill>
            <a:srgbClr val="0E7C6B"/>
          </a:solidFill>
          <a:ln w="12700">
            <a:solidFill>
              <a:srgbClr val="0E7C6B"/>
            </a:solidFill>
            <a:prstDash val="solid"/>
          </a:ln>
        </p:spPr>
      </p:sp>
      <p:sp>
        <p:nvSpPr>
          <p:cNvPr id="20" name="Text 18"/>
          <p:cNvSpPr txBox="1"/>
          <p:nvPr/>
        </p:nvSpPr>
        <p:spPr>
          <a:xfrm>
            <a:off x="6784848" y="2011680"/>
            <a:ext cx="487375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One folder per page in app/; client components call useApi()</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app/ 中每页一个目录；客户端组件调用 useApi()</a:t>
            </a:r>
            <a:endParaRPr lang="en-US" sz="1150" dirty="0"/>
          </a:p>
        </p:txBody>
      </p:sp>
      <p:sp>
        <p:nvSpPr>
          <p:cNvPr id="21" name="Shape 19"/>
          <p:cNvSpPr/>
          <p:nvPr/>
        </p:nvSpPr>
        <p:spPr>
          <a:xfrm>
            <a:off x="6583680" y="2962656"/>
            <a:ext cx="91440" cy="91440"/>
          </a:xfrm>
          <a:prstGeom prst="ellipse">
            <a:avLst/>
          </a:prstGeom>
          <a:solidFill>
            <a:srgbClr val="0E7C6B"/>
          </a:solidFill>
          <a:ln w="12700">
            <a:solidFill>
              <a:srgbClr val="0E7C6B"/>
            </a:solidFill>
            <a:prstDash val="solid"/>
          </a:ln>
        </p:spPr>
      </p:sp>
      <p:sp>
        <p:nvSpPr>
          <p:cNvPr id="22" name="Text 20"/>
          <p:cNvSpPr txBox="1"/>
          <p:nvPr/>
        </p:nvSpPr>
        <p:spPr>
          <a:xfrm>
            <a:off x="6784848" y="2880360"/>
            <a:ext cx="487375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ECharts for charts; react-three-fiber for globe, galaxy, universe</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ECharts 绘图；react-three-fiber 渲染地球、星系、宇宙</a:t>
            </a:r>
            <a:endParaRPr lang="en-US" sz="1150" dirty="0"/>
          </a:p>
        </p:txBody>
      </p:sp>
      <p:sp>
        <p:nvSpPr>
          <p:cNvPr id="23" name="Shape 21"/>
          <p:cNvSpPr/>
          <p:nvPr/>
        </p:nvSpPr>
        <p:spPr>
          <a:xfrm>
            <a:off x="6583680" y="3831336"/>
            <a:ext cx="91440" cy="91440"/>
          </a:xfrm>
          <a:prstGeom prst="ellipse">
            <a:avLst/>
          </a:prstGeom>
          <a:solidFill>
            <a:srgbClr val="0E7C6B"/>
          </a:solidFill>
          <a:ln w="12700">
            <a:solidFill>
              <a:srgbClr val="0E7C6B"/>
            </a:solidFill>
            <a:prstDash val="solid"/>
          </a:ln>
        </p:spPr>
      </p:sp>
      <p:sp>
        <p:nvSpPr>
          <p:cNvPr id="24" name="Text 22"/>
          <p:cNvSpPr txBox="1"/>
          <p:nvPr/>
        </p:nvSpPr>
        <p:spPr>
          <a:xfrm>
            <a:off x="6784848" y="3749040"/>
            <a:ext cx="487375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i18n: t(key, vars) over messages/en.ts + zh.ts (~1,250 keys); generated backend sentences via basis-zh patterns</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国际化：t(键, 变量) 读取中英词典（约 1,250 键）；后端生成句子用 basis-zh 规则翻译</a:t>
            </a:r>
            <a:endParaRPr lang="en-US" sz="1150" dirty="0"/>
          </a:p>
        </p:txBody>
      </p:sp>
      <p:sp>
        <p:nvSpPr>
          <p:cNvPr id="25" name="Shape 23"/>
          <p:cNvSpPr/>
          <p:nvPr/>
        </p:nvSpPr>
        <p:spPr>
          <a:xfrm>
            <a:off x="6583680" y="4700016"/>
            <a:ext cx="91440" cy="91440"/>
          </a:xfrm>
          <a:prstGeom prst="ellipse">
            <a:avLst/>
          </a:prstGeom>
          <a:solidFill>
            <a:srgbClr val="0E7C6B"/>
          </a:solidFill>
          <a:ln w="12700">
            <a:solidFill>
              <a:srgbClr val="0E7C6B"/>
            </a:solidFill>
            <a:prstDash val="solid"/>
          </a:ln>
        </p:spPr>
      </p:sp>
      <p:sp>
        <p:nvSpPr>
          <p:cNvPr id="26" name="Text 24"/>
          <p:cNvSpPr txBox="1"/>
          <p:nvPr/>
        </p:nvSpPr>
        <p:spPr>
          <a:xfrm>
            <a:off x="6784848" y="4617720"/>
            <a:ext cx="487375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check-i18n.mjs in CI: keys match + no hard-coded English</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CI 中的 check-i18n：键一致且无硬编码英文</a:t>
            </a:r>
            <a:endParaRPr lang="en-US" sz="1150" dirty="0"/>
          </a:p>
        </p:txBody>
      </p:sp>
      <p:sp>
        <p:nvSpPr>
          <p:cNvPr id="27" name="Text 25"/>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VERIFICATION</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验证</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How correctness is proven, not asserted</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正确性是被证明的，而非声称的</a:t>
            </a:r>
            <a:endParaRPr lang="en-US" sz="1500" dirty="0"/>
          </a:p>
        </p:txBody>
      </p:sp>
      <p:sp>
        <p:nvSpPr>
          <p:cNvPr id="7" name="Shape 5"/>
          <p:cNvSpPr/>
          <p:nvPr/>
        </p:nvSpPr>
        <p:spPr>
          <a:xfrm>
            <a:off x="548640" y="1691640"/>
            <a:ext cx="2606040" cy="1325880"/>
          </a:xfrm>
          <a:prstGeom prst="roundRect">
            <a:avLst>
              <a:gd name="adj" fmla="val 5517"/>
            </a:avLst>
          </a:prstGeom>
          <a:solidFill>
            <a:srgbClr val="E3F2EF"/>
          </a:solidFill>
          <a:ln w="12700">
            <a:solidFill>
              <a:srgbClr val="0E7C6B"/>
            </a:solidFill>
            <a:prstDash val="solid"/>
          </a:ln>
        </p:spPr>
      </p:sp>
      <p:sp>
        <p:nvSpPr>
          <p:cNvPr id="8" name="Text 6"/>
          <p:cNvSpPr txBox="1"/>
          <p:nvPr/>
        </p:nvSpPr>
        <p:spPr>
          <a:xfrm>
            <a:off x="731520" y="1737360"/>
            <a:ext cx="2286000" cy="1234440"/>
          </a:xfrm>
          <a:prstGeom prst="rect">
            <a:avLst/>
          </a:prstGeom>
          <a:noFill/>
          <a:ln/>
        </p:spPr>
        <p:txBody>
          <a:bodyPr wrap="square" lIns="0" tIns="0" rIns="0" bIns="0" rtlCol="0" anchor="ctr"/>
          <a:lstStyle/>
          <a:p>
            <a:pPr indent="0" marL="0">
              <a:buNone/>
            </a:pPr>
            <a:r>
              <a:rPr lang="en-US" sz="3000" b="1" dirty="0">
                <a:solidFill>
                  <a:srgbClr val="0E7C6B"/>
                </a:solidFill>
                <a:latin typeface="Cambria" pitchFamily="34" charset="0"/>
                <a:ea typeface="Cambria" pitchFamily="34" charset="-122"/>
                <a:cs typeface="Cambria" pitchFamily="34" charset="-120"/>
              </a:rPr>
              <a:t>1.7%</a:t>
            </a:r>
            <a:endParaRPr lang="en-US" sz="3000" dirty="0"/>
          </a:p>
          <a:p>
            <a:pPr indent="0" marL="0">
              <a:buNone/>
            </a:pPr>
            <a:r>
              <a:rPr lang="en-US" sz="1150" dirty="0">
                <a:solidFill>
                  <a:srgbClr val="16243A"/>
                </a:solidFill>
                <a:latin typeface="Calibri" pitchFamily="34" charset="0"/>
                <a:ea typeface="Calibri" pitchFamily="34" charset="-122"/>
                <a:cs typeface="Calibri" pitchFamily="34" charset="-120"/>
              </a:rPr>
              <a:t>median size error</a:t>
            </a:r>
            <a:endParaRPr lang="en-US" sz="300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规模中位误差</a:t>
            </a:r>
            <a:endParaRPr lang="en-US" sz="3000" dirty="0"/>
          </a:p>
        </p:txBody>
      </p:sp>
      <p:sp>
        <p:nvSpPr>
          <p:cNvPr id="9" name="Shape 7"/>
          <p:cNvSpPr/>
          <p:nvPr/>
        </p:nvSpPr>
        <p:spPr>
          <a:xfrm>
            <a:off x="3364992" y="1691640"/>
            <a:ext cx="2606040" cy="1325880"/>
          </a:xfrm>
          <a:prstGeom prst="roundRect">
            <a:avLst>
              <a:gd name="adj" fmla="val 5517"/>
            </a:avLst>
          </a:prstGeom>
          <a:solidFill>
            <a:srgbClr val="E3F2EF"/>
          </a:solidFill>
          <a:ln w="12700">
            <a:solidFill>
              <a:srgbClr val="0E7C6B"/>
            </a:solidFill>
            <a:prstDash val="solid"/>
          </a:ln>
        </p:spPr>
      </p:sp>
      <p:sp>
        <p:nvSpPr>
          <p:cNvPr id="10" name="Text 8"/>
          <p:cNvSpPr txBox="1"/>
          <p:nvPr/>
        </p:nvSpPr>
        <p:spPr>
          <a:xfrm>
            <a:off x="3547872" y="1737360"/>
            <a:ext cx="2286000" cy="1234440"/>
          </a:xfrm>
          <a:prstGeom prst="rect">
            <a:avLst/>
          </a:prstGeom>
          <a:noFill/>
          <a:ln/>
        </p:spPr>
        <p:txBody>
          <a:bodyPr wrap="square" lIns="0" tIns="0" rIns="0" bIns="0" rtlCol="0" anchor="ctr"/>
          <a:lstStyle/>
          <a:p>
            <a:pPr indent="0" marL="0">
              <a:buNone/>
            </a:pPr>
            <a:r>
              <a:rPr lang="en-US" sz="3000" b="1" dirty="0">
                <a:solidFill>
                  <a:srgbClr val="0E7C6B"/>
                </a:solidFill>
                <a:latin typeface="Cambria" pitchFamily="34" charset="0"/>
                <a:ea typeface="Cambria" pitchFamily="34" charset="-122"/>
                <a:cs typeface="Cambria" pitchFamily="34" charset="-120"/>
              </a:rPr>
              <a:t>100%</a:t>
            </a:r>
            <a:endParaRPr lang="en-US" sz="3000" dirty="0"/>
          </a:p>
          <a:p>
            <a:pPr indent="0" marL="0">
              <a:buNone/>
            </a:pPr>
            <a:r>
              <a:rPr lang="en-US" sz="1150" dirty="0">
                <a:solidFill>
                  <a:srgbClr val="16243A"/>
                </a:solidFill>
                <a:latin typeface="Calibri" pitchFamily="34" charset="0"/>
                <a:ea typeface="Calibri" pitchFamily="34" charset="-122"/>
                <a:cs typeface="Calibri" pitchFamily="34" charset="-120"/>
              </a:rPr>
              <a:t>95% interval coverage</a:t>
            </a:r>
            <a:endParaRPr lang="en-US" sz="300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95% 区间覆盖率</a:t>
            </a:r>
            <a:endParaRPr lang="en-US" sz="3000" dirty="0"/>
          </a:p>
        </p:txBody>
      </p:sp>
      <p:sp>
        <p:nvSpPr>
          <p:cNvPr id="11" name="Shape 9"/>
          <p:cNvSpPr/>
          <p:nvPr/>
        </p:nvSpPr>
        <p:spPr>
          <a:xfrm>
            <a:off x="6181344" y="1691640"/>
            <a:ext cx="2606040" cy="1325880"/>
          </a:xfrm>
          <a:prstGeom prst="roundRect">
            <a:avLst>
              <a:gd name="adj" fmla="val 5517"/>
            </a:avLst>
          </a:prstGeom>
          <a:solidFill>
            <a:srgbClr val="E3F2EF"/>
          </a:solidFill>
          <a:ln w="12700">
            <a:solidFill>
              <a:srgbClr val="0E7C6B"/>
            </a:solidFill>
            <a:prstDash val="solid"/>
          </a:ln>
        </p:spPr>
      </p:sp>
      <p:sp>
        <p:nvSpPr>
          <p:cNvPr id="12" name="Text 10"/>
          <p:cNvSpPr txBox="1"/>
          <p:nvPr/>
        </p:nvSpPr>
        <p:spPr>
          <a:xfrm>
            <a:off x="6364224" y="1737360"/>
            <a:ext cx="2286000" cy="1234440"/>
          </a:xfrm>
          <a:prstGeom prst="rect">
            <a:avLst/>
          </a:prstGeom>
          <a:noFill/>
          <a:ln/>
        </p:spPr>
        <p:txBody>
          <a:bodyPr wrap="square" lIns="0" tIns="0" rIns="0" bIns="0" rtlCol="0" anchor="ctr"/>
          <a:lstStyle/>
          <a:p>
            <a:pPr indent="0" marL="0">
              <a:buNone/>
            </a:pPr>
            <a:r>
              <a:rPr lang="en-US" sz="3000" b="1" dirty="0">
                <a:solidFill>
                  <a:srgbClr val="0E7C6B"/>
                </a:solidFill>
                <a:latin typeface="Cambria" pitchFamily="34" charset="0"/>
                <a:ea typeface="Cambria" pitchFamily="34" charset="-122"/>
                <a:cs typeface="Cambria" pitchFamily="34" charset="-120"/>
              </a:rPr>
              <a:t>673</a:t>
            </a:r>
            <a:endParaRPr lang="en-US" sz="3000" dirty="0"/>
          </a:p>
          <a:p>
            <a:pPr indent="0" marL="0">
              <a:buNone/>
            </a:pPr>
            <a:r>
              <a:rPr lang="en-US" sz="1150" dirty="0">
                <a:solidFill>
                  <a:srgbClr val="16243A"/>
                </a:solidFill>
                <a:latin typeface="Calibri" pitchFamily="34" charset="0"/>
                <a:ea typeface="Calibri" pitchFamily="34" charset="-122"/>
                <a:cs typeface="Calibri" pitchFamily="34" charset="-120"/>
              </a:rPr>
              <a:t>automated tests</a:t>
            </a:r>
            <a:endParaRPr lang="en-US" sz="300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自动化测试</a:t>
            </a:r>
            <a:endParaRPr lang="en-US" sz="3000" dirty="0"/>
          </a:p>
        </p:txBody>
      </p:sp>
      <p:sp>
        <p:nvSpPr>
          <p:cNvPr id="13" name="Shape 11"/>
          <p:cNvSpPr/>
          <p:nvPr/>
        </p:nvSpPr>
        <p:spPr>
          <a:xfrm>
            <a:off x="8997696" y="1691640"/>
            <a:ext cx="2606040" cy="1325880"/>
          </a:xfrm>
          <a:prstGeom prst="roundRect">
            <a:avLst>
              <a:gd name="adj" fmla="val 5517"/>
            </a:avLst>
          </a:prstGeom>
          <a:solidFill>
            <a:srgbClr val="E3F2EF"/>
          </a:solidFill>
          <a:ln w="12700">
            <a:solidFill>
              <a:srgbClr val="0E7C6B"/>
            </a:solidFill>
            <a:prstDash val="solid"/>
          </a:ln>
        </p:spPr>
      </p:sp>
      <p:sp>
        <p:nvSpPr>
          <p:cNvPr id="14" name="Text 12"/>
          <p:cNvSpPr txBox="1"/>
          <p:nvPr/>
        </p:nvSpPr>
        <p:spPr>
          <a:xfrm>
            <a:off x="9180576" y="1737360"/>
            <a:ext cx="2286000" cy="1234440"/>
          </a:xfrm>
          <a:prstGeom prst="rect">
            <a:avLst/>
          </a:prstGeom>
          <a:noFill/>
          <a:ln/>
        </p:spPr>
        <p:txBody>
          <a:bodyPr wrap="square" lIns="0" tIns="0" rIns="0" bIns="0" rtlCol="0" anchor="ctr"/>
          <a:lstStyle/>
          <a:p>
            <a:pPr indent="0" marL="0">
              <a:buNone/>
            </a:pPr>
            <a:r>
              <a:rPr lang="en-US" sz="3000" b="1" dirty="0">
                <a:solidFill>
                  <a:srgbClr val="0E7C6B"/>
                </a:solidFill>
                <a:latin typeface="Cambria" pitchFamily="34" charset="0"/>
                <a:ea typeface="Cambria" pitchFamily="34" charset="-122"/>
                <a:cs typeface="Cambria" pitchFamily="34" charset="-120"/>
              </a:rPr>
              <a:t>0.72</a:t>
            </a:r>
            <a:endParaRPr lang="en-US" sz="3000" dirty="0"/>
          </a:p>
          <a:p>
            <a:pPr indent="0" marL="0">
              <a:buNone/>
            </a:pPr>
            <a:r>
              <a:rPr lang="en-US" sz="1150" dirty="0">
                <a:solidFill>
                  <a:srgbClr val="16243A"/>
                </a:solidFill>
                <a:latin typeface="Calibri" pitchFamily="34" charset="0"/>
                <a:ea typeface="Calibri" pitchFamily="34" charset="-122"/>
                <a:cs typeface="Calibri" pitchFamily="34" charset="-120"/>
              </a:rPr>
              <a:t>hold-out AUC, dental_models</a:t>
            </a:r>
            <a:endParaRPr lang="en-US" sz="300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留出 AUC</a:t>
            </a:r>
            <a:endParaRPr lang="en-US" sz="3000" dirty="0"/>
          </a:p>
        </p:txBody>
      </p:sp>
      <p:sp>
        <p:nvSpPr>
          <p:cNvPr id="15" name="Text 13"/>
          <p:cNvSpPr txBox="1"/>
          <p:nvPr/>
        </p:nvSpPr>
        <p:spPr>
          <a:xfrm>
            <a:off x="548640" y="3291840"/>
            <a:ext cx="548640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SYNTHETIC GROUND TRUTH</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合成真值</a:t>
            </a:r>
            <a:endParaRPr lang="en-US" sz="1000" dirty="0"/>
          </a:p>
        </p:txBody>
      </p:sp>
      <p:sp>
        <p:nvSpPr>
          <p:cNvPr id="16" name="Shape 14"/>
          <p:cNvSpPr/>
          <p:nvPr/>
        </p:nvSpPr>
        <p:spPr>
          <a:xfrm>
            <a:off x="548640" y="3694176"/>
            <a:ext cx="91440" cy="91440"/>
          </a:xfrm>
          <a:prstGeom prst="ellipse">
            <a:avLst/>
          </a:prstGeom>
          <a:solidFill>
            <a:srgbClr val="0E7C6B"/>
          </a:solidFill>
          <a:ln w="12700">
            <a:solidFill>
              <a:srgbClr val="0E7C6B"/>
            </a:solidFill>
            <a:prstDash val="solid"/>
          </a:ln>
        </p:spPr>
      </p:sp>
      <p:sp>
        <p:nvSpPr>
          <p:cNvPr id="17" name="Text 15"/>
          <p:cNvSpPr txBox="1"/>
          <p:nvPr/>
        </p:nvSpPr>
        <p:spPr>
          <a:xfrm>
            <a:off x="749808" y="3611880"/>
            <a:ext cx="546811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synthetic.py generates markets with known sales: sub-categories, elasticity −0.9, rating &amp; age effects, normal or t3 noise, 10% missing covariates</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synthetic.py 生成已知销量的市场：子类目、弹性 −0.9、评分与上架时长效应、正态或 t3 噪声、10% 缺失协变量</a:t>
            </a:r>
            <a:endParaRPr lang="en-US" sz="1150" dirty="0"/>
          </a:p>
        </p:txBody>
      </p:sp>
      <p:sp>
        <p:nvSpPr>
          <p:cNvPr id="18" name="Shape 16"/>
          <p:cNvSpPr/>
          <p:nvPr/>
        </p:nvSpPr>
        <p:spPr>
          <a:xfrm>
            <a:off x="548640" y="4562856"/>
            <a:ext cx="91440" cy="91440"/>
          </a:xfrm>
          <a:prstGeom prst="ellipse">
            <a:avLst/>
          </a:prstGeom>
          <a:solidFill>
            <a:srgbClr val="0E7C6B"/>
          </a:solidFill>
          <a:ln w="12700">
            <a:solidFill>
              <a:srgbClr val="0E7C6B"/>
            </a:solidFill>
            <a:prstDash val="solid"/>
          </a:ln>
        </p:spPr>
      </p:sp>
      <p:sp>
        <p:nvSpPr>
          <p:cNvPr id="19" name="Text 17"/>
          <p:cNvSpPr txBox="1"/>
          <p:nvPr/>
        </p:nvSpPr>
        <p:spPr>
          <a:xfrm>
            <a:off x="749808" y="4480560"/>
            <a:ext cx="546811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Real badge censoring applied; calibration seeds and validation seeds kept apart</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施加真实徽章删失；校准与验证使用不同随机种子</a:t>
            </a:r>
            <a:endParaRPr lang="en-US" sz="1150" dirty="0"/>
          </a:p>
        </p:txBody>
      </p:sp>
      <p:sp>
        <p:nvSpPr>
          <p:cNvPr id="20" name="Text 18"/>
          <p:cNvSpPr txBox="1"/>
          <p:nvPr/>
        </p:nvSpPr>
        <p:spPr>
          <a:xfrm>
            <a:off x="6583680" y="3291840"/>
            <a:ext cx="5029200" cy="237744"/>
          </a:xfrm>
          <a:prstGeom prst="rect">
            <a:avLst/>
          </a:prstGeom>
          <a:noFill/>
          <a:ln/>
        </p:spPr>
        <p:txBody>
          <a:bodyPr wrap="square" lIns="0" tIns="0" rIns="0" bIns="0" rtlCol="0" anchor="ctr"/>
          <a:lstStyle/>
          <a:p>
            <a:pPr indent="0" marL="0">
              <a:buNone/>
            </a:pPr>
            <a:r>
              <a:rPr lang="en-US" sz="1000" b="1" spc="200" kern="0" dirty="0">
                <a:solidFill>
                  <a:srgbClr val="0E7C6B"/>
                </a:solidFill>
                <a:latin typeface="Calibri" pitchFamily="34" charset="0"/>
                <a:ea typeface="Calibri" pitchFamily="34" charset="-122"/>
                <a:cs typeface="Calibri" pitchFamily="34" charset="-120"/>
              </a:rPr>
              <a:t>INVARIANT &amp; ACCEPTANCE TESTS</a:t>
            </a:r>
            <a:pPr indent="0" marL="0">
              <a:buNone/>
            </a:pPr>
            <a:r>
              <a:rPr lang="en-US" sz="1000" b="1" dirty="0">
                <a:solidFill>
                  <a:srgbClr val="0E7C6B"/>
                </a:solidFill>
                <a:latin typeface="Microsoft YaHei" pitchFamily="34" charset="0"/>
                <a:ea typeface="Microsoft YaHei" pitchFamily="34" charset="-122"/>
                <a:cs typeface="Microsoft YaHei" pitchFamily="34" charset="-120"/>
              </a:rPr>
              <a:t>  不变量与验收测试</a:t>
            </a:r>
            <a:endParaRPr lang="en-US" sz="1000" dirty="0"/>
          </a:p>
        </p:txBody>
      </p:sp>
      <p:sp>
        <p:nvSpPr>
          <p:cNvPr id="21" name="Shape 19"/>
          <p:cNvSpPr/>
          <p:nvPr/>
        </p:nvSpPr>
        <p:spPr>
          <a:xfrm>
            <a:off x="6583680" y="3694176"/>
            <a:ext cx="91440" cy="91440"/>
          </a:xfrm>
          <a:prstGeom prst="ellipse">
            <a:avLst/>
          </a:prstGeom>
          <a:solidFill>
            <a:srgbClr val="0E7C6B"/>
          </a:solidFill>
          <a:ln w="12700">
            <a:solidFill>
              <a:srgbClr val="0E7C6B"/>
            </a:solidFill>
            <a:prstDash val="solid"/>
          </a:ln>
        </p:spPr>
      </p:sp>
      <p:sp>
        <p:nvSpPr>
          <p:cNvPr id="22" name="Text 20"/>
          <p:cNvSpPr txBox="1"/>
          <p:nvPr/>
        </p:nvSpPr>
        <p:spPr>
          <a:xfrm>
            <a:off x="6784848" y="3611880"/>
            <a:ext cx="487375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Listings = products = brands = segments = market; shares sum to 1; estimate inside its interval</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商品页 = 产品 = 品牌 = 细分 = 市场；份额和为 1；估计值在区间内</a:t>
            </a:r>
            <a:endParaRPr lang="en-US" sz="1150" dirty="0"/>
          </a:p>
        </p:txBody>
      </p:sp>
      <p:sp>
        <p:nvSpPr>
          <p:cNvPr id="23" name="Shape 21"/>
          <p:cNvSpPr/>
          <p:nvPr/>
        </p:nvSpPr>
        <p:spPr>
          <a:xfrm>
            <a:off x="6583680" y="4562856"/>
            <a:ext cx="91440" cy="91440"/>
          </a:xfrm>
          <a:prstGeom prst="ellipse">
            <a:avLst/>
          </a:prstGeom>
          <a:solidFill>
            <a:srgbClr val="0E7C6B"/>
          </a:solidFill>
          <a:ln w="12700">
            <a:solidFill>
              <a:srgbClr val="0E7C6B"/>
            </a:solidFill>
            <a:prstDash val="solid"/>
          </a:ln>
        </p:spPr>
      </p:sp>
      <p:sp>
        <p:nvSpPr>
          <p:cNvPr id="24" name="Text 22"/>
          <p:cNvSpPr txBox="1"/>
          <p:nvPr/>
        </p:nvSpPr>
        <p:spPr>
          <a:xfrm>
            <a:off x="6784848" y="4480560"/>
            <a:ext cx="487375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Bilingual end-to-end journey: two uploads → size → gaps → competitors → launch → board → analyst EN/ZH → alerts</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双语端到端流程：两次上传 → 规模 → 缺口 → 竞争 → 模拟 → 看板 → 中英分析师 → 预警</a:t>
            </a:r>
            <a:endParaRPr lang="en-US" sz="1150" dirty="0"/>
          </a:p>
        </p:txBody>
      </p:sp>
      <p:sp>
        <p:nvSpPr>
          <p:cNvPr id="25" name="Shape 23"/>
          <p:cNvSpPr/>
          <p:nvPr/>
        </p:nvSpPr>
        <p:spPr>
          <a:xfrm>
            <a:off x="6583680" y="5431536"/>
            <a:ext cx="91440" cy="91440"/>
          </a:xfrm>
          <a:prstGeom prst="ellipse">
            <a:avLst/>
          </a:prstGeom>
          <a:solidFill>
            <a:srgbClr val="0E7C6B"/>
          </a:solidFill>
          <a:ln w="12700">
            <a:solidFill>
              <a:srgbClr val="0E7C6B"/>
            </a:solidFill>
            <a:prstDash val="solid"/>
          </a:ln>
        </p:spPr>
      </p:sp>
      <p:sp>
        <p:nvSpPr>
          <p:cNvPr id="26" name="Text 24"/>
          <p:cNvSpPr txBox="1"/>
          <p:nvPr/>
        </p:nvSpPr>
        <p:spPr>
          <a:xfrm>
            <a:off x="6784848" y="5349240"/>
            <a:ext cx="4873752" cy="822960"/>
          </a:xfrm>
          <a:prstGeom prst="rect">
            <a:avLst/>
          </a:prstGeom>
          <a:noFill/>
          <a:ln/>
        </p:spPr>
        <p:txBody>
          <a:bodyPr wrap="square" lIns="0" tIns="0" rIns="0" bIns="0" rtlCol="0" anchor="t"/>
          <a:lstStyle/>
          <a:p>
            <a:pPr indent="0" marL="0">
              <a:spcAft>
                <a:spcPts val="100"/>
              </a:spcAft>
              <a:buNone/>
            </a:pPr>
            <a:r>
              <a:rPr lang="en-US" sz="1150" dirty="0">
                <a:solidFill>
                  <a:srgbClr val="16243A"/>
                </a:solidFill>
                <a:latin typeface="Calibri" pitchFamily="34" charset="0"/>
                <a:ea typeface="Calibri" pitchFamily="34" charset="-122"/>
                <a:cs typeface="Calibri" pitchFamily="34" charset="-120"/>
              </a:rPr>
              <a:t>CI on every push: pytest + lint + typecheck + build + i18n</a:t>
            </a:r>
            <a:endParaRPr lang="en-US" sz="1150" dirty="0"/>
          </a:p>
          <a:p>
            <a:pPr indent="0" marL="0">
              <a:spcAft>
                <a:spcPts val="100"/>
              </a:spcAft>
              <a:buNone/>
            </a:pPr>
            <a:r>
              <a:rPr lang="en-US" sz="950" dirty="0">
                <a:solidFill>
                  <a:srgbClr val="6A7890"/>
                </a:solidFill>
                <a:latin typeface="Microsoft YaHei" pitchFamily="34" charset="0"/>
                <a:ea typeface="Microsoft YaHei" pitchFamily="34" charset="-122"/>
                <a:cs typeface="Microsoft YaHei" pitchFamily="34" charset="-120"/>
              </a:rPr>
              <a:t>每次推送运行 CI：测试、检查、类型、构建、国际化</a:t>
            </a:r>
            <a:endParaRPr lang="en-US" sz="1150" dirty="0"/>
          </a:p>
        </p:txBody>
      </p:sp>
      <p:sp>
        <p:nvSpPr>
          <p:cNvPr id="27" name="Text 25"/>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roundRect">
            <a:avLst>
              <a:gd name="adj" fmla="val 15385"/>
            </a:avLst>
          </a:prstGeom>
          <a:solidFill>
            <a:srgbClr val="0E7C6B"/>
          </a:solidFill>
          <a:ln w="12700">
            <a:solidFill>
              <a:srgbClr val="0E7C6B"/>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4" name="Text 2"/>
          <p:cNvSpPr txBox="1"/>
          <p:nvPr/>
        </p:nvSpPr>
        <p:spPr>
          <a:xfrm>
            <a:off x="1188720" y="384048"/>
            <a:ext cx="10058400" cy="219456"/>
          </a:xfrm>
          <a:prstGeom prst="rect">
            <a:avLst/>
          </a:prstGeom>
          <a:noFill/>
          <a:ln/>
        </p:spPr>
        <p:txBody>
          <a:bodyPr wrap="square" lIns="0" tIns="0" rIns="0" bIns="0" rtlCol="0" anchor="ctr"/>
          <a:lstStyle/>
          <a:p>
            <a:pPr indent="0" marL="0">
              <a:buNone/>
            </a:pPr>
            <a:r>
              <a:rPr lang="en-US" sz="1050" b="1" spc="200" kern="0" dirty="0">
                <a:solidFill>
                  <a:srgbClr val="0E7C6B"/>
                </a:solidFill>
                <a:latin typeface="Calibri" pitchFamily="34" charset="0"/>
                <a:ea typeface="Calibri" pitchFamily="34" charset="-122"/>
                <a:cs typeface="Calibri" pitchFamily="34" charset="-120"/>
              </a:rPr>
              <a:t>CONFIGURATION, NOT CODE</a:t>
            </a:r>
            <a:pPr indent="0" marL="0">
              <a:buNone/>
            </a:pPr>
            <a:r>
              <a:rPr lang="en-US" sz="1050" b="1" dirty="0">
                <a:solidFill>
                  <a:srgbClr val="0E7C6B"/>
                </a:solidFill>
                <a:latin typeface="Microsoft YaHei" pitchFamily="34" charset="0"/>
                <a:ea typeface="Microsoft YaHei" pitchFamily="34" charset="-122"/>
                <a:cs typeface="Microsoft YaHei" pitchFamily="34" charset="-120"/>
              </a:rPr>
              <a:t>   配置驱动，而非硬编码</a:t>
            </a:r>
            <a:endParaRPr lang="en-US" sz="1050" dirty="0"/>
          </a:p>
        </p:txBody>
      </p:sp>
      <p:sp>
        <p:nvSpPr>
          <p:cNvPr id="5" name="Text 3"/>
          <p:cNvSpPr txBox="1"/>
          <p:nvPr/>
        </p:nvSpPr>
        <p:spPr>
          <a:xfrm>
            <a:off x="1188720" y="603504"/>
            <a:ext cx="10424160" cy="457200"/>
          </a:xfrm>
          <a:prstGeom prst="rect">
            <a:avLst/>
          </a:prstGeom>
          <a:noFill/>
          <a:ln/>
        </p:spPr>
        <p:txBody>
          <a:bodyPr wrap="square" lIns="0" tIns="0" rIns="0" bIns="0" rtlCol="0" anchor="ctr"/>
          <a:lstStyle/>
          <a:p>
            <a:pPr indent="0" marL="0">
              <a:buNone/>
            </a:pPr>
            <a:r>
              <a:rPr lang="en-US" sz="2600" b="1" dirty="0">
                <a:solidFill>
                  <a:srgbClr val="16243A"/>
                </a:solidFill>
                <a:latin typeface="Cambria" pitchFamily="34" charset="0"/>
                <a:ea typeface="Cambria" pitchFamily="34" charset="-122"/>
                <a:cs typeface="Cambria" pitchFamily="34" charset="-120"/>
              </a:rPr>
              <a:t>Where every rule and parameter lives</a:t>
            </a:r>
            <a:endParaRPr lang="en-US" sz="2600" dirty="0"/>
          </a:p>
        </p:txBody>
      </p:sp>
      <p:sp>
        <p:nvSpPr>
          <p:cNvPr id="6" name="Text 4"/>
          <p:cNvSpPr txBox="1"/>
          <p:nvPr/>
        </p:nvSpPr>
        <p:spPr>
          <a:xfrm>
            <a:off x="1188720" y="1060704"/>
            <a:ext cx="10424160" cy="329184"/>
          </a:xfrm>
          <a:prstGeom prst="rect">
            <a:avLst/>
          </a:prstGeom>
          <a:noFill/>
          <a:ln/>
        </p:spPr>
        <p:txBody>
          <a:bodyPr wrap="square" lIns="0" tIns="0" rIns="0" bIns="0" rtlCol="0" anchor="ctr"/>
          <a:lstStyle/>
          <a:p>
            <a:pPr indent="0" marL="0">
              <a:buNone/>
            </a:pPr>
            <a:r>
              <a:rPr lang="en-US" sz="1500" dirty="0">
                <a:solidFill>
                  <a:srgbClr val="6A7890"/>
                </a:solidFill>
                <a:latin typeface="Microsoft YaHei" pitchFamily="34" charset="0"/>
                <a:ea typeface="Microsoft YaHei" pitchFamily="34" charset="-122"/>
                <a:cs typeface="Microsoft YaHei" pitchFamily="34" charset="-120"/>
              </a:rPr>
              <a:t>所有规则与参数的位置</a:t>
            </a:r>
            <a:endParaRPr lang="en-US" sz="1500" dirty="0"/>
          </a:p>
        </p:txBody>
      </p:sp>
      <p:sp>
        <p:nvSpPr>
          <p:cNvPr id="7" name="Shape 5"/>
          <p:cNvSpPr/>
          <p:nvPr/>
        </p:nvSpPr>
        <p:spPr>
          <a:xfrm>
            <a:off x="548640" y="1691640"/>
            <a:ext cx="11109960" cy="530352"/>
          </a:xfrm>
          <a:prstGeom prst="rect">
            <a:avLst/>
          </a:prstGeom>
          <a:solidFill>
            <a:srgbClr val="F4F6F9"/>
          </a:solidFill>
          <a:ln w="12700">
            <a:solidFill>
              <a:srgbClr val="F4F6F9"/>
            </a:solidFill>
            <a:prstDash val="solid"/>
          </a:ln>
        </p:spPr>
      </p:sp>
      <p:sp>
        <p:nvSpPr>
          <p:cNvPr id="8" name="Text 6"/>
          <p:cNvSpPr txBox="1"/>
          <p:nvPr/>
        </p:nvSpPr>
        <p:spPr>
          <a:xfrm>
            <a:off x="685800" y="1691640"/>
            <a:ext cx="3931920" cy="530352"/>
          </a:xfrm>
          <a:prstGeom prst="rect">
            <a:avLst/>
          </a:prstGeom>
          <a:noFill/>
          <a:ln/>
        </p:spPr>
        <p:txBody>
          <a:bodyPr wrap="square" lIns="0" tIns="0" rIns="0" bIns="0" rtlCol="0" anchor="ctr"/>
          <a:lstStyle/>
          <a:p>
            <a:pPr indent="0" marL="0">
              <a:buNone/>
            </a:pPr>
            <a:r>
              <a:rPr lang="en-US" sz="1100" b="1" dirty="0">
                <a:solidFill>
                  <a:srgbClr val="0E7C6B"/>
                </a:solidFill>
                <a:latin typeface="Courier New" pitchFamily="34" charset="0"/>
                <a:ea typeface="Courier New" pitchFamily="34" charset="-122"/>
                <a:cs typeface="Courier New" pitchFamily="34" charset="-120"/>
              </a:rPr>
              <a:t>config/categories.yaml</a:t>
            </a:r>
            <a:endParaRPr lang="en-US" sz="1100" dirty="0"/>
          </a:p>
        </p:txBody>
      </p:sp>
      <p:sp>
        <p:nvSpPr>
          <p:cNvPr id="9" name="Text 7"/>
          <p:cNvSpPr txBox="1"/>
          <p:nvPr/>
        </p:nvSpPr>
        <p:spPr>
          <a:xfrm>
            <a:off x="4663440" y="1691640"/>
            <a:ext cx="4206240" cy="530352"/>
          </a:xfrm>
          <a:prstGeom prst="rect">
            <a:avLst/>
          </a:prstGeom>
          <a:noFill/>
          <a:ln/>
        </p:spPr>
        <p:txBody>
          <a:bodyPr wrap="square" lIns="0" tIns="0" rIns="0" bIns="0" rtlCol="0" anchor="ctr"/>
          <a:lstStyle/>
          <a:p>
            <a:pPr indent="0" marL="0">
              <a:buNone/>
            </a:pPr>
            <a:r>
              <a:rPr lang="en-US" sz="1150" dirty="0">
                <a:solidFill>
                  <a:srgbClr val="16243A"/>
                </a:solidFill>
                <a:latin typeface="Calibri" pitchFamily="34" charset="0"/>
                <a:ea typeface="Calibri" pitchFamily="34" charset="-122"/>
                <a:cs typeface="Calibri" pitchFamily="34" charset="-120"/>
              </a:rPr>
              <a:t>category include / exclude terms, boundary cases</a:t>
            </a:r>
            <a:endParaRPr lang="en-US" sz="1150" dirty="0"/>
          </a:p>
        </p:txBody>
      </p:sp>
      <p:sp>
        <p:nvSpPr>
          <p:cNvPr id="10" name="Text 8"/>
          <p:cNvSpPr txBox="1"/>
          <p:nvPr/>
        </p:nvSpPr>
        <p:spPr>
          <a:xfrm>
            <a:off x="8961120" y="1691640"/>
            <a:ext cx="2651760" cy="530352"/>
          </a:xfrm>
          <a:prstGeom prst="rect">
            <a:avLst/>
          </a:prstGeom>
          <a:noFill/>
          <a:ln/>
        </p:spPr>
        <p:txBody>
          <a:bodyPr wrap="square" lIns="0" tIns="0" rIns="0" bIns="0" rtlCol="0" anchor="ctr"/>
          <a:lstStyle/>
          <a:p>
            <a:pPr indent="0" marL="0">
              <a:buNone/>
            </a:pPr>
            <a:r>
              <a:rPr lang="en-US" sz="1050" dirty="0">
                <a:solidFill>
                  <a:srgbClr val="6A7890"/>
                </a:solidFill>
                <a:latin typeface="Microsoft YaHei" pitchFamily="34" charset="0"/>
                <a:ea typeface="Microsoft YaHei" pitchFamily="34" charset="-122"/>
                <a:cs typeface="Microsoft YaHei" pitchFamily="34" charset="-120"/>
              </a:rPr>
              <a:t>类目包含 / 排除词与边界</a:t>
            </a:r>
            <a:endParaRPr lang="en-US" sz="1050" dirty="0"/>
          </a:p>
        </p:txBody>
      </p:sp>
      <p:sp>
        <p:nvSpPr>
          <p:cNvPr id="11" name="Shape 9"/>
          <p:cNvSpPr/>
          <p:nvPr/>
        </p:nvSpPr>
        <p:spPr>
          <a:xfrm>
            <a:off x="548640" y="2295144"/>
            <a:ext cx="11109960" cy="530352"/>
          </a:xfrm>
          <a:prstGeom prst="rect">
            <a:avLst/>
          </a:prstGeom>
          <a:solidFill>
            <a:srgbClr val="FFFFFF"/>
          </a:solidFill>
          <a:ln w="12700">
            <a:solidFill>
              <a:srgbClr val="FFFFFF"/>
            </a:solidFill>
            <a:prstDash val="solid"/>
          </a:ln>
        </p:spPr>
      </p:sp>
      <p:sp>
        <p:nvSpPr>
          <p:cNvPr id="12" name="Text 10"/>
          <p:cNvSpPr txBox="1"/>
          <p:nvPr/>
        </p:nvSpPr>
        <p:spPr>
          <a:xfrm>
            <a:off x="685800" y="2295144"/>
            <a:ext cx="3931920" cy="530352"/>
          </a:xfrm>
          <a:prstGeom prst="rect">
            <a:avLst/>
          </a:prstGeom>
          <a:noFill/>
          <a:ln/>
        </p:spPr>
        <p:txBody>
          <a:bodyPr wrap="square" lIns="0" tIns="0" rIns="0" bIns="0" rtlCol="0" anchor="ctr"/>
          <a:lstStyle/>
          <a:p>
            <a:pPr indent="0" marL="0">
              <a:buNone/>
            </a:pPr>
            <a:r>
              <a:rPr lang="en-US" sz="1100" b="1" dirty="0">
                <a:solidFill>
                  <a:srgbClr val="0E7C6B"/>
                </a:solidFill>
                <a:latin typeface="Courier New" pitchFamily="34" charset="0"/>
                <a:ea typeface="Courier New" pitchFamily="34" charset="-122"/>
                <a:cs typeface="Courier New" pitchFamily="34" charset="-120"/>
              </a:rPr>
              <a:t>config/engine/engine.yaml</a:t>
            </a:r>
            <a:endParaRPr lang="en-US" sz="1100" dirty="0"/>
          </a:p>
        </p:txBody>
      </p:sp>
      <p:sp>
        <p:nvSpPr>
          <p:cNvPr id="13" name="Text 11"/>
          <p:cNvSpPr txBox="1"/>
          <p:nvPr/>
        </p:nvSpPr>
        <p:spPr>
          <a:xfrm>
            <a:off x="4663440" y="2295144"/>
            <a:ext cx="4206240" cy="530352"/>
          </a:xfrm>
          <a:prstGeom prst="rect">
            <a:avLst/>
          </a:prstGeom>
          <a:noFill/>
          <a:ln/>
        </p:spPr>
        <p:txBody>
          <a:bodyPr wrap="square" lIns="0" tIns="0" rIns="0" bIns="0" rtlCol="0" anchor="ctr"/>
          <a:lstStyle/>
          <a:p>
            <a:pPr indent="0" marL="0">
              <a:buNone/>
            </a:pPr>
            <a:r>
              <a:rPr lang="en-US" sz="1150" dirty="0">
                <a:solidFill>
                  <a:srgbClr val="16243A"/>
                </a:solidFill>
                <a:latin typeface="Calibri" pitchFamily="34" charset="0"/>
                <a:ea typeface="Calibri" pitchFamily="34" charset="-122"/>
                <a:cs typeface="Calibri" pitchFamily="34" charset="-120"/>
              </a:rPr>
              <a:t>relevance thresholds, quality outlier rules, dedup weights &amp; vetoes</a:t>
            </a:r>
            <a:endParaRPr lang="en-US" sz="1150" dirty="0"/>
          </a:p>
        </p:txBody>
      </p:sp>
      <p:sp>
        <p:nvSpPr>
          <p:cNvPr id="14" name="Text 12"/>
          <p:cNvSpPr txBox="1"/>
          <p:nvPr/>
        </p:nvSpPr>
        <p:spPr>
          <a:xfrm>
            <a:off x="8961120" y="2295144"/>
            <a:ext cx="2651760" cy="530352"/>
          </a:xfrm>
          <a:prstGeom prst="rect">
            <a:avLst/>
          </a:prstGeom>
          <a:noFill/>
          <a:ln/>
        </p:spPr>
        <p:txBody>
          <a:bodyPr wrap="square" lIns="0" tIns="0" rIns="0" bIns="0" rtlCol="0" anchor="ctr"/>
          <a:lstStyle/>
          <a:p>
            <a:pPr indent="0" marL="0">
              <a:buNone/>
            </a:pPr>
            <a:r>
              <a:rPr lang="en-US" sz="1050" dirty="0">
                <a:solidFill>
                  <a:srgbClr val="6A7890"/>
                </a:solidFill>
                <a:latin typeface="Microsoft YaHei" pitchFamily="34" charset="0"/>
                <a:ea typeface="Microsoft YaHei" pitchFamily="34" charset="-122"/>
                <a:cs typeface="Microsoft YaHei" pitchFamily="34" charset="-120"/>
              </a:rPr>
              <a:t>相关性阈值、质量异常规则、归并权重与否决</a:t>
            </a:r>
            <a:endParaRPr lang="en-US" sz="1050" dirty="0"/>
          </a:p>
        </p:txBody>
      </p:sp>
      <p:sp>
        <p:nvSpPr>
          <p:cNvPr id="15" name="Shape 13"/>
          <p:cNvSpPr/>
          <p:nvPr/>
        </p:nvSpPr>
        <p:spPr>
          <a:xfrm>
            <a:off x="548640" y="2898648"/>
            <a:ext cx="11109960" cy="530352"/>
          </a:xfrm>
          <a:prstGeom prst="rect">
            <a:avLst/>
          </a:prstGeom>
          <a:solidFill>
            <a:srgbClr val="F4F6F9"/>
          </a:solidFill>
          <a:ln w="12700">
            <a:solidFill>
              <a:srgbClr val="F4F6F9"/>
            </a:solidFill>
            <a:prstDash val="solid"/>
          </a:ln>
        </p:spPr>
      </p:sp>
      <p:sp>
        <p:nvSpPr>
          <p:cNvPr id="16" name="Text 14"/>
          <p:cNvSpPr txBox="1"/>
          <p:nvPr/>
        </p:nvSpPr>
        <p:spPr>
          <a:xfrm>
            <a:off x="685800" y="2898648"/>
            <a:ext cx="3931920" cy="530352"/>
          </a:xfrm>
          <a:prstGeom prst="rect">
            <a:avLst/>
          </a:prstGeom>
          <a:noFill/>
          <a:ln/>
        </p:spPr>
        <p:txBody>
          <a:bodyPr wrap="square" lIns="0" tIns="0" rIns="0" bIns="0" rtlCol="0" anchor="ctr"/>
          <a:lstStyle/>
          <a:p>
            <a:pPr indent="0" marL="0">
              <a:buNone/>
            </a:pPr>
            <a:r>
              <a:rPr lang="en-US" sz="1100" b="1" dirty="0">
                <a:solidFill>
                  <a:srgbClr val="0E7C6B"/>
                </a:solidFill>
                <a:latin typeface="Courier New" pitchFamily="34" charset="0"/>
                <a:ea typeface="Courier New" pitchFamily="34" charset="-122"/>
                <a:cs typeface="Courier New" pitchFamily="34" charset="-120"/>
              </a:rPr>
              <a:t>config/engine/schema_synonyms.yaml</a:t>
            </a:r>
            <a:endParaRPr lang="en-US" sz="1100" dirty="0"/>
          </a:p>
        </p:txBody>
      </p:sp>
      <p:sp>
        <p:nvSpPr>
          <p:cNvPr id="17" name="Text 15"/>
          <p:cNvSpPr txBox="1"/>
          <p:nvPr/>
        </p:nvSpPr>
        <p:spPr>
          <a:xfrm>
            <a:off x="4663440" y="2898648"/>
            <a:ext cx="4206240" cy="530352"/>
          </a:xfrm>
          <a:prstGeom prst="rect">
            <a:avLst/>
          </a:prstGeom>
          <a:noFill/>
          <a:ln/>
        </p:spPr>
        <p:txBody>
          <a:bodyPr wrap="square" lIns="0" tIns="0" rIns="0" bIns="0" rtlCol="0" anchor="ctr"/>
          <a:lstStyle/>
          <a:p>
            <a:pPr indent="0" marL="0">
              <a:buNone/>
            </a:pPr>
            <a:r>
              <a:rPr lang="en-US" sz="1150" dirty="0">
                <a:solidFill>
                  <a:srgbClr val="16243A"/>
                </a:solidFill>
                <a:latin typeface="Calibri" pitchFamily="34" charset="0"/>
                <a:ea typeface="Calibri" pitchFamily="34" charset="-122"/>
                <a:cs typeface="Calibri" pitchFamily="34" charset="-120"/>
              </a:rPr>
              <a:t>column-name synonyms (EN + ZH)</a:t>
            </a:r>
            <a:endParaRPr lang="en-US" sz="1150" dirty="0"/>
          </a:p>
        </p:txBody>
      </p:sp>
      <p:sp>
        <p:nvSpPr>
          <p:cNvPr id="18" name="Text 16"/>
          <p:cNvSpPr txBox="1"/>
          <p:nvPr/>
        </p:nvSpPr>
        <p:spPr>
          <a:xfrm>
            <a:off x="8961120" y="2898648"/>
            <a:ext cx="2651760" cy="530352"/>
          </a:xfrm>
          <a:prstGeom prst="rect">
            <a:avLst/>
          </a:prstGeom>
          <a:noFill/>
          <a:ln/>
        </p:spPr>
        <p:txBody>
          <a:bodyPr wrap="square" lIns="0" tIns="0" rIns="0" bIns="0" rtlCol="0" anchor="ctr"/>
          <a:lstStyle/>
          <a:p>
            <a:pPr indent="0" marL="0">
              <a:buNone/>
            </a:pPr>
            <a:r>
              <a:rPr lang="en-US" sz="1050" dirty="0">
                <a:solidFill>
                  <a:srgbClr val="6A7890"/>
                </a:solidFill>
                <a:latin typeface="Microsoft YaHei" pitchFamily="34" charset="0"/>
                <a:ea typeface="Microsoft YaHei" pitchFamily="34" charset="-122"/>
                <a:cs typeface="Microsoft YaHei" pitchFamily="34" charset="-120"/>
              </a:rPr>
              <a:t>列名同义词（中英）</a:t>
            </a:r>
            <a:endParaRPr lang="en-US" sz="1050" dirty="0"/>
          </a:p>
        </p:txBody>
      </p:sp>
      <p:sp>
        <p:nvSpPr>
          <p:cNvPr id="19" name="Shape 17"/>
          <p:cNvSpPr/>
          <p:nvPr/>
        </p:nvSpPr>
        <p:spPr>
          <a:xfrm>
            <a:off x="548640" y="3502152"/>
            <a:ext cx="11109960" cy="530352"/>
          </a:xfrm>
          <a:prstGeom prst="rect">
            <a:avLst/>
          </a:prstGeom>
          <a:solidFill>
            <a:srgbClr val="FFFFFF"/>
          </a:solidFill>
          <a:ln w="12700">
            <a:solidFill>
              <a:srgbClr val="FFFFFF"/>
            </a:solidFill>
            <a:prstDash val="solid"/>
          </a:ln>
        </p:spPr>
      </p:sp>
      <p:sp>
        <p:nvSpPr>
          <p:cNvPr id="20" name="Text 18"/>
          <p:cNvSpPr txBox="1"/>
          <p:nvPr/>
        </p:nvSpPr>
        <p:spPr>
          <a:xfrm>
            <a:off x="685800" y="3502152"/>
            <a:ext cx="3931920" cy="530352"/>
          </a:xfrm>
          <a:prstGeom prst="rect">
            <a:avLst/>
          </a:prstGeom>
          <a:noFill/>
          <a:ln/>
        </p:spPr>
        <p:txBody>
          <a:bodyPr wrap="square" lIns="0" tIns="0" rIns="0" bIns="0" rtlCol="0" anchor="ctr"/>
          <a:lstStyle/>
          <a:p>
            <a:pPr indent="0" marL="0">
              <a:buNone/>
            </a:pPr>
            <a:r>
              <a:rPr lang="en-US" sz="1100" b="1" dirty="0">
                <a:solidFill>
                  <a:srgbClr val="0E7C6B"/>
                </a:solidFill>
                <a:latin typeface="Courier New" pitchFamily="34" charset="0"/>
                <a:ea typeface="Courier New" pitchFamily="34" charset="-122"/>
                <a:cs typeface="Courier New" pitchFamily="34" charset="-120"/>
              </a:rPr>
              <a:t>config/engine/relevance_domains.yaml</a:t>
            </a:r>
            <a:endParaRPr lang="en-US" sz="1100" dirty="0"/>
          </a:p>
        </p:txBody>
      </p:sp>
      <p:sp>
        <p:nvSpPr>
          <p:cNvPr id="21" name="Text 19"/>
          <p:cNvSpPr txBox="1"/>
          <p:nvPr/>
        </p:nvSpPr>
        <p:spPr>
          <a:xfrm>
            <a:off x="4663440" y="3502152"/>
            <a:ext cx="4206240" cy="530352"/>
          </a:xfrm>
          <a:prstGeom prst="rect">
            <a:avLst/>
          </a:prstGeom>
          <a:noFill/>
          <a:ln/>
        </p:spPr>
        <p:txBody>
          <a:bodyPr wrap="square" lIns="0" tIns="0" rIns="0" bIns="0" rtlCol="0" anchor="ctr"/>
          <a:lstStyle/>
          <a:p>
            <a:pPr indent="0" marL="0">
              <a:buNone/>
            </a:pPr>
            <a:r>
              <a:rPr lang="en-US" sz="1150" dirty="0">
                <a:solidFill>
                  <a:srgbClr val="16243A"/>
                </a:solidFill>
                <a:latin typeface="Calibri" pitchFamily="34" charset="0"/>
                <a:ea typeface="Calibri" pitchFamily="34" charset="-122"/>
                <a:cs typeface="Calibri" pitchFamily="34" charset="-120"/>
              </a:rPr>
              <a:t>domain prototypes, core and negative terms</a:t>
            </a:r>
            <a:endParaRPr lang="en-US" sz="1150" dirty="0"/>
          </a:p>
        </p:txBody>
      </p:sp>
      <p:sp>
        <p:nvSpPr>
          <p:cNvPr id="22" name="Text 20"/>
          <p:cNvSpPr txBox="1"/>
          <p:nvPr/>
        </p:nvSpPr>
        <p:spPr>
          <a:xfrm>
            <a:off x="8961120" y="3502152"/>
            <a:ext cx="2651760" cy="530352"/>
          </a:xfrm>
          <a:prstGeom prst="rect">
            <a:avLst/>
          </a:prstGeom>
          <a:noFill/>
          <a:ln/>
        </p:spPr>
        <p:txBody>
          <a:bodyPr wrap="square" lIns="0" tIns="0" rIns="0" bIns="0" rtlCol="0" anchor="ctr"/>
          <a:lstStyle/>
          <a:p>
            <a:pPr indent="0" marL="0">
              <a:buNone/>
            </a:pPr>
            <a:r>
              <a:rPr lang="en-US" sz="1050" dirty="0">
                <a:solidFill>
                  <a:srgbClr val="6A7890"/>
                </a:solidFill>
                <a:latin typeface="Microsoft YaHei" pitchFamily="34" charset="0"/>
                <a:ea typeface="Microsoft YaHei" pitchFamily="34" charset="-122"/>
                <a:cs typeface="Microsoft YaHei" pitchFamily="34" charset="-120"/>
              </a:rPr>
              <a:t>领域原型、核心词与否定词</a:t>
            </a:r>
            <a:endParaRPr lang="en-US" sz="1050" dirty="0"/>
          </a:p>
        </p:txBody>
      </p:sp>
      <p:sp>
        <p:nvSpPr>
          <p:cNvPr id="23" name="Shape 21"/>
          <p:cNvSpPr/>
          <p:nvPr/>
        </p:nvSpPr>
        <p:spPr>
          <a:xfrm>
            <a:off x="548640" y="4105656"/>
            <a:ext cx="11109960" cy="530352"/>
          </a:xfrm>
          <a:prstGeom prst="rect">
            <a:avLst/>
          </a:prstGeom>
          <a:solidFill>
            <a:srgbClr val="F4F6F9"/>
          </a:solidFill>
          <a:ln w="12700">
            <a:solidFill>
              <a:srgbClr val="F4F6F9"/>
            </a:solidFill>
            <a:prstDash val="solid"/>
          </a:ln>
        </p:spPr>
      </p:sp>
      <p:sp>
        <p:nvSpPr>
          <p:cNvPr id="24" name="Text 22"/>
          <p:cNvSpPr txBox="1"/>
          <p:nvPr/>
        </p:nvSpPr>
        <p:spPr>
          <a:xfrm>
            <a:off x="685800" y="4105656"/>
            <a:ext cx="3931920" cy="530352"/>
          </a:xfrm>
          <a:prstGeom prst="rect">
            <a:avLst/>
          </a:prstGeom>
          <a:noFill/>
          <a:ln/>
        </p:spPr>
        <p:txBody>
          <a:bodyPr wrap="square" lIns="0" tIns="0" rIns="0" bIns="0" rtlCol="0" anchor="ctr"/>
          <a:lstStyle/>
          <a:p>
            <a:pPr indent="0" marL="0">
              <a:buNone/>
            </a:pPr>
            <a:r>
              <a:rPr lang="en-US" sz="1100" b="1" dirty="0">
                <a:solidFill>
                  <a:srgbClr val="0E7C6B"/>
                </a:solidFill>
                <a:latin typeface="Courier New" pitchFamily="34" charset="0"/>
                <a:ea typeface="Courier New" pitchFamily="34" charset="-122"/>
                <a:cs typeface="Courier New" pitchFamily="34" charset="-120"/>
              </a:rPr>
              <a:t>config/platform/metrics.yaml</a:t>
            </a:r>
            <a:endParaRPr lang="en-US" sz="1100" dirty="0"/>
          </a:p>
        </p:txBody>
      </p:sp>
      <p:sp>
        <p:nvSpPr>
          <p:cNvPr id="25" name="Text 23"/>
          <p:cNvSpPr txBox="1"/>
          <p:nvPr/>
        </p:nvSpPr>
        <p:spPr>
          <a:xfrm>
            <a:off x="4663440" y="4105656"/>
            <a:ext cx="4206240" cy="530352"/>
          </a:xfrm>
          <a:prstGeom prst="rect">
            <a:avLst/>
          </a:prstGeom>
          <a:noFill/>
          <a:ln/>
        </p:spPr>
        <p:txBody>
          <a:bodyPr wrap="square" lIns="0" tIns="0" rIns="0" bIns="0" rtlCol="0" anchor="ctr"/>
          <a:lstStyle/>
          <a:p>
            <a:pPr indent="0" marL="0">
              <a:buNone/>
            </a:pPr>
            <a:r>
              <a:rPr lang="en-US" sz="1150" dirty="0">
                <a:solidFill>
                  <a:srgbClr val="16243A"/>
                </a:solidFill>
                <a:latin typeface="Calibri" pitchFamily="34" charset="0"/>
                <a:ea typeface="Calibri" pitchFamily="34" charset="-122"/>
                <a:cs typeface="Calibri" pitchFamily="34" charset="-120"/>
              </a:rPr>
              <a:t>badge ladder, model, simulation, opportunity, gaps, alerts, forecast, board</a:t>
            </a:r>
            <a:endParaRPr lang="en-US" sz="1150" dirty="0"/>
          </a:p>
        </p:txBody>
      </p:sp>
      <p:sp>
        <p:nvSpPr>
          <p:cNvPr id="26" name="Text 24"/>
          <p:cNvSpPr txBox="1"/>
          <p:nvPr/>
        </p:nvSpPr>
        <p:spPr>
          <a:xfrm>
            <a:off x="8961120" y="4105656"/>
            <a:ext cx="2651760" cy="530352"/>
          </a:xfrm>
          <a:prstGeom prst="rect">
            <a:avLst/>
          </a:prstGeom>
          <a:noFill/>
          <a:ln/>
        </p:spPr>
        <p:txBody>
          <a:bodyPr wrap="square" lIns="0" tIns="0" rIns="0" bIns="0" rtlCol="0" anchor="ctr"/>
          <a:lstStyle/>
          <a:p>
            <a:pPr indent="0" marL="0">
              <a:buNone/>
            </a:pPr>
            <a:r>
              <a:rPr lang="en-US" sz="1050" dirty="0">
                <a:solidFill>
                  <a:srgbClr val="6A7890"/>
                </a:solidFill>
                <a:latin typeface="Microsoft YaHei" pitchFamily="34" charset="0"/>
                <a:ea typeface="Microsoft YaHei" pitchFamily="34" charset="-122"/>
                <a:cs typeface="Microsoft YaHei" pitchFamily="34" charset="-120"/>
              </a:rPr>
              <a:t>徽章阶梯、模型、模拟、机会、缺口、预警、预测、看板</a:t>
            </a:r>
            <a:endParaRPr lang="en-US" sz="1050" dirty="0"/>
          </a:p>
        </p:txBody>
      </p:sp>
      <p:sp>
        <p:nvSpPr>
          <p:cNvPr id="27" name="Shape 25"/>
          <p:cNvSpPr/>
          <p:nvPr/>
        </p:nvSpPr>
        <p:spPr>
          <a:xfrm>
            <a:off x="548640" y="4709160"/>
            <a:ext cx="11109960" cy="530352"/>
          </a:xfrm>
          <a:prstGeom prst="rect">
            <a:avLst/>
          </a:prstGeom>
          <a:solidFill>
            <a:srgbClr val="FFFFFF"/>
          </a:solidFill>
          <a:ln w="12700">
            <a:solidFill>
              <a:srgbClr val="FFFFFF"/>
            </a:solidFill>
            <a:prstDash val="solid"/>
          </a:ln>
        </p:spPr>
      </p:sp>
      <p:sp>
        <p:nvSpPr>
          <p:cNvPr id="28" name="Text 26"/>
          <p:cNvSpPr txBox="1"/>
          <p:nvPr/>
        </p:nvSpPr>
        <p:spPr>
          <a:xfrm>
            <a:off x="685800" y="4709160"/>
            <a:ext cx="3931920" cy="530352"/>
          </a:xfrm>
          <a:prstGeom prst="rect">
            <a:avLst/>
          </a:prstGeom>
          <a:noFill/>
          <a:ln/>
        </p:spPr>
        <p:txBody>
          <a:bodyPr wrap="square" lIns="0" tIns="0" rIns="0" bIns="0" rtlCol="0" anchor="ctr"/>
          <a:lstStyle/>
          <a:p>
            <a:pPr indent="0" marL="0">
              <a:buNone/>
            </a:pPr>
            <a:r>
              <a:rPr lang="en-US" sz="1100" b="1" dirty="0">
                <a:solidFill>
                  <a:srgbClr val="0E7C6B"/>
                </a:solidFill>
                <a:latin typeface="Courier New" pitchFamily="34" charset="0"/>
                <a:ea typeface="Courier New" pitchFamily="34" charset="-122"/>
                <a:cs typeface="Courier New" pitchFamily="34" charset="-120"/>
              </a:rPr>
              <a:t>config/platform/analyst.yaml</a:t>
            </a:r>
            <a:endParaRPr lang="en-US" sz="1100" dirty="0"/>
          </a:p>
        </p:txBody>
      </p:sp>
      <p:sp>
        <p:nvSpPr>
          <p:cNvPr id="29" name="Text 27"/>
          <p:cNvSpPr txBox="1"/>
          <p:nvPr/>
        </p:nvSpPr>
        <p:spPr>
          <a:xfrm>
            <a:off x="4663440" y="4709160"/>
            <a:ext cx="4206240" cy="530352"/>
          </a:xfrm>
          <a:prstGeom prst="rect">
            <a:avLst/>
          </a:prstGeom>
          <a:noFill/>
          <a:ln/>
        </p:spPr>
        <p:txBody>
          <a:bodyPr wrap="square" lIns="0" tIns="0" rIns="0" bIns="0" rtlCol="0" anchor="ctr"/>
          <a:lstStyle/>
          <a:p>
            <a:pPr indent="0" marL="0">
              <a:buNone/>
            </a:pPr>
            <a:r>
              <a:rPr lang="en-US" sz="1150" dirty="0">
                <a:solidFill>
                  <a:srgbClr val="16243A"/>
                </a:solidFill>
                <a:latin typeface="Calibri" pitchFamily="34" charset="0"/>
                <a:ea typeface="Calibri" pitchFamily="34" charset="-122"/>
                <a:cs typeface="Calibri" pitchFamily="34" charset="-120"/>
              </a:rPr>
              <a:t>Gemini model, number tolerance</a:t>
            </a:r>
            <a:endParaRPr lang="en-US" sz="1150" dirty="0"/>
          </a:p>
        </p:txBody>
      </p:sp>
      <p:sp>
        <p:nvSpPr>
          <p:cNvPr id="30" name="Text 28"/>
          <p:cNvSpPr txBox="1"/>
          <p:nvPr/>
        </p:nvSpPr>
        <p:spPr>
          <a:xfrm>
            <a:off x="8961120" y="4709160"/>
            <a:ext cx="2651760" cy="530352"/>
          </a:xfrm>
          <a:prstGeom prst="rect">
            <a:avLst/>
          </a:prstGeom>
          <a:noFill/>
          <a:ln/>
        </p:spPr>
        <p:txBody>
          <a:bodyPr wrap="square" lIns="0" tIns="0" rIns="0" bIns="0" rtlCol="0" anchor="ctr"/>
          <a:lstStyle/>
          <a:p>
            <a:pPr indent="0" marL="0">
              <a:buNone/>
            </a:pPr>
            <a:r>
              <a:rPr lang="en-US" sz="1050" dirty="0">
                <a:solidFill>
                  <a:srgbClr val="6A7890"/>
                </a:solidFill>
                <a:latin typeface="Microsoft YaHei" pitchFamily="34" charset="0"/>
                <a:ea typeface="Microsoft YaHei" pitchFamily="34" charset="-122"/>
                <a:cs typeface="Microsoft YaHei" pitchFamily="34" charset="-120"/>
              </a:rPr>
              <a:t>Gemini 模型与数字容差</a:t>
            </a:r>
            <a:endParaRPr lang="en-US" sz="1050" dirty="0"/>
          </a:p>
        </p:txBody>
      </p:sp>
      <p:sp>
        <p:nvSpPr>
          <p:cNvPr id="31" name="Shape 29"/>
          <p:cNvSpPr/>
          <p:nvPr/>
        </p:nvSpPr>
        <p:spPr>
          <a:xfrm>
            <a:off x="548640" y="5312664"/>
            <a:ext cx="11109960" cy="530352"/>
          </a:xfrm>
          <a:prstGeom prst="rect">
            <a:avLst/>
          </a:prstGeom>
          <a:solidFill>
            <a:srgbClr val="F4F6F9"/>
          </a:solidFill>
          <a:ln w="12700">
            <a:solidFill>
              <a:srgbClr val="F4F6F9"/>
            </a:solidFill>
            <a:prstDash val="solid"/>
          </a:ln>
        </p:spPr>
      </p:sp>
      <p:sp>
        <p:nvSpPr>
          <p:cNvPr id="32" name="Text 30"/>
          <p:cNvSpPr txBox="1"/>
          <p:nvPr/>
        </p:nvSpPr>
        <p:spPr>
          <a:xfrm>
            <a:off x="685800" y="5312664"/>
            <a:ext cx="3931920" cy="530352"/>
          </a:xfrm>
          <a:prstGeom prst="rect">
            <a:avLst/>
          </a:prstGeom>
          <a:noFill/>
          <a:ln/>
        </p:spPr>
        <p:txBody>
          <a:bodyPr wrap="square" lIns="0" tIns="0" rIns="0" bIns="0" rtlCol="0" anchor="ctr"/>
          <a:lstStyle/>
          <a:p>
            <a:pPr indent="0" marL="0">
              <a:buNone/>
            </a:pPr>
            <a:r>
              <a:rPr lang="en-US" sz="1100" b="1" dirty="0">
                <a:solidFill>
                  <a:srgbClr val="0E7C6B"/>
                </a:solidFill>
                <a:latin typeface="Courier New" pitchFamily="34" charset="0"/>
                <a:ea typeface="Courier New" pitchFamily="34" charset="-122"/>
                <a:cs typeface="Courier New" pitchFamily="34" charset="-120"/>
              </a:rPr>
              <a:t>plans.yaml · confidence.yaml · sourcing.yaml</a:t>
            </a:r>
            <a:endParaRPr lang="en-US" sz="1100" dirty="0"/>
          </a:p>
        </p:txBody>
      </p:sp>
      <p:sp>
        <p:nvSpPr>
          <p:cNvPr id="33" name="Text 31"/>
          <p:cNvSpPr txBox="1"/>
          <p:nvPr/>
        </p:nvSpPr>
        <p:spPr>
          <a:xfrm>
            <a:off x="4663440" y="5312664"/>
            <a:ext cx="4206240" cy="530352"/>
          </a:xfrm>
          <a:prstGeom prst="rect">
            <a:avLst/>
          </a:prstGeom>
          <a:noFill/>
          <a:ln/>
        </p:spPr>
        <p:txBody>
          <a:bodyPr wrap="square" lIns="0" tIns="0" rIns="0" bIns="0" rtlCol="0" anchor="ctr"/>
          <a:lstStyle/>
          <a:p>
            <a:pPr indent="0" marL="0">
              <a:buNone/>
            </a:pPr>
            <a:r>
              <a:rPr lang="en-US" sz="1150" dirty="0">
                <a:solidFill>
                  <a:srgbClr val="16243A"/>
                </a:solidFill>
                <a:latin typeface="Calibri" pitchFamily="34" charset="0"/>
                <a:ea typeface="Calibri" pitchFamily="34" charset="-122"/>
                <a:cs typeface="Calibri" pitchFamily="34" charset="-120"/>
              </a:rPr>
              <a:t>tenancy limits, confidence weights, supplier scoring</a:t>
            </a:r>
            <a:endParaRPr lang="en-US" sz="1150" dirty="0"/>
          </a:p>
        </p:txBody>
      </p:sp>
      <p:sp>
        <p:nvSpPr>
          <p:cNvPr id="34" name="Text 32"/>
          <p:cNvSpPr txBox="1"/>
          <p:nvPr/>
        </p:nvSpPr>
        <p:spPr>
          <a:xfrm>
            <a:off x="8961120" y="5312664"/>
            <a:ext cx="2651760" cy="530352"/>
          </a:xfrm>
          <a:prstGeom prst="rect">
            <a:avLst/>
          </a:prstGeom>
          <a:noFill/>
          <a:ln/>
        </p:spPr>
        <p:txBody>
          <a:bodyPr wrap="square" lIns="0" tIns="0" rIns="0" bIns="0" rtlCol="0" anchor="ctr"/>
          <a:lstStyle/>
          <a:p>
            <a:pPr indent="0" marL="0">
              <a:buNone/>
            </a:pPr>
            <a:r>
              <a:rPr lang="en-US" sz="1050" dirty="0">
                <a:solidFill>
                  <a:srgbClr val="6A7890"/>
                </a:solidFill>
                <a:latin typeface="Microsoft YaHei" pitchFamily="34" charset="0"/>
                <a:ea typeface="Microsoft YaHei" pitchFamily="34" charset="-122"/>
                <a:cs typeface="Microsoft YaHei" pitchFamily="34" charset="-120"/>
              </a:rPr>
              <a:t>租户额度、可信度权重、供应商评分</a:t>
            </a:r>
            <a:endParaRPr lang="en-US" sz="1050" dirty="0"/>
          </a:p>
        </p:txBody>
      </p:sp>
      <p:sp>
        <p:nvSpPr>
          <p:cNvPr id="35" name="Text 33"/>
          <p:cNvSpPr txBox="1"/>
          <p:nvPr/>
        </p:nvSpPr>
        <p:spPr>
          <a:xfrm>
            <a:off x="548640" y="6035040"/>
            <a:ext cx="11064240" cy="566928"/>
          </a:xfrm>
          <a:prstGeom prst="rect">
            <a:avLst/>
          </a:prstGeom>
          <a:noFill/>
          <a:ln/>
        </p:spPr>
        <p:txBody>
          <a:bodyPr wrap="square" lIns="0" tIns="0" rIns="0" bIns="0" rtlCol="0" anchor="ctr"/>
          <a:lstStyle/>
          <a:p>
            <a:pPr indent="0" marL="0">
              <a:buNone/>
            </a:pPr>
            <a:r>
              <a:rPr lang="en-US" sz="1150" i="1" dirty="0">
                <a:solidFill>
                  <a:srgbClr val="56667D"/>
                </a:solidFill>
                <a:latin typeface="Calibri" pitchFamily="34" charset="0"/>
                <a:ea typeface="Calibri" pitchFamily="34" charset="-122"/>
                <a:cs typeface="Calibri" pitchFamily="34" charset="-120"/>
              </a:rPr>
              <a:t>A new category needs a new entry in categories.yaml and relevance_domains.yaml — no code change. Secrets live only in .env, which is never committed.</a:t>
            </a:r>
            <a:endParaRPr lang="en-US" sz="1150" dirty="0"/>
          </a:p>
          <a:p>
            <a:pPr indent="0" marL="0">
              <a:buNone/>
            </a:pPr>
            <a:r>
              <a:rPr lang="en-US" sz="1000" dirty="0">
                <a:solidFill>
                  <a:srgbClr val="6A7890"/>
                </a:solidFill>
                <a:latin typeface="Microsoft YaHei" pitchFamily="34" charset="0"/>
                <a:ea typeface="Microsoft YaHei" pitchFamily="34" charset="-122"/>
                <a:cs typeface="Microsoft YaHei" pitchFamily="34" charset="-120"/>
              </a:rPr>
              <a:t>新增类目只需在 categories.yaml 与 relevance_domains.yaml 中添加条目，无需改代码。密钥只存于 .env，且从不提交。</a:t>
            </a:r>
            <a:endParaRPr lang="en-US" sz="1150" dirty="0"/>
          </a:p>
        </p:txBody>
      </p:sp>
      <p:sp>
        <p:nvSpPr>
          <p:cNvPr id="36" name="Text 34"/>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A98AD"/>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A98AD"/>
                </a:solidFill>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2203A"/>
        </a:solidFill>
      </p:bgPr>
    </p:bg>
    <p:spTree>
      <p:nvGrpSpPr>
        <p:cNvPr id="1" name=""/>
        <p:cNvGrpSpPr/>
        <p:nvPr/>
      </p:nvGrpSpPr>
      <p:grpSpPr>
        <a:xfrm>
          <a:off x="0" y="0"/>
          <a:ext cx="0" cy="0"/>
          <a:chOff x="0" y="0"/>
          <a:chExt cx="0" cy="0"/>
        </a:xfrm>
      </p:grpSpPr>
      <p:sp>
        <p:nvSpPr>
          <p:cNvPr id="2" name="Text 0"/>
          <p:cNvSpPr txBox="1"/>
          <p:nvPr/>
        </p:nvSpPr>
        <p:spPr>
          <a:xfrm>
            <a:off x="731520" y="822960"/>
            <a:ext cx="10058400" cy="320040"/>
          </a:xfrm>
          <a:prstGeom prst="rect">
            <a:avLst/>
          </a:prstGeom>
          <a:noFill/>
          <a:ln/>
        </p:spPr>
        <p:txBody>
          <a:bodyPr wrap="square" lIns="0" tIns="0" rIns="0" bIns="0" rtlCol="0" anchor="ctr"/>
          <a:lstStyle/>
          <a:p>
            <a:pPr indent="0" marL="0">
              <a:buNone/>
            </a:pPr>
            <a:r>
              <a:rPr lang="en-US" sz="1300" b="1" spc="400" kern="0" dirty="0">
                <a:solidFill>
                  <a:srgbClr val="9FD3C8"/>
                </a:solidFill>
                <a:latin typeface="Calibri" pitchFamily="34" charset="0"/>
                <a:ea typeface="Calibri" pitchFamily="34" charset="-122"/>
                <a:cs typeface="Calibri" pitchFamily="34" charset="-120"/>
              </a:rPr>
              <a:t>EXECUTION GUARANTEES</a:t>
            </a:r>
            <a:endParaRPr lang="en-US" sz="1300" dirty="0"/>
          </a:p>
        </p:txBody>
      </p:sp>
      <p:sp>
        <p:nvSpPr>
          <p:cNvPr id="3" name="Text 1"/>
          <p:cNvSpPr txBox="1"/>
          <p:nvPr/>
        </p:nvSpPr>
        <p:spPr>
          <a:xfrm>
            <a:off x="731520" y="1188720"/>
            <a:ext cx="10515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the implementation guarantees</a:t>
            </a:r>
            <a:endParaRPr lang="en-US" sz="3000" dirty="0"/>
          </a:p>
        </p:txBody>
      </p:sp>
      <p:sp>
        <p:nvSpPr>
          <p:cNvPr id="4" name="Text 2"/>
          <p:cNvSpPr txBox="1"/>
          <p:nvPr/>
        </p:nvSpPr>
        <p:spPr>
          <a:xfrm>
            <a:off x="731520" y="1737360"/>
            <a:ext cx="10515600" cy="411480"/>
          </a:xfrm>
          <a:prstGeom prst="rect">
            <a:avLst/>
          </a:prstGeom>
          <a:noFill/>
          <a:ln/>
        </p:spPr>
        <p:txBody>
          <a:bodyPr wrap="square" lIns="0" tIns="0" rIns="0" bIns="0" rtlCol="0" anchor="ctr"/>
          <a:lstStyle/>
          <a:p>
            <a:pPr indent="0" marL="0">
              <a:buNone/>
            </a:pPr>
            <a:r>
              <a:rPr lang="en-US" sz="1800" dirty="0">
                <a:solidFill>
                  <a:srgbClr val="B8C6DB"/>
                </a:solidFill>
                <a:latin typeface="Microsoft YaHei" pitchFamily="34" charset="0"/>
                <a:ea typeface="Microsoft YaHei" pitchFamily="34" charset="-122"/>
                <a:cs typeface="Microsoft YaHei" pitchFamily="34" charset="-120"/>
              </a:rPr>
              <a:t>系统实现所提供的保证</a:t>
            </a:r>
            <a:endParaRPr lang="en-US" sz="1800" dirty="0"/>
          </a:p>
        </p:txBody>
      </p:sp>
      <p:sp>
        <p:nvSpPr>
          <p:cNvPr id="5" name="Shape 3"/>
          <p:cNvSpPr/>
          <p:nvPr/>
        </p:nvSpPr>
        <p:spPr>
          <a:xfrm>
            <a:off x="731520" y="2606040"/>
            <a:ext cx="5257800" cy="914400"/>
          </a:xfrm>
          <a:prstGeom prst="roundRect">
            <a:avLst>
              <a:gd name="adj" fmla="val 8000"/>
            </a:avLst>
          </a:prstGeom>
          <a:solidFill>
            <a:srgbClr val="1B2D4D"/>
          </a:solidFill>
          <a:ln w="12700">
            <a:solidFill>
              <a:srgbClr val="2E4468"/>
            </a:solidFill>
            <a:prstDash val="solid"/>
          </a:ln>
        </p:spPr>
      </p:sp>
      <p:sp>
        <p:nvSpPr>
          <p:cNvPr id="6" name="Shape 4"/>
          <p:cNvSpPr/>
          <p:nvPr/>
        </p:nvSpPr>
        <p:spPr>
          <a:xfrm>
            <a:off x="932688" y="2907792"/>
            <a:ext cx="310896" cy="310896"/>
          </a:xfrm>
          <a:prstGeom prst="ellipse">
            <a:avLst/>
          </a:prstGeom>
          <a:solidFill>
            <a:srgbClr val="9FD3C8"/>
          </a:solidFill>
          <a:ln w="12700">
            <a:solidFill>
              <a:srgbClr val="9FD3C8"/>
            </a:solidFill>
            <a:prstDash val="solid"/>
          </a:ln>
        </p:spPr>
      </p:sp>
      <p:sp>
        <p:nvSpPr>
          <p:cNvPr id="7" name="Text 5"/>
          <p:cNvSpPr txBox="1"/>
          <p:nvPr/>
        </p:nvSpPr>
        <p:spPr>
          <a:xfrm>
            <a:off x="1417320" y="2606040"/>
            <a:ext cx="443484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Every number has an interval, n, formula and basis</a:t>
            </a:r>
            <a:endParaRPr lang="en-US" sz="1400" dirty="0"/>
          </a:p>
          <a:p>
            <a:pPr indent="0" marL="0">
              <a:buNone/>
            </a:pPr>
            <a:r>
              <a:rPr lang="en-US" sz="1100" dirty="0">
                <a:solidFill>
                  <a:srgbClr val="9FD3C8"/>
                </a:solidFill>
                <a:latin typeface="Microsoft YaHei" pitchFamily="34" charset="0"/>
                <a:ea typeface="Microsoft YaHei" pitchFamily="34" charset="-122"/>
                <a:cs typeface="Microsoft YaHei" pitchFamily="34" charset="-120"/>
              </a:rPr>
              <a:t>每个数字都有区间、样本量、公式与依据</a:t>
            </a:r>
            <a:endParaRPr lang="en-US" sz="1400" dirty="0"/>
          </a:p>
        </p:txBody>
      </p:sp>
      <p:sp>
        <p:nvSpPr>
          <p:cNvPr id="8" name="Shape 6"/>
          <p:cNvSpPr/>
          <p:nvPr/>
        </p:nvSpPr>
        <p:spPr>
          <a:xfrm>
            <a:off x="6263640" y="2606040"/>
            <a:ext cx="5257800" cy="914400"/>
          </a:xfrm>
          <a:prstGeom prst="roundRect">
            <a:avLst>
              <a:gd name="adj" fmla="val 8000"/>
            </a:avLst>
          </a:prstGeom>
          <a:solidFill>
            <a:srgbClr val="1B2D4D"/>
          </a:solidFill>
          <a:ln w="12700">
            <a:solidFill>
              <a:srgbClr val="2E4468"/>
            </a:solidFill>
            <a:prstDash val="solid"/>
          </a:ln>
        </p:spPr>
      </p:sp>
      <p:sp>
        <p:nvSpPr>
          <p:cNvPr id="9" name="Shape 7"/>
          <p:cNvSpPr/>
          <p:nvPr/>
        </p:nvSpPr>
        <p:spPr>
          <a:xfrm>
            <a:off x="6464808" y="2907792"/>
            <a:ext cx="310896" cy="310896"/>
          </a:xfrm>
          <a:prstGeom prst="ellipse">
            <a:avLst/>
          </a:prstGeom>
          <a:solidFill>
            <a:srgbClr val="9FD3C8"/>
          </a:solidFill>
          <a:ln w="12700">
            <a:solidFill>
              <a:srgbClr val="9FD3C8"/>
            </a:solidFill>
            <a:prstDash val="solid"/>
          </a:ln>
        </p:spPr>
      </p:sp>
      <p:sp>
        <p:nvSpPr>
          <p:cNvPr id="10" name="Text 8"/>
          <p:cNvSpPr txBox="1"/>
          <p:nvPr/>
        </p:nvSpPr>
        <p:spPr>
          <a:xfrm>
            <a:off x="6949440" y="2606040"/>
            <a:ext cx="443484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Totals reconcile exactly at every level</a:t>
            </a:r>
            <a:endParaRPr lang="en-US" sz="1400" dirty="0"/>
          </a:p>
          <a:p>
            <a:pPr indent="0" marL="0">
              <a:buNone/>
            </a:pPr>
            <a:r>
              <a:rPr lang="en-US" sz="1100" dirty="0">
                <a:solidFill>
                  <a:srgbClr val="9FD3C8"/>
                </a:solidFill>
                <a:latin typeface="Microsoft YaHei" pitchFamily="34" charset="0"/>
                <a:ea typeface="Microsoft YaHei" pitchFamily="34" charset="-122"/>
                <a:cs typeface="Microsoft YaHei" pitchFamily="34" charset="-120"/>
              </a:rPr>
              <a:t>各层级合计精确一致</a:t>
            </a:r>
            <a:endParaRPr lang="en-US" sz="1400" dirty="0"/>
          </a:p>
        </p:txBody>
      </p:sp>
      <p:sp>
        <p:nvSpPr>
          <p:cNvPr id="11" name="Shape 9"/>
          <p:cNvSpPr/>
          <p:nvPr/>
        </p:nvSpPr>
        <p:spPr>
          <a:xfrm>
            <a:off x="731520" y="3703320"/>
            <a:ext cx="5257800" cy="914400"/>
          </a:xfrm>
          <a:prstGeom prst="roundRect">
            <a:avLst>
              <a:gd name="adj" fmla="val 8000"/>
            </a:avLst>
          </a:prstGeom>
          <a:solidFill>
            <a:srgbClr val="1B2D4D"/>
          </a:solidFill>
          <a:ln w="12700">
            <a:solidFill>
              <a:srgbClr val="2E4468"/>
            </a:solidFill>
            <a:prstDash val="solid"/>
          </a:ln>
        </p:spPr>
      </p:sp>
      <p:sp>
        <p:nvSpPr>
          <p:cNvPr id="12" name="Shape 10"/>
          <p:cNvSpPr/>
          <p:nvPr/>
        </p:nvSpPr>
        <p:spPr>
          <a:xfrm>
            <a:off x="932688" y="4005072"/>
            <a:ext cx="310896" cy="310896"/>
          </a:xfrm>
          <a:prstGeom prst="ellipse">
            <a:avLst/>
          </a:prstGeom>
          <a:solidFill>
            <a:srgbClr val="9FD3C8"/>
          </a:solidFill>
          <a:ln w="12700">
            <a:solidFill>
              <a:srgbClr val="9FD3C8"/>
            </a:solidFill>
            <a:prstDash val="solid"/>
          </a:ln>
        </p:spPr>
      </p:sp>
      <p:sp>
        <p:nvSpPr>
          <p:cNvPr id="13" name="Text 11"/>
          <p:cNvSpPr txBox="1"/>
          <p:nvPr/>
        </p:nvSpPr>
        <p:spPr>
          <a:xfrm>
            <a:off x="1417320" y="3703320"/>
            <a:ext cx="443484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Nothing is silently discarded</a:t>
            </a:r>
            <a:endParaRPr lang="en-US" sz="1400" dirty="0"/>
          </a:p>
          <a:p>
            <a:pPr indent="0" marL="0">
              <a:buNone/>
            </a:pPr>
            <a:r>
              <a:rPr lang="en-US" sz="1100" dirty="0">
                <a:solidFill>
                  <a:srgbClr val="9FD3C8"/>
                </a:solidFill>
                <a:latin typeface="Microsoft YaHei" pitchFamily="34" charset="0"/>
                <a:ea typeface="Microsoft YaHei" pitchFamily="34" charset="-122"/>
                <a:cs typeface="Microsoft YaHei" pitchFamily="34" charset="-120"/>
              </a:rPr>
              <a:t>任何数据都不会被悄悄丢弃</a:t>
            </a:r>
            <a:endParaRPr lang="en-US" sz="1400" dirty="0"/>
          </a:p>
        </p:txBody>
      </p:sp>
      <p:sp>
        <p:nvSpPr>
          <p:cNvPr id="14" name="Shape 12"/>
          <p:cNvSpPr/>
          <p:nvPr/>
        </p:nvSpPr>
        <p:spPr>
          <a:xfrm>
            <a:off x="6263640" y="3703320"/>
            <a:ext cx="5257800" cy="914400"/>
          </a:xfrm>
          <a:prstGeom prst="roundRect">
            <a:avLst>
              <a:gd name="adj" fmla="val 8000"/>
            </a:avLst>
          </a:prstGeom>
          <a:solidFill>
            <a:srgbClr val="1B2D4D"/>
          </a:solidFill>
          <a:ln w="12700">
            <a:solidFill>
              <a:srgbClr val="2E4468"/>
            </a:solidFill>
            <a:prstDash val="solid"/>
          </a:ln>
        </p:spPr>
      </p:sp>
      <p:sp>
        <p:nvSpPr>
          <p:cNvPr id="15" name="Shape 13"/>
          <p:cNvSpPr/>
          <p:nvPr/>
        </p:nvSpPr>
        <p:spPr>
          <a:xfrm>
            <a:off x="6464808" y="4005072"/>
            <a:ext cx="310896" cy="310896"/>
          </a:xfrm>
          <a:prstGeom prst="ellipse">
            <a:avLst/>
          </a:prstGeom>
          <a:solidFill>
            <a:srgbClr val="9FD3C8"/>
          </a:solidFill>
          <a:ln w="12700">
            <a:solidFill>
              <a:srgbClr val="9FD3C8"/>
            </a:solidFill>
            <a:prstDash val="solid"/>
          </a:ln>
        </p:spPr>
      </p:sp>
      <p:sp>
        <p:nvSpPr>
          <p:cNvPr id="16" name="Text 14"/>
          <p:cNvSpPr txBox="1"/>
          <p:nvPr/>
        </p:nvSpPr>
        <p:spPr>
          <a:xfrm>
            <a:off x="6949440" y="3703320"/>
            <a:ext cx="443484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Claims of change or difference are tested with FDR control</a:t>
            </a:r>
            <a:endParaRPr lang="en-US" sz="1400" dirty="0"/>
          </a:p>
          <a:p>
            <a:pPr indent="0" marL="0">
              <a:buNone/>
            </a:pPr>
            <a:r>
              <a:rPr lang="en-US" sz="1100" dirty="0">
                <a:solidFill>
                  <a:srgbClr val="9FD3C8"/>
                </a:solidFill>
                <a:latin typeface="Microsoft YaHei" pitchFamily="34" charset="0"/>
                <a:ea typeface="Microsoft YaHei" pitchFamily="34" charset="-122"/>
                <a:cs typeface="Microsoft YaHei" pitchFamily="34" charset="-120"/>
              </a:rPr>
              <a:t>变化与差异均经过错误发现率控制的检验</a:t>
            </a:r>
            <a:endParaRPr lang="en-US" sz="1400" dirty="0"/>
          </a:p>
        </p:txBody>
      </p:sp>
      <p:sp>
        <p:nvSpPr>
          <p:cNvPr id="17" name="Shape 15"/>
          <p:cNvSpPr/>
          <p:nvPr/>
        </p:nvSpPr>
        <p:spPr>
          <a:xfrm>
            <a:off x="731520" y="4800600"/>
            <a:ext cx="5257800" cy="914400"/>
          </a:xfrm>
          <a:prstGeom prst="roundRect">
            <a:avLst>
              <a:gd name="adj" fmla="val 8000"/>
            </a:avLst>
          </a:prstGeom>
          <a:solidFill>
            <a:srgbClr val="1B2D4D"/>
          </a:solidFill>
          <a:ln w="12700">
            <a:solidFill>
              <a:srgbClr val="2E4468"/>
            </a:solidFill>
            <a:prstDash val="solid"/>
          </a:ln>
        </p:spPr>
      </p:sp>
      <p:sp>
        <p:nvSpPr>
          <p:cNvPr id="18" name="Shape 16"/>
          <p:cNvSpPr/>
          <p:nvPr/>
        </p:nvSpPr>
        <p:spPr>
          <a:xfrm>
            <a:off x="932688" y="5102352"/>
            <a:ext cx="310896" cy="310896"/>
          </a:xfrm>
          <a:prstGeom prst="ellipse">
            <a:avLst/>
          </a:prstGeom>
          <a:solidFill>
            <a:srgbClr val="9FD3C8"/>
          </a:solidFill>
          <a:ln w="12700">
            <a:solidFill>
              <a:srgbClr val="9FD3C8"/>
            </a:solidFill>
            <a:prstDash val="solid"/>
          </a:ln>
        </p:spPr>
      </p:sp>
      <p:sp>
        <p:nvSpPr>
          <p:cNvPr id="19" name="Text 17"/>
          <p:cNvSpPr txBox="1"/>
          <p:nvPr/>
        </p:nvSpPr>
        <p:spPr>
          <a:xfrm>
            <a:off x="1417320" y="4800600"/>
            <a:ext cx="443484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AI never produces a number</a:t>
            </a:r>
            <a:endParaRPr lang="en-US" sz="1400" dirty="0"/>
          </a:p>
          <a:p>
            <a:pPr indent="0" marL="0">
              <a:buNone/>
            </a:pPr>
            <a:r>
              <a:rPr lang="en-US" sz="1100" dirty="0">
                <a:solidFill>
                  <a:srgbClr val="9FD3C8"/>
                </a:solidFill>
                <a:latin typeface="Microsoft YaHei" pitchFamily="34" charset="0"/>
                <a:ea typeface="Microsoft YaHei" pitchFamily="34" charset="-122"/>
                <a:cs typeface="Microsoft YaHei" pitchFamily="34" charset="-120"/>
              </a:rPr>
              <a:t>AI 从不生成数字</a:t>
            </a:r>
            <a:endParaRPr lang="en-US" sz="1400" dirty="0"/>
          </a:p>
        </p:txBody>
      </p:sp>
      <p:sp>
        <p:nvSpPr>
          <p:cNvPr id="20" name="Shape 18"/>
          <p:cNvSpPr/>
          <p:nvPr/>
        </p:nvSpPr>
        <p:spPr>
          <a:xfrm>
            <a:off x="6263640" y="4800600"/>
            <a:ext cx="5257800" cy="914400"/>
          </a:xfrm>
          <a:prstGeom prst="roundRect">
            <a:avLst>
              <a:gd name="adj" fmla="val 8000"/>
            </a:avLst>
          </a:prstGeom>
          <a:solidFill>
            <a:srgbClr val="1B2D4D"/>
          </a:solidFill>
          <a:ln w="12700">
            <a:solidFill>
              <a:srgbClr val="2E4468"/>
            </a:solidFill>
            <a:prstDash val="solid"/>
          </a:ln>
        </p:spPr>
      </p:sp>
      <p:sp>
        <p:nvSpPr>
          <p:cNvPr id="21" name="Shape 19"/>
          <p:cNvSpPr/>
          <p:nvPr/>
        </p:nvSpPr>
        <p:spPr>
          <a:xfrm>
            <a:off x="6464808" y="5102352"/>
            <a:ext cx="310896" cy="310896"/>
          </a:xfrm>
          <a:prstGeom prst="ellipse">
            <a:avLst/>
          </a:prstGeom>
          <a:solidFill>
            <a:srgbClr val="9FD3C8"/>
          </a:solidFill>
          <a:ln w="12700">
            <a:solidFill>
              <a:srgbClr val="9FD3C8"/>
            </a:solidFill>
            <a:prstDash val="solid"/>
          </a:ln>
        </p:spPr>
      </p:sp>
      <p:sp>
        <p:nvSpPr>
          <p:cNvPr id="22" name="Text 20"/>
          <p:cNvSpPr txBox="1"/>
          <p:nvPr/>
        </p:nvSpPr>
        <p:spPr>
          <a:xfrm>
            <a:off x="6949440" y="4800600"/>
            <a:ext cx="443484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All rules live in configuration</a:t>
            </a:r>
            <a:endParaRPr lang="en-US" sz="1400" dirty="0"/>
          </a:p>
          <a:p>
            <a:pPr indent="0" marL="0">
              <a:buNone/>
            </a:pPr>
            <a:r>
              <a:rPr lang="en-US" sz="1100" dirty="0">
                <a:solidFill>
                  <a:srgbClr val="9FD3C8"/>
                </a:solidFill>
                <a:latin typeface="Microsoft YaHei" pitchFamily="34" charset="0"/>
                <a:ea typeface="Microsoft YaHei" pitchFamily="34" charset="-122"/>
                <a:cs typeface="Microsoft YaHei" pitchFamily="34" charset="-120"/>
              </a:rPr>
              <a:t>所有规则都在配置中</a:t>
            </a:r>
            <a:endParaRPr lang="en-US" sz="1400" dirty="0"/>
          </a:p>
        </p:txBody>
      </p:sp>
      <p:sp>
        <p:nvSpPr>
          <p:cNvPr id="23" name="Text 21"/>
          <p:cNvSpPr txBox="1"/>
          <p:nvPr/>
        </p:nvSpPr>
        <p:spPr>
          <a:xfrm>
            <a:off x="8961120" y="6473952"/>
            <a:ext cx="2743200" cy="228600"/>
          </a:xfrm>
          <a:prstGeom prst="rect">
            <a:avLst/>
          </a:prstGeom>
          <a:noFill/>
          <a:ln/>
        </p:spPr>
        <p:txBody>
          <a:bodyPr wrap="square" lIns="0" tIns="0" rIns="0" bIns="0" rtlCol="0" anchor="ctr"/>
          <a:lstStyle/>
          <a:p>
            <a:pPr algn="r" indent="0" marL="0">
              <a:buNone/>
            </a:pPr>
            <a:r>
              <a:rPr lang="en-US" sz="900" dirty="0">
                <a:solidFill>
                  <a:srgbClr val="8FA2BF"/>
                </a:solidFill>
                <a:latin typeface="Calibri" pitchFamily="34" charset="0"/>
                <a:ea typeface="Calibri" pitchFamily="34" charset="-122"/>
                <a:cs typeface="Calibri" pitchFamily="34" charset="-120"/>
              </a:rPr>
              <a:t>DMIS · Implementation / 实现  </a:t>
            </a:r>
            <a:pPr algn="r" indent="0" marL="0">
              <a:buNone/>
            </a:pPr>
            <a:r>
              <a:rPr lang="en-US" sz="900" b="1" dirty="0">
                <a:solidFill>
                  <a:srgbClr val="8FA2BF"/>
                </a:solidFill>
              </a:rPr>
              <a:t>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DMIS — Implementation &amp; Execution Logic / 实现与执行逻辑</dc:title>
  <dc:subject>PptxGenJS Presentation</dc:subject>
  <dc:creator>Wajid Kanwar Abdul</dc:creator>
  <cp:lastModifiedBy>Wajid Kanwar Abdul</cp:lastModifiedBy>
  <cp:revision>1</cp:revision>
  <dcterms:created xsi:type="dcterms:W3CDTF">2026-09-26T01:47:31Z</dcterms:created>
  <dcterms:modified xsi:type="dcterms:W3CDTF">2026-09-26T01:47:31Z</dcterms:modified>
</cp:coreProperties>
</file>