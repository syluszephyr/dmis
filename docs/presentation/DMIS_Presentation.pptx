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3.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33445C"/>
                </a:solidFill>
                <a:latin typeface="Arial"/>
              </a:defRPr>
            </a:pPr>
            <a:r>
              <a:rPr sz="1300" b="0" i="0" u="none" strike="noStrike">
                <a:solidFill>
                  <a:srgbClr val="33445C"/>
                </a:solidFill>
                <a:latin typeface="Arial"/>
              </a:rPr>
              <a:t>Error vs the true market size (synthetic markets, %)</a:t>
            </a:r>
          </a:p>
        </c:rich>
      </c:tx>
      <c:layout/>
      <c:overlay val="0"/>
    </c:title>
    <c:autoTitleDeleted val="0"/>
    <c:plotArea>
      <c:layout/>
      <c:barChart>
        <c:barDir val="col"/>
        <c:grouping val="clustered"/>
        <c:varyColors val="0"/>
        <c:ser>
          <c:idx val="0"/>
          <c:order val="0"/>
          <c:tx>
            <c:strRef>
              <c:f>Sheet1!$B$1</c:f>
              <c:strCache>
                <c:ptCount val="1"/>
                <c:pt idx="0">
                  <c:v>Error vs true market size</c:v>
                </c:pt>
              </c:strCache>
            </c:strRef>
          </c:tx>
          <c:spPr>
            <a:solidFill>
              <a:srgbClr val="8A98AD"/>
            </a:solidFill>
            <a:effectLst/>
          </c:spPr>
          <c:invertIfNegative val="0"/>
          <c:dLbls>
            <c:numFmt formatCode="0.0&quot;%&quot;" sourceLinked="0"/>
            <c:txPr>
              <a:bodyPr/>
              <a:lstStyle/>
              <a:p>
                <a:pPr>
                  <a:defRPr b="1" i="0" strike="noStrike" sz="1400" u="none">
                    <a:solidFill>
                      <a:srgbClr val="0F1B2D"/>
                    </a:solidFill>
                    <a:latin typeface="Arial"/>
                  </a:defRPr>
                </a:pPr>
              </a:p>
            </c:txPr>
            <c:showLegendKey val="0"/>
            <c:showVal val="1"/>
            <c:showCatName val="0"/>
            <c:showSerName val="0"/>
            <c:showPercent val="0"/>
            <c:showBubbleSize val="0"/>
            <c:showLeaderLines val="0"/>
          </c:dLbls>
          <c:dPt>
            <c:idx val="0"/>
            <c:invertIfNegative val="0"/>
            <c:bubble3D val="0"/>
            <c:spPr>
              <a:solidFill>
                <a:srgbClr val="8A98AD"/>
              </a:solidFill>
              <a:effectLst/>
            </c:spPr>
          </c:dPt>
          <c:dPt>
            <c:idx val="1"/>
            <c:invertIfNegative val="0"/>
            <c:bubble3D val="0"/>
            <c:spPr>
              <a:solidFill>
                <a:srgbClr val="0B7FA3"/>
              </a:solidFill>
              <a:effectLst/>
            </c:spPr>
          </c:dPt>
          <c:cat>
            <c:multiLvlStrRef>
              <c:f>Sheet1!$A$2:$A$3</c:f>
              <c:multiLvlStrCache>
                <c:ptCount val="2"/>
                <c:lvl>
                  <c:pt idx="0">
                    <c:v>Badge sum (floor)</c:v>
                  </c:pt>
                  <c:pt idx="1">
                    <c:v>DMIS estimate</c:v>
                  </c:pt>
                </c:lvl>
              </c:multiLvlStrCache>
            </c:multiLvlStrRef>
          </c:cat>
          <c:val>
            <c:numRef>
              <c:f>Sheet1!$B$2:$B$3</c:f>
              <c:numCache>
                <c:formatCode>General</c:formatCode>
                <c:ptCount val="2"/>
                <c:pt idx="0">
                  <c:v>-34</c:v>
                </c:pt>
                <c:pt idx="1">
                  <c:v>1.7</c:v>
                </c:pt>
              </c:numCache>
            </c:numRef>
          </c:val>
        </c:ser>
        <c:dLbls>
          <c:numFmt formatCode="0.0&quot;%&quot;" sourceLinked="0"/>
          <c:txPr>
            <a:bodyPr/>
            <a:lstStyle/>
            <a:p>
              <a:pPr>
                <a:defRPr b="1" i="0" strike="noStrike" sz="1400" u="none">
                  <a:solidFill>
                    <a:srgbClr val="0F1B2D"/>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3445C"/>
                </a:solidFill>
                <a:latin typeface="Arial"/>
              </a:defRPr>
            </a:pPr>
            <a:endParaRPr lang="en-US"/>
          </a:p>
        </c:txPr>
        <c:crossAx val="2094734552"/>
        <c:crosses val="autoZero"/>
        <c:auto val="1"/>
        <c:lblAlgn val="ctr"/>
        <c:noMultiLvlLbl val="1"/>
      </c:catAx>
      <c:valAx>
        <c:axId val="2094734552"/>
        <c:scaling>
          <c:orientation val="minMax"/>
          <c:max val="10"/>
          <c:min val="-40"/>
        </c:scaling>
        <c:delete val="0"/>
        <c:axPos val="l"/>
        <c:majorGridlines>
          <c:spPr>
            <a:ln w="6350" cap="flat">
              <a:solidFill>
                <a:srgbClr val="E1E7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A98AD"/>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33445C"/>
                </a:solidFill>
                <a:latin typeface="Arial"/>
              </a:defRPr>
            </a:pPr>
            <a:r>
              <a:rPr sz="1200" b="0" i="0" u="none" strike="noStrike">
                <a:solidFill>
                  <a:srgbClr val="33445C"/>
                </a:solidFill>
                <a:latin typeface="Arial"/>
              </a:rPr>
              <a:t>Estimated revenue / month with 95% interval ($k)</a:t>
            </a:r>
          </a:p>
        </c:rich>
      </c:tx>
      <c:layout/>
      <c:overlay val="0"/>
    </c:title>
    <c:autoTitleDeleted val="0"/>
    <c:plotArea>
      <c:layout/>
      <c:barChart>
        <c:barDir val="col"/>
        <c:grouping val="clustered"/>
        <c:varyColors val="0"/>
        <c:ser>
          <c:idx val="0"/>
          <c:order val="0"/>
          <c:tx>
            <c:strRef>
              <c:f>Sheet1!$B$1</c:f>
              <c:strCache>
                <c:ptCount val="1"/>
                <c:pt idx="0">
                  <c:v>Low (95%)</c:v>
                </c:pt>
              </c:strCache>
            </c:strRef>
          </c:tx>
          <c:spPr>
            <a:solidFill>
              <a:srgbClr val="9FD8EA"/>
            </a:solidFill>
            <a:effectLst/>
          </c:spPr>
          <c:invertIfNegative val="0"/>
          <c:dLbls>
            <c:numFmt formatCode="&quot;$&quot;0&quot;k&quot;" sourceLinked="0"/>
            <c:txPr>
              <a:bodyPr/>
              <a:lstStyle/>
              <a:p>
                <a:pPr>
                  <a:defRPr b="0" i="0" strike="noStrike" sz="900" u="none">
                    <a:solidFill>
                      <a:srgbClr val="33445C"/>
                    </a:solidFill>
                    <a:latin typeface="Arial"/>
                  </a:defRPr>
                </a:pPr>
              </a:p>
            </c:txPr>
            <c:showLegendKey val="0"/>
            <c:showVal val="1"/>
            <c:showCatName val="0"/>
            <c:showSerName val="0"/>
            <c:showPercent val="0"/>
            <c:showBubbleSize val="0"/>
            <c:showLeaderLines val="0"/>
          </c:dLbls>
          <c:cat>
            <c:multiLvlStrRef>
              <c:f>Sheet1!$A$2:$A$4</c:f>
              <c:multiLvlStrCache>
                <c:ptCount val="3"/>
                <c:lvl>
                  <c:pt idx="0">
                    <c:v>dental_models</c:v>
                  </c:pt>
                  <c:pt idx="1">
                    <c:v>denture_base</c:v>
                  </c:pt>
                  <c:pt idx="2">
                    <c:v>implants</c:v>
                  </c:pt>
                </c:lvl>
              </c:multiLvlStrCache>
            </c:multiLvlStrRef>
          </c:cat>
          <c:val>
            <c:numRef>
              <c:f>Sheet1!$B$2:$B$4</c:f>
              <c:numCache>
                <c:formatCode>General</c:formatCode>
                <c:ptCount val="3"/>
                <c:pt idx="0">
                  <c:v>130.6</c:v>
                </c:pt>
                <c:pt idx="1">
                  <c:v>100.3</c:v>
                </c:pt>
                <c:pt idx="2">
                  <c:v>2.3</c:v>
                </c:pt>
              </c:numCache>
            </c:numRef>
          </c:val>
        </c:ser>
        <c:ser>
          <c:idx val="1"/>
          <c:order val="1"/>
          <c:tx>
            <c:strRef>
              <c:f>Sheet1!$C$1</c:f>
              <c:strCache>
                <c:ptCount val="1"/>
                <c:pt idx="0">
                  <c:v>Estimate</c:v>
                </c:pt>
              </c:strCache>
            </c:strRef>
          </c:tx>
          <c:spPr>
            <a:solidFill>
              <a:srgbClr val="0B7FA3"/>
            </a:solidFill>
            <a:effectLst/>
          </c:spPr>
          <c:invertIfNegative val="0"/>
          <c:dLbls>
            <c:numFmt formatCode="&quot;$&quot;0&quot;k&quot;" sourceLinked="0"/>
            <c:txPr>
              <a:bodyPr/>
              <a:lstStyle/>
              <a:p>
                <a:pPr>
                  <a:defRPr b="0" i="0" strike="noStrike" sz="900" u="none">
                    <a:solidFill>
                      <a:srgbClr val="33445C"/>
                    </a:solidFill>
                    <a:latin typeface="Arial"/>
                  </a:defRPr>
                </a:pPr>
              </a:p>
            </c:txPr>
            <c:showLegendKey val="0"/>
            <c:showVal val="1"/>
            <c:showCatName val="0"/>
            <c:showSerName val="0"/>
            <c:showPercent val="0"/>
            <c:showBubbleSize val="0"/>
            <c:showLeaderLines val="0"/>
          </c:dLbls>
          <c:cat>
            <c:multiLvlStrRef>
              <c:f>Sheet1!$A$2:$A$4</c:f>
              <c:multiLvlStrCache>
                <c:ptCount val="3"/>
                <c:lvl>
                  <c:pt idx="0">
                    <c:v>dental_models</c:v>
                  </c:pt>
                  <c:pt idx="1">
                    <c:v>denture_base</c:v>
                  </c:pt>
                  <c:pt idx="2">
                    <c:v>implants</c:v>
                  </c:pt>
                </c:lvl>
              </c:multiLvlStrCache>
            </c:multiLvlStrRef>
          </c:cat>
          <c:val>
            <c:numRef>
              <c:f>Sheet1!$C$2:$C$4</c:f>
              <c:numCache>
                <c:formatCode>General</c:formatCode>
                <c:ptCount val="3"/>
                <c:pt idx="0">
                  <c:v>175.8</c:v>
                </c:pt>
                <c:pt idx="1">
                  <c:v>114.1</c:v>
                </c:pt>
                <c:pt idx="2">
                  <c:v>12.7</c:v>
                </c:pt>
              </c:numCache>
            </c:numRef>
          </c:val>
        </c:ser>
        <c:ser>
          <c:idx val="2"/>
          <c:order val="2"/>
          <c:tx>
            <c:strRef>
              <c:f>Sheet1!$D$1</c:f>
              <c:strCache>
                <c:ptCount val="1"/>
                <c:pt idx="0">
                  <c:v>High (95%)</c:v>
                </c:pt>
              </c:strCache>
            </c:strRef>
          </c:tx>
          <c:spPr>
            <a:solidFill>
              <a:srgbClr val="9FD8EA"/>
            </a:solidFill>
            <a:effectLst/>
          </c:spPr>
          <c:invertIfNegative val="0"/>
          <c:dLbls>
            <c:numFmt formatCode="&quot;$&quot;0&quot;k&quot;" sourceLinked="0"/>
            <c:txPr>
              <a:bodyPr/>
              <a:lstStyle/>
              <a:p>
                <a:pPr>
                  <a:defRPr b="0" i="0" strike="noStrike" sz="900" u="none">
                    <a:solidFill>
                      <a:srgbClr val="33445C"/>
                    </a:solidFill>
                    <a:latin typeface="Arial"/>
                  </a:defRPr>
                </a:pPr>
              </a:p>
            </c:txPr>
            <c:showLegendKey val="0"/>
            <c:showVal val="1"/>
            <c:showCatName val="0"/>
            <c:showSerName val="0"/>
            <c:showPercent val="0"/>
            <c:showBubbleSize val="0"/>
            <c:showLeaderLines val="0"/>
          </c:dLbls>
          <c:cat>
            <c:multiLvlStrRef>
              <c:f>Sheet1!$A$2:$A$4</c:f>
              <c:multiLvlStrCache>
                <c:ptCount val="3"/>
                <c:lvl>
                  <c:pt idx="0">
                    <c:v>dental_models</c:v>
                  </c:pt>
                  <c:pt idx="1">
                    <c:v>denture_base</c:v>
                  </c:pt>
                  <c:pt idx="2">
                    <c:v>implants</c:v>
                  </c:pt>
                </c:lvl>
              </c:multiLvlStrCache>
            </c:multiLvlStrRef>
          </c:cat>
          <c:val>
            <c:numRef>
              <c:f>Sheet1!$D$2:$D$4</c:f>
              <c:numCache>
                <c:formatCode>General</c:formatCode>
                <c:ptCount val="3"/>
                <c:pt idx="0">
                  <c:v>245.2</c:v>
                </c:pt>
                <c:pt idx="1">
                  <c:v>131.7</c:v>
                </c:pt>
                <c:pt idx="2">
                  <c:v>29.7</c:v>
                </c:pt>
              </c:numCache>
            </c:numRef>
          </c:val>
        </c:ser>
        <c:dLbls>
          <c:numFmt formatCode="&quot;$&quot;0&quot;k&quot;" sourceLinked="0"/>
          <c:txPr>
            <a:bodyPr/>
            <a:lstStyle/>
            <a:p>
              <a:pPr>
                <a:defRPr b="0" i="0" strike="noStrike" sz="900" u="none">
                  <a:solidFill>
                    <a:srgbClr val="33445C"/>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344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1E7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A98AD"/>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33445C"/>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33445C"/>
                </a:solidFill>
                <a:latin typeface="Arial"/>
              </a:defRPr>
            </a:pPr>
            <a:r>
              <a:rPr sz="1300" b="0" i="0" u="none" strike="noStrike">
                <a:solidFill>
                  <a:srgbClr val="33445C"/>
                </a:solidFill>
                <a:latin typeface="Arial"/>
              </a:rPr>
              <a:t>Component weights</a:t>
            </a:r>
          </a:p>
        </c:rich>
      </c:tx>
      <c:layout/>
      <c:overlay val="0"/>
    </c:title>
    <c:autoTitleDeleted val="0"/>
    <c:plotArea>
      <c:layout/>
      <c:barChart>
        <c:barDir val="bar"/>
        <c:grouping val="clustered"/>
        <c:varyColors val="0"/>
        <c:ser>
          <c:idx val="0"/>
          <c:order val="0"/>
          <c:tx>
            <c:strRef>
              <c:f>Sheet1!$B$1</c:f>
              <c:strCache>
                <c:ptCount val="1"/>
                <c:pt idx="0">
                  <c:v>Weight</c:v>
                </c:pt>
              </c:strCache>
            </c:strRef>
          </c:tx>
          <c:spPr>
            <a:solidFill>
              <a:srgbClr val="0B7FA3"/>
            </a:solidFill>
            <a:effectLst/>
          </c:spPr>
          <c:invertIfNegative val="0"/>
          <c:dLbls>
            <c:numFmt formatCode="0&quot;%&quot;" sourceLinked="0"/>
            <c:txPr>
              <a:bodyPr/>
              <a:lstStyle/>
              <a:p>
                <a:pPr>
                  <a:defRPr b="0" i="0" strike="noStrike" sz="1200" u="none">
                    <a:solidFill>
                      <a:srgbClr val="0F1B2D"/>
                    </a:solidFill>
                    <a:latin typeface="Arial"/>
                  </a:defRPr>
                </a:pPr>
              </a:p>
            </c:txPr>
            <c:showLegendKey val="0"/>
            <c:showVal val="1"/>
            <c:showCatName val="0"/>
            <c:showSerName val="0"/>
            <c:showPercent val="0"/>
            <c:showBubbleSize val="0"/>
            <c:showLeaderLines val="0"/>
          </c:dLbls>
          <c:cat>
            <c:multiLvlStrRef>
              <c:f>Sheet1!$A$2:$A$7</c:f>
              <c:multiLvlStrCache>
                <c:ptCount val="6"/>
                <c:lvl>
                  <c:pt idx="0">
                    <c:v>Demand</c:v>
                  </c:pt>
                  <c:pt idx="1">
                    <c:v>Entry</c:v>
                  </c:pt>
                  <c:pt idx="2">
                    <c:v>Margin</c:v>
                  </c:pt>
                  <c:pt idx="3">
                    <c:v>Competition</c:v>
                  </c:pt>
                  <c:pt idx="4">
                    <c:v>Quality gap</c:v>
                  </c:pt>
                  <c:pt idx="5">
                    <c:v>Saturation</c:v>
                  </c:pt>
                </c:lvl>
              </c:multiLvlStrCache>
            </c:multiLvlStrRef>
          </c:cat>
          <c:val>
            <c:numRef>
              <c:f>Sheet1!$B$2:$B$7</c:f>
              <c:numCache>
                <c:formatCode>General</c:formatCode>
                <c:ptCount val="6"/>
                <c:pt idx="0">
                  <c:v>25</c:v>
                </c:pt>
                <c:pt idx="1">
                  <c:v>25</c:v>
                </c:pt>
                <c:pt idx="2">
                  <c:v>20</c:v>
                </c:pt>
                <c:pt idx="3">
                  <c:v>15</c:v>
                </c:pt>
                <c:pt idx="4">
                  <c:v>10</c:v>
                </c:pt>
                <c:pt idx="5">
                  <c:v>5</c:v>
                </c:pt>
              </c:numCache>
            </c:numRef>
          </c:val>
        </c:ser>
        <c:dLbls>
          <c:numFmt formatCode="0&quot;%&quot;" sourceLinked="0"/>
          <c:txPr>
            <a:bodyPr/>
            <a:lstStyle/>
            <a:p>
              <a:pPr>
                <a:defRPr b="0" i="0" strike="noStrike" sz="1200" u="none">
                  <a:solidFill>
                    <a:srgbClr val="0F1B2D"/>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33445C"/>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 pitch: DMIS turns SellerSprite exports of Amazon US listings into a statistical picture of a category — how big it really is, who controls it, where the demand gaps are, whether it is growing, and which product to launch. Every number carries a 95% interval and its formula. The background image is the Product Galaxy of dental_models.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insight. SellerSprite's sales column is Amazon's 'N+ bought' badge: a ladder 50, 100, 200 … 1K, 2K … A badge is a range, and a listing without a badge sells between 0 and 49 — not zero. Summing badge floors gives a certain lower bound, which on synthetic markets is about 34% below the truth. DMIS treats each listing as interval-censored and models where inside the interval its real sales are. On markets with known truth the estimate's median error is 1.7%, and the 95% interval contained the truth in 100% of validation markets.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product around decisions, not dashboards. Each of these six questions maps to a module we'll demo: Market Analytics for size, Competitors for control, demand gaps for unmet demand, Growth &amp; Forecast for trend, the Launch Simulator for what-ifs, and the Opportunity Board which joins them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request path: the browser loads a Next.js page; the page calls /api/v2 on the same origin; Next.js rewrites that to FastAPI on port 8000 (next.config.ts), so no CORS. FastAPI checks the role and market scope, then reads market tables from Parquet through DuckDB, and business records (users, projects, alerts, audit) through SQLAlchemy — SQLite by default, PostgreSQL with DIP_POSTGRES_URL; tables are created and migrated additively on first connect. The graph is NetworkX in-process or Neo4j; similarity vectors live in Qdrant (local file mode or server). The pipeline writes everything; uploads run in a background thread or, with DIP_JOB_MODE=queue, in a separate worker. Gemini is optional and only rephrases 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src/dip/pipeline/runner.py. The upload returns a job id immediately; stages run in order and each writes status, seconds and peak memory to the jobs table, which the Data Operations page polls. Raw files in data/raw are never modified. Principle: never silently discard — every excluded row keeps an excluded_reason. Re-uploading the same snapshot period replaces that period in the history rather than double counting.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metrics engine v3 — src/dip/metrics/observation.py, demand.py and engine.py. Badge detection is data-driven. The model is an interval-censored log-linear regression: a listing with a 200+ badge contributes the probability its sales lie in [200,300); no badge contributes P(sales &lt; 50). Error family chosen by AIC among normal, t10, t5, t3. 60 parametric bootstrap refits capture parameter uncertainty and correct small-sample bias. Each listing gets its conditional mean inside its range. 400 joint simulations give intervals for any group; the width multiplier 1.3 was calibrated on 80 synthetic markets and verified on 80 others. Point estimates are the sum of listing means, so every level of the hierarchy reconciles exactly. The chart shows the three real markets with their intervals.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the demo here. The KPI strip shows estimated revenue $302.6k/month across three markets with the certain floor underneath. Each 'Where to act' card is a market with its 95% interval, evidence grade, best sub-category by opportunity index and the product the evidence recommends. On the right, leading brands by estimated revenue. The globe is react-three-fiber.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any ⓘ to show the explain payload: the value, its interval, sample size, formula ID linking to the Methodology page, the basis and caveats. Point out the recommended product ('teaching' feature, lift about 3×, q = 0.097) and that the source's cost column was detected as a fixed share of price, so margins are withheld rather than invented.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Expanding a sub-category shows why it scores as it does. The brand bars show each leader's share with its 95% interval bracket and the probability it is really #1. The price-band chart shows mean units per listing with bootstrap whiskers — where demand concentrates by price. Momentum tells you whether launches are speeding up, with an exact binomial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matrix shows where products cluster by price and demand. Hovering shows each product's interval. The snapshot selector replays older exports (observed badge floors), which becomes a time-lapse once monthly uploads accumulate.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index is explicit and configurable in config/platform/metrics.yaml, not hidden in code. Each component is mapped to 0–1 on an absolute scale so indices compare across markets. A weighted geometric mean punishes a single fatal weakness. A product's index is 0.7 × its segment index, 0.2 × its price-band position, 0.1 × its quality room. If asked 'why these weights?': they are documented, visible per component on every page, and will be revisited with launch-outcome calibration.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src/dip/metrics/gaps.py. For each sub-category and each candidate feature, lift is demand per listing with the feature divided by without, with a bootstrap interval. P-values across all features are corrected with Benjamini–Hochberg at a 10% false discovery rate. A gap is significant and under-supplied. The recommendation combines up to three co-occurring gaps with the best price band; when nothing is significant it says so and falls back to the best price band. The real finding on dental_models was the 'teaching'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direct answer to 'what should we sell?'. Each row joins the opportunity index, a launch simulation of the concept, the sub-category's growth test, the leading brand's share interval and P(#1), entrant success and the simulator's risk flags. The board never invents a new score; it lines up evidence already computed elsewhere. Expand row 2 to show the 'teaching' concept and click Open in Launch Simulator.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src/dip/metrics/launch.py. The simulator reuses the market's fitted demand model (the model card) to draw sales for a listing that doesn't exist yet. Without a genuine unit cost it shows no profit. Risks are rule-coded from computed values and each shows its number: concentrated segment, entrants struggle, below the rating bar, price extrapolation, weak evidence, model disagrees with real entrants. Scenario comparison uses the same random numbers so differences come from the scenario, not noise.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src/dip/metrics/brands.py. Shares come from the joint simulation, so every share, rank and HHI has an interval. A brand is only called above par when its entire interval is above the equal-share benchmark. The Bayesian rating stops a brand with three 5-star reviews looking better than one with thousands of 4.6s. Changes between snapshots are shown as significant or within noise.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src/dip/intelligence/analyst_v3.py and gemini.py. The key design choice: code computes, AI only phrases. The number guard extracts every number from the AI reply, handling %, k, M and 万, and rejects the reply if any number isn't in the computed facts within tolerance. Demo: ask 'What should we sell in dental models?' then switch to Chinese and ask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graph is the ontology in src/dip/intelligence/ontology.py; the store is NetworkX embedded or Neo4j. Every edge carries evidence, a basis and a strength, and path finding prefers the strongest evidence. The galaxy is three.js; coordinates are computed during processing from the title embeddings. Good visual moment in the demo: click an edge, then pick two nodes and show the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src/dip/metrics/forecast.py. It is a random-effects log-linear trend: each snapshot is weighted by its own measurement uncertainty plus real month-to-month variation estimated by DerSimonian–Laird style method of moments. The real exports are single snapshots, so on those markets the page honestly says it needs three dated monthly uploads — the screenshot is a demo market with four snapshots. Horizons beyond the history get a warning; seasonality is not modelled until 24 months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src/dip/significance.py. Alert fatigue is the enemy: a 20% move inside wide intervals is noise. Tests are on the log scale because revenues and shares are positive with asymmetric intervals. Exact data (no uncertainty) makes any change certain. Also shows live data connectors (SellerSprite API, Amazon SP-API, supplier feed, news) and whether each is configured.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product page joins the product's estimates, its position among peers, the confidence breakdown with reasons, and its listings. Listing ≠ product is visible here: the listings table shows each ASIN that belongs to this product and how its sales were observed (badge, exact, below first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src/dip/projects.py. Every idea becomes a project with a prediction; loss-making inputs raise warnings; invalid inputs are rejected. The loop closes after launch, when actual sales are compared with the predicted range — this is how we will calibrate the model against real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src/dip/pilot/accuracy.py and metrics/synthetic.py. The validation button on the Accuracy page runs the production demand model on synthetic markets whose true sales are known (normal and heavy-tailed noise, price elasticity −0.9, missing covariates) with the real badge censoring applied. The per-market hold-out check hides badges in 5 folds and predicts them; denture_base fails (AUC 0.46) and is flagged, which is exactly the point. 673 tests pass; GitHub CI runs Python tests plus frontend lint, type-check, build and the i18n guard.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the language live during the demo. The check-i18n script in CI makes sure both dictionaries have the same keys and that no English text is written straight into a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how the database is connected: settings.py builds the URL — DIP_POSTGRES_URL if set, else sqlite:///data/platform/business.db; SQLAlchemy create_engine is cached, tables are created and additively migrated on first connect, and code uses business.session(). Market data lives as Parquet at data/lake/curated/&lt;table&gt;/market=&lt;name&gt;/data.parquet and DuckDB queries it with read_parquet, no server. Nothing category-specific is hard-coded: rules are in config/categories.yaml and every statistical setting in config/platform/metrics.yaml.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honesty as a feature: with one snapshot it refuses to claim growth; with weak evidence it grades the market D and widens the interval; implants is flagged because about 96% of that export is water flossers outside the category definition. Then the ask: monthly exports, reviews, supplier list, labelling time, and pilot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image" Target="../media/image-17-2.jp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pic>
        <p:nvPicPr>
          <p:cNvPr id="2" name="Image 0" descr="galaxy.jpg">    </p:cNvPr>
          <p:cNvPicPr>
            <a:picLocks noChangeAspect="1"/>
          </p:cNvPicPr>
          <p:nvPr/>
        </p:nvPicPr>
        <p:blipFill>
          <a:blip r:embed="rId1">
            <a:alphaModFix amt="65000"/>
          </a:blip>
          <a:srcRect l="0" r="0" t="0" b="0"/>
          <a:stretch/>
        </p:blipFill>
        <p:spPr>
          <a:xfrm>
            <a:off x="5852160" y="0"/>
            <a:ext cx="6336792" cy="6858000"/>
          </a:xfrm>
          <a:prstGeom prst="rect">
            <a:avLst/>
          </a:prstGeom>
        </p:spPr>
      </p:pic>
      <p:sp>
        <p:nvSpPr>
          <p:cNvPr id="3" name="Shape 0"/>
          <p:cNvSpPr/>
          <p:nvPr/>
        </p:nvSpPr>
        <p:spPr>
          <a:xfrm>
            <a:off x="0" y="0"/>
            <a:ext cx="6309360" cy="6858000"/>
          </a:xfrm>
          <a:prstGeom prst="rect">
            <a:avLst/>
          </a:prstGeom>
          <a:solidFill>
            <a:srgbClr val="0A1220"/>
          </a:solidFill>
          <a:ln w="12700">
            <a:solidFill>
              <a:srgbClr val="0A1220"/>
            </a:solidFill>
            <a:prstDash val="solid"/>
          </a:ln>
        </p:spPr>
      </p:sp>
      <p:sp>
        <p:nvSpPr>
          <p:cNvPr id="4" name="Text 1"/>
          <p:cNvSpPr txBox="1"/>
          <p:nvPr/>
        </p:nvSpPr>
        <p:spPr>
          <a:xfrm>
            <a:off x="548640" y="1828800"/>
            <a:ext cx="7315200" cy="274320"/>
          </a:xfrm>
          <a:prstGeom prst="rect">
            <a:avLst/>
          </a:prstGeom>
          <a:noFill/>
          <a:ln/>
        </p:spPr>
        <p:txBody>
          <a:bodyPr wrap="square" lIns="0" tIns="0" rIns="0" bIns="0" rtlCol="0" anchor="ctr"/>
          <a:lstStyle/>
          <a:p>
            <a:pPr indent="0" marL="0">
              <a:buNone/>
            </a:pPr>
            <a:r>
              <a:rPr lang="en-US" sz="1100" b="1" spc="300" kern="0" dirty="0">
                <a:solidFill>
                  <a:srgbClr val="38D6FF"/>
                </a:solidFill>
                <a:latin typeface="Calibri" pitchFamily="34" charset="0"/>
                <a:ea typeface="Calibri" pitchFamily="34" charset="-122"/>
                <a:cs typeface="Calibri" pitchFamily="34" charset="-120"/>
              </a:rPr>
              <a:t>AMAZON US · STATISTICAL MARKET INTELLIGENCE</a:t>
            </a:r>
            <a:endParaRPr lang="en-US" sz="1100" dirty="0"/>
          </a:p>
        </p:txBody>
      </p:sp>
      <p:sp>
        <p:nvSpPr>
          <p:cNvPr id="5" name="Text 2"/>
          <p:cNvSpPr txBox="1"/>
          <p:nvPr/>
        </p:nvSpPr>
        <p:spPr>
          <a:xfrm>
            <a:off x="548640" y="2194560"/>
            <a:ext cx="5486400" cy="1005840"/>
          </a:xfrm>
          <a:prstGeom prst="rect">
            <a:avLst/>
          </a:prstGeom>
          <a:noFill/>
          <a:ln/>
        </p:spPr>
        <p:txBody>
          <a:bodyPr wrap="square" lIns="0" tIns="0" rIns="0" bIns="0" rtlCol="0" anchor="ctr"/>
          <a:lstStyle/>
          <a:p>
            <a:pPr indent="0" marL="0">
              <a:buNone/>
            </a:pPr>
            <a:r>
              <a:rPr lang="en-US" sz="6600" b="1" dirty="0">
                <a:solidFill>
                  <a:srgbClr val="FFFFFF"/>
                </a:solidFill>
                <a:latin typeface="Cambria" pitchFamily="34" charset="0"/>
                <a:ea typeface="Cambria" pitchFamily="34" charset="-122"/>
                <a:cs typeface="Cambria" pitchFamily="34" charset="-120"/>
              </a:rPr>
              <a:t>DMIS</a:t>
            </a:r>
            <a:endParaRPr lang="en-US" sz="6600" dirty="0"/>
          </a:p>
        </p:txBody>
      </p:sp>
      <p:sp>
        <p:nvSpPr>
          <p:cNvPr id="6" name="Text 3"/>
          <p:cNvSpPr txBox="1"/>
          <p:nvPr/>
        </p:nvSpPr>
        <p:spPr>
          <a:xfrm>
            <a:off x="548640" y="3154680"/>
            <a:ext cx="5486400" cy="548640"/>
          </a:xfrm>
          <a:prstGeom prst="rect">
            <a:avLst/>
          </a:prstGeom>
          <a:noFill/>
          <a:ln/>
        </p:spPr>
        <p:txBody>
          <a:bodyPr wrap="square" lIns="0" tIns="0" rIns="0" bIns="0" rtlCol="0" anchor="ctr"/>
          <a:lstStyle/>
          <a:p>
            <a:pPr indent="0" marL="0">
              <a:buNone/>
            </a:pPr>
            <a:r>
              <a:rPr lang="en-US" sz="2600" dirty="0">
                <a:solidFill>
                  <a:srgbClr val="A9BAD3"/>
                </a:solidFill>
                <a:latin typeface="Cambria" pitchFamily="34" charset="0"/>
                <a:ea typeface="Cambria" pitchFamily="34" charset="-122"/>
                <a:cs typeface="Cambria" pitchFamily="34" charset="-120"/>
              </a:rPr>
              <a:t>Dental Market Intelligence OS</a:t>
            </a:r>
            <a:endParaRPr lang="en-US" sz="2600" dirty="0"/>
          </a:p>
        </p:txBody>
      </p:sp>
      <p:sp>
        <p:nvSpPr>
          <p:cNvPr id="7" name="Text 4"/>
          <p:cNvSpPr txBox="1"/>
          <p:nvPr/>
        </p:nvSpPr>
        <p:spPr>
          <a:xfrm>
            <a:off x="548640" y="3931920"/>
            <a:ext cx="5212080" cy="914400"/>
          </a:xfrm>
          <a:prstGeom prst="rect">
            <a:avLst/>
          </a:prstGeom>
          <a:noFill/>
          <a:ln/>
        </p:spPr>
        <p:txBody>
          <a:bodyPr wrap="square" lIns="0" tIns="0" rIns="0" bIns="0" rtlCol="0" anchor="ctr"/>
          <a:lstStyle/>
          <a:p>
            <a:pPr indent="0" marL="0">
              <a:buNone/>
            </a:pPr>
            <a:r>
              <a:rPr lang="en-US" sz="1500" dirty="0">
                <a:solidFill>
                  <a:srgbClr val="A9BAD3"/>
                </a:solidFill>
                <a:latin typeface="Calibri" pitchFamily="34" charset="0"/>
                <a:ea typeface="Calibri" pitchFamily="34" charset="-122"/>
                <a:cs typeface="Calibri" pitchFamily="34" charset="-120"/>
              </a:rPr>
              <a:t>From SellerSprite exports to what to sell: every number estimated with a 95% interval, validated against known truth, in English and 中文.</a:t>
            </a:r>
            <a:endParaRPr lang="en-US" sz="1500" dirty="0"/>
          </a:p>
        </p:txBody>
      </p:sp>
      <p:sp>
        <p:nvSpPr>
          <p:cNvPr id="8" name="Shape 5"/>
          <p:cNvSpPr/>
          <p:nvPr/>
        </p:nvSpPr>
        <p:spPr>
          <a:xfrm>
            <a:off x="548640" y="5212080"/>
            <a:ext cx="2331720" cy="310896"/>
          </a:xfrm>
          <a:prstGeom prst="roundRect">
            <a:avLst>
              <a:gd name="adj" fmla="val 50000"/>
            </a:avLst>
          </a:prstGeom>
          <a:solidFill>
            <a:srgbClr val="1F3150"/>
          </a:solidFill>
          <a:ln w="12700">
            <a:solidFill>
              <a:srgbClr val="1F3150"/>
            </a:solidFill>
            <a:prstDash val="solid"/>
          </a:ln>
        </p:spPr>
      </p:sp>
      <p:sp>
        <p:nvSpPr>
          <p:cNvPr id="9" name="Text 6"/>
          <p:cNvSpPr txBox="1"/>
          <p:nvPr/>
        </p:nvSpPr>
        <p:spPr>
          <a:xfrm>
            <a:off x="548640" y="5212080"/>
            <a:ext cx="2331720" cy="310896"/>
          </a:xfrm>
          <a:prstGeom prst="rect">
            <a:avLst/>
          </a:prstGeom>
          <a:noFill/>
          <a:ln/>
        </p:spPr>
        <p:txBody>
          <a:bodyPr wrap="square" lIns="0" tIns="0" rIns="0" bIns="0" rtlCol="0" anchor="ctr"/>
          <a:lstStyle/>
          <a:p>
            <a:pPr algn="ctr" indent="0" marL="0">
              <a:buNone/>
            </a:pPr>
            <a:r>
              <a:rPr lang="en-US" sz="1100" b="1" dirty="0">
                <a:solidFill>
                  <a:srgbClr val="38D6FF"/>
                </a:solidFill>
                <a:latin typeface="Calibri" pitchFamily="34" charset="0"/>
                <a:ea typeface="Calibri" pitchFamily="34" charset="-122"/>
                <a:cs typeface="Calibri" pitchFamily="34" charset="-120"/>
              </a:rPr>
              <a:t>Python · FastAPI · DuckDB</a:t>
            </a:r>
            <a:endParaRPr lang="en-US" sz="1100" dirty="0"/>
          </a:p>
        </p:txBody>
      </p:sp>
      <p:sp>
        <p:nvSpPr>
          <p:cNvPr id="10" name="Shape 7"/>
          <p:cNvSpPr/>
          <p:nvPr/>
        </p:nvSpPr>
        <p:spPr>
          <a:xfrm>
            <a:off x="3017520" y="5212080"/>
            <a:ext cx="2423160" cy="310896"/>
          </a:xfrm>
          <a:prstGeom prst="roundRect">
            <a:avLst>
              <a:gd name="adj" fmla="val 50000"/>
            </a:avLst>
          </a:prstGeom>
          <a:solidFill>
            <a:srgbClr val="1F3150"/>
          </a:solidFill>
          <a:ln w="12700">
            <a:solidFill>
              <a:srgbClr val="1F3150"/>
            </a:solidFill>
            <a:prstDash val="solid"/>
          </a:ln>
        </p:spPr>
      </p:sp>
      <p:sp>
        <p:nvSpPr>
          <p:cNvPr id="11" name="Text 8"/>
          <p:cNvSpPr txBox="1"/>
          <p:nvPr/>
        </p:nvSpPr>
        <p:spPr>
          <a:xfrm>
            <a:off x="3017520" y="5212080"/>
            <a:ext cx="2423160" cy="310896"/>
          </a:xfrm>
          <a:prstGeom prst="rect">
            <a:avLst/>
          </a:prstGeom>
          <a:noFill/>
          <a:ln/>
        </p:spPr>
        <p:txBody>
          <a:bodyPr wrap="square" lIns="0" tIns="0" rIns="0" bIns="0" rtlCol="0" anchor="ctr"/>
          <a:lstStyle/>
          <a:p>
            <a:pPr algn="ctr" indent="0" marL="0">
              <a:buNone/>
            </a:pPr>
            <a:r>
              <a:rPr lang="en-US" sz="1100" b="1" dirty="0">
                <a:solidFill>
                  <a:srgbClr val="38D6FF"/>
                </a:solidFill>
                <a:latin typeface="Calibri" pitchFamily="34" charset="0"/>
                <a:ea typeface="Calibri" pitchFamily="34" charset="-122"/>
                <a:cs typeface="Calibri" pitchFamily="34" charset="-120"/>
              </a:rPr>
              <a:t>Next.js · three.js · ECharts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6FA"/>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274320"/>
          </a:xfrm>
          <a:prstGeom prst="rect">
            <a:avLst/>
          </a:prstGeom>
          <a:noFill/>
          <a:ln/>
        </p:spPr>
        <p:txBody>
          <a:bodyPr wrap="square" lIns="0" tIns="0" rIns="0" bIns="0" rtlCol="0" anchor="ctr"/>
          <a:lstStyle/>
          <a:p>
            <a:pPr indent="0" marL="0">
              <a:buNone/>
            </a:pPr>
            <a:r>
              <a:rPr lang="en-US" sz="1100" b="1" spc="300" kern="0" dirty="0">
                <a:solidFill>
                  <a:srgbClr val="0B7FA3"/>
                </a:solidFill>
                <a:latin typeface="Calibri" pitchFamily="34" charset="0"/>
                <a:ea typeface="Calibri" pitchFamily="34" charset="-122"/>
                <a:cs typeface="Calibri" pitchFamily="34" charset="-120"/>
              </a:rPr>
              <a:t>THE PROBLEM</a:t>
            </a:r>
            <a:endParaRPr lang="en-US" sz="1100" dirty="0"/>
          </a:p>
        </p:txBody>
      </p:sp>
      <p:sp>
        <p:nvSpPr>
          <p:cNvPr id="3" name="Text 1"/>
          <p:cNvSpPr txBox="1"/>
          <p:nvPr/>
        </p:nvSpPr>
        <p:spPr>
          <a:xfrm>
            <a:off x="548640" y="685800"/>
            <a:ext cx="11064240" cy="685800"/>
          </a:xfrm>
          <a:prstGeom prst="rect">
            <a:avLst/>
          </a:prstGeom>
          <a:noFill/>
          <a:ln/>
        </p:spPr>
        <p:txBody>
          <a:bodyPr wrap="square" lIns="0" tIns="0" rIns="0" bIns="0" rtlCol="0" anchor="ctr"/>
          <a:lstStyle/>
          <a:p>
            <a:pPr indent="0" marL="0">
              <a:buNone/>
            </a:pPr>
            <a:r>
              <a:rPr lang="en-US" sz="3200" b="1" dirty="0">
                <a:solidFill>
                  <a:srgbClr val="0F1B2D"/>
                </a:solidFill>
                <a:latin typeface="Cambria" pitchFamily="34" charset="0"/>
                <a:ea typeface="Cambria" pitchFamily="34" charset="-122"/>
                <a:cs typeface="Cambria" pitchFamily="34" charset="-120"/>
              </a:rPr>
              <a:t>Amazon shows sales badges, not sales</a:t>
            </a:r>
            <a:endParaRPr lang="en-US" sz="3200" dirty="0"/>
          </a:p>
        </p:txBody>
      </p:sp>
      <p:sp>
        <p:nvSpPr>
          <p:cNvPr id="4" name="Text 2"/>
          <p:cNvSpPr txBox="1"/>
          <p:nvPr/>
        </p:nvSpPr>
        <p:spPr>
          <a:xfrm>
            <a:off x="548640" y="1463040"/>
            <a:ext cx="5669280" cy="868680"/>
          </a:xfrm>
          <a:prstGeom prst="rect">
            <a:avLst/>
          </a:prstGeom>
          <a:noFill/>
          <a:ln/>
        </p:spPr>
        <p:txBody>
          <a:bodyPr wrap="square" lIns="0" tIns="0" rIns="0" bIns="0" rtlCol="0" anchor="ctr"/>
          <a:lstStyle/>
          <a:p>
            <a:pPr indent="0" marL="0">
              <a:buNone/>
            </a:pPr>
            <a:r>
              <a:rPr lang="en-US" sz="1500" dirty="0">
                <a:solidFill>
                  <a:srgbClr val="33445C"/>
                </a:solidFill>
                <a:latin typeface="Calibri" pitchFamily="34" charset="0"/>
                <a:ea typeface="Calibri" pitchFamily="34" charset="-122"/>
                <a:cs typeface="Calibri" pitchFamily="34" charset="-120"/>
              </a:rPr>
              <a:t>A badge like “200+ bought in past month” is a range. A listing with no badge still sells — just fewer than 50. Adding the badges up reports only the certain floor.</a:t>
            </a:r>
            <a:endParaRPr lang="en-US" sz="1500" dirty="0"/>
          </a:p>
        </p:txBody>
      </p:sp>
      <p:sp>
        <p:nvSpPr>
          <p:cNvPr id="5" name="Shape 3"/>
          <p:cNvSpPr/>
          <p:nvPr/>
        </p:nvSpPr>
        <p:spPr>
          <a:xfrm>
            <a:off x="548640" y="2560320"/>
            <a:ext cx="1371600" cy="384048"/>
          </a:xfrm>
          <a:prstGeom prst="roundRect">
            <a:avLst>
              <a:gd name="adj" fmla="val 14286"/>
            </a:avLst>
          </a:prstGeom>
          <a:solidFill>
            <a:srgbClr val="E9EDF3"/>
          </a:solidFill>
          <a:ln w="12700">
            <a:solidFill>
              <a:srgbClr val="C9D2DE"/>
            </a:solidFill>
            <a:prstDash val="solid"/>
          </a:ln>
        </p:spPr>
      </p:sp>
      <p:sp>
        <p:nvSpPr>
          <p:cNvPr id="6" name="Text 4"/>
          <p:cNvSpPr txBox="1"/>
          <p:nvPr/>
        </p:nvSpPr>
        <p:spPr>
          <a:xfrm>
            <a:off x="548640" y="2560320"/>
            <a:ext cx="1371600" cy="384048"/>
          </a:xfrm>
          <a:prstGeom prst="rect">
            <a:avLst/>
          </a:prstGeom>
          <a:noFill/>
          <a:ln/>
        </p:spPr>
        <p:txBody>
          <a:bodyPr wrap="square" lIns="0" tIns="0" rIns="0" bIns="0" rtlCol="0" anchor="ctr"/>
          <a:lstStyle/>
          <a:p>
            <a:pPr algn="ctr" indent="0" marL="0">
              <a:buNone/>
            </a:pPr>
            <a:r>
              <a:rPr lang="en-US" sz="1300" b="1" dirty="0">
                <a:solidFill>
                  <a:srgbClr val="0F1B2D"/>
                </a:solidFill>
                <a:latin typeface="Calibri" pitchFamily="34" charset="0"/>
                <a:ea typeface="Calibri" pitchFamily="34" charset="-122"/>
                <a:cs typeface="Calibri" pitchFamily="34" charset="-120"/>
              </a:rPr>
              <a:t>no badge</a:t>
            </a:r>
            <a:endParaRPr lang="en-US" sz="1300" dirty="0"/>
          </a:p>
        </p:txBody>
      </p:sp>
      <p:sp>
        <p:nvSpPr>
          <p:cNvPr id="7" name="Text 5"/>
          <p:cNvSpPr txBox="1"/>
          <p:nvPr/>
        </p:nvSpPr>
        <p:spPr>
          <a:xfrm>
            <a:off x="2103120" y="2560320"/>
            <a:ext cx="3931920" cy="384048"/>
          </a:xfrm>
          <a:prstGeom prst="rect">
            <a:avLst/>
          </a:prstGeom>
          <a:noFill/>
          <a:ln/>
        </p:spPr>
        <p:txBody>
          <a:bodyPr wrap="square" lIns="0" tIns="0" rIns="0" bIns="0" rtlCol="0" anchor="ctr"/>
          <a:lstStyle/>
          <a:p>
            <a:pPr indent="0" marL="0">
              <a:buNone/>
            </a:pPr>
            <a:r>
              <a:rPr lang="en-US" sz="1300" dirty="0">
                <a:solidFill>
                  <a:srgbClr val="33445C"/>
                </a:solidFill>
                <a:latin typeface="Calibri" pitchFamily="34" charset="0"/>
                <a:ea typeface="Calibri" pitchFamily="34" charset="-122"/>
                <a:cs typeface="Calibri" pitchFamily="34" charset="-120"/>
              </a:rPr>
              <a:t>true sales somewhere in 0 – 49</a:t>
            </a:r>
            <a:endParaRPr lang="en-US" sz="1300" dirty="0"/>
          </a:p>
        </p:txBody>
      </p:sp>
      <p:sp>
        <p:nvSpPr>
          <p:cNvPr id="8" name="Shape 6"/>
          <p:cNvSpPr/>
          <p:nvPr/>
        </p:nvSpPr>
        <p:spPr>
          <a:xfrm>
            <a:off x="548640" y="3035808"/>
            <a:ext cx="1371600" cy="384048"/>
          </a:xfrm>
          <a:prstGeom prst="roundRect">
            <a:avLst>
              <a:gd name="adj" fmla="val 14286"/>
            </a:avLst>
          </a:prstGeom>
          <a:solidFill>
            <a:srgbClr val="D9F3FB"/>
          </a:solidFill>
          <a:ln w="12700">
            <a:solidFill>
              <a:srgbClr val="8FDCF2"/>
            </a:solidFill>
            <a:prstDash val="solid"/>
          </a:ln>
        </p:spPr>
      </p:sp>
      <p:sp>
        <p:nvSpPr>
          <p:cNvPr id="9" name="Text 7"/>
          <p:cNvSpPr txBox="1"/>
          <p:nvPr/>
        </p:nvSpPr>
        <p:spPr>
          <a:xfrm>
            <a:off x="548640" y="3035808"/>
            <a:ext cx="1371600" cy="384048"/>
          </a:xfrm>
          <a:prstGeom prst="rect">
            <a:avLst/>
          </a:prstGeom>
          <a:noFill/>
          <a:ln/>
        </p:spPr>
        <p:txBody>
          <a:bodyPr wrap="square" lIns="0" tIns="0" rIns="0" bIns="0" rtlCol="0" anchor="ctr"/>
          <a:lstStyle/>
          <a:p>
            <a:pPr algn="ctr" indent="0" marL="0">
              <a:buNone/>
            </a:pPr>
            <a:r>
              <a:rPr lang="en-US" sz="1300" b="1" dirty="0">
                <a:solidFill>
                  <a:srgbClr val="0F1B2D"/>
                </a:solidFill>
                <a:latin typeface="Calibri" pitchFamily="34" charset="0"/>
                <a:ea typeface="Calibri" pitchFamily="34" charset="-122"/>
                <a:cs typeface="Calibri" pitchFamily="34" charset="-120"/>
              </a:rPr>
              <a:t>50+</a:t>
            </a:r>
            <a:endParaRPr lang="en-US" sz="1300" dirty="0"/>
          </a:p>
        </p:txBody>
      </p:sp>
      <p:sp>
        <p:nvSpPr>
          <p:cNvPr id="10" name="Text 8"/>
          <p:cNvSpPr txBox="1"/>
          <p:nvPr/>
        </p:nvSpPr>
        <p:spPr>
          <a:xfrm>
            <a:off x="2103120" y="3035808"/>
            <a:ext cx="3931920" cy="384048"/>
          </a:xfrm>
          <a:prstGeom prst="rect">
            <a:avLst/>
          </a:prstGeom>
          <a:noFill/>
          <a:ln/>
        </p:spPr>
        <p:txBody>
          <a:bodyPr wrap="square" lIns="0" tIns="0" rIns="0" bIns="0" rtlCol="0" anchor="ctr"/>
          <a:lstStyle/>
          <a:p>
            <a:pPr indent="0" marL="0">
              <a:buNone/>
            </a:pPr>
            <a:r>
              <a:rPr lang="en-US" sz="1300" dirty="0">
                <a:solidFill>
                  <a:srgbClr val="33445C"/>
                </a:solidFill>
                <a:latin typeface="Calibri" pitchFamily="34" charset="0"/>
                <a:ea typeface="Calibri" pitchFamily="34" charset="-122"/>
                <a:cs typeface="Calibri" pitchFamily="34" charset="-120"/>
              </a:rPr>
              <a:t>true sales somewhere in 50 – 99</a:t>
            </a:r>
            <a:endParaRPr lang="en-US" sz="1300" dirty="0"/>
          </a:p>
        </p:txBody>
      </p:sp>
      <p:sp>
        <p:nvSpPr>
          <p:cNvPr id="11" name="Shape 9"/>
          <p:cNvSpPr/>
          <p:nvPr/>
        </p:nvSpPr>
        <p:spPr>
          <a:xfrm>
            <a:off x="548640" y="3511296"/>
            <a:ext cx="1371600" cy="384048"/>
          </a:xfrm>
          <a:prstGeom prst="roundRect">
            <a:avLst>
              <a:gd name="adj" fmla="val 14286"/>
            </a:avLst>
          </a:prstGeom>
          <a:solidFill>
            <a:srgbClr val="D9F3FB"/>
          </a:solidFill>
          <a:ln w="12700">
            <a:solidFill>
              <a:srgbClr val="8FDCF2"/>
            </a:solidFill>
            <a:prstDash val="solid"/>
          </a:ln>
        </p:spPr>
      </p:sp>
      <p:sp>
        <p:nvSpPr>
          <p:cNvPr id="12" name="Text 10"/>
          <p:cNvSpPr txBox="1"/>
          <p:nvPr/>
        </p:nvSpPr>
        <p:spPr>
          <a:xfrm>
            <a:off x="548640" y="3511296"/>
            <a:ext cx="1371600" cy="384048"/>
          </a:xfrm>
          <a:prstGeom prst="rect">
            <a:avLst/>
          </a:prstGeom>
          <a:noFill/>
          <a:ln/>
        </p:spPr>
        <p:txBody>
          <a:bodyPr wrap="square" lIns="0" tIns="0" rIns="0" bIns="0" rtlCol="0" anchor="ctr"/>
          <a:lstStyle/>
          <a:p>
            <a:pPr algn="ctr" indent="0" marL="0">
              <a:buNone/>
            </a:pPr>
            <a:r>
              <a:rPr lang="en-US" sz="1300" b="1" dirty="0">
                <a:solidFill>
                  <a:srgbClr val="0F1B2D"/>
                </a:solidFill>
                <a:latin typeface="Calibri" pitchFamily="34" charset="0"/>
                <a:ea typeface="Calibri" pitchFamily="34" charset="-122"/>
                <a:cs typeface="Calibri" pitchFamily="34" charset="-120"/>
              </a:rPr>
              <a:t>100+</a:t>
            </a:r>
            <a:endParaRPr lang="en-US" sz="1300" dirty="0"/>
          </a:p>
        </p:txBody>
      </p:sp>
      <p:sp>
        <p:nvSpPr>
          <p:cNvPr id="13" name="Text 11"/>
          <p:cNvSpPr txBox="1"/>
          <p:nvPr/>
        </p:nvSpPr>
        <p:spPr>
          <a:xfrm>
            <a:off x="2103120" y="3511296"/>
            <a:ext cx="3931920" cy="384048"/>
          </a:xfrm>
          <a:prstGeom prst="rect">
            <a:avLst/>
          </a:prstGeom>
          <a:noFill/>
          <a:ln/>
        </p:spPr>
        <p:txBody>
          <a:bodyPr wrap="square" lIns="0" tIns="0" rIns="0" bIns="0" rtlCol="0" anchor="ctr"/>
          <a:lstStyle/>
          <a:p>
            <a:pPr indent="0" marL="0">
              <a:buNone/>
            </a:pPr>
            <a:r>
              <a:rPr lang="en-US" sz="1300" dirty="0">
                <a:solidFill>
                  <a:srgbClr val="33445C"/>
                </a:solidFill>
                <a:latin typeface="Calibri" pitchFamily="34" charset="0"/>
                <a:ea typeface="Calibri" pitchFamily="34" charset="-122"/>
                <a:cs typeface="Calibri" pitchFamily="34" charset="-120"/>
              </a:rPr>
              <a:t>true sales somewhere in 100 – 199</a:t>
            </a:r>
            <a:endParaRPr lang="en-US" sz="1300" dirty="0"/>
          </a:p>
        </p:txBody>
      </p:sp>
      <p:sp>
        <p:nvSpPr>
          <p:cNvPr id="14" name="Shape 12"/>
          <p:cNvSpPr/>
          <p:nvPr/>
        </p:nvSpPr>
        <p:spPr>
          <a:xfrm>
            <a:off x="548640" y="3986784"/>
            <a:ext cx="1371600" cy="384048"/>
          </a:xfrm>
          <a:prstGeom prst="roundRect">
            <a:avLst>
              <a:gd name="adj" fmla="val 14286"/>
            </a:avLst>
          </a:prstGeom>
          <a:solidFill>
            <a:srgbClr val="D9F3FB"/>
          </a:solidFill>
          <a:ln w="12700">
            <a:solidFill>
              <a:srgbClr val="8FDCF2"/>
            </a:solidFill>
            <a:prstDash val="solid"/>
          </a:ln>
        </p:spPr>
      </p:sp>
      <p:sp>
        <p:nvSpPr>
          <p:cNvPr id="15" name="Text 13"/>
          <p:cNvSpPr txBox="1"/>
          <p:nvPr/>
        </p:nvSpPr>
        <p:spPr>
          <a:xfrm>
            <a:off x="548640" y="3986784"/>
            <a:ext cx="1371600" cy="384048"/>
          </a:xfrm>
          <a:prstGeom prst="rect">
            <a:avLst/>
          </a:prstGeom>
          <a:noFill/>
          <a:ln/>
        </p:spPr>
        <p:txBody>
          <a:bodyPr wrap="square" lIns="0" tIns="0" rIns="0" bIns="0" rtlCol="0" anchor="ctr"/>
          <a:lstStyle/>
          <a:p>
            <a:pPr algn="ctr" indent="0" marL="0">
              <a:buNone/>
            </a:pPr>
            <a:r>
              <a:rPr lang="en-US" sz="1300" b="1" dirty="0">
                <a:solidFill>
                  <a:srgbClr val="0F1B2D"/>
                </a:solidFill>
                <a:latin typeface="Calibri" pitchFamily="34" charset="0"/>
                <a:ea typeface="Calibri" pitchFamily="34" charset="-122"/>
                <a:cs typeface="Calibri" pitchFamily="34" charset="-120"/>
              </a:rPr>
              <a:t>200+</a:t>
            </a:r>
            <a:endParaRPr lang="en-US" sz="1300" dirty="0"/>
          </a:p>
        </p:txBody>
      </p:sp>
      <p:sp>
        <p:nvSpPr>
          <p:cNvPr id="16" name="Text 14"/>
          <p:cNvSpPr txBox="1"/>
          <p:nvPr/>
        </p:nvSpPr>
        <p:spPr>
          <a:xfrm>
            <a:off x="2103120" y="3986784"/>
            <a:ext cx="3931920" cy="384048"/>
          </a:xfrm>
          <a:prstGeom prst="rect">
            <a:avLst/>
          </a:prstGeom>
          <a:noFill/>
          <a:ln/>
        </p:spPr>
        <p:txBody>
          <a:bodyPr wrap="square" lIns="0" tIns="0" rIns="0" bIns="0" rtlCol="0" anchor="ctr"/>
          <a:lstStyle/>
          <a:p>
            <a:pPr indent="0" marL="0">
              <a:buNone/>
            </a:pPr>
            <a:r>
              <a:rPr lang="en-US" sz="1300" dirty="0">
                <a:solidFill>
                  <a:srgbClr val="33445C"/>
                </a:solidFill>
                <a:latin typeface="Calibri" pitchFamily="34" charset="0"/>
                <a:ea typeface="Calibri" pitchFamily="34" charset="-122"/>
                <a:cs typeface="Calibri" pitchFamily="34" charset="-120"/>
              </a:rPr>
              <a:t>true sales somewhere in 200 – 299</a:t>
            </a:r>
            <a:endParaRPr lang="en-US" sz="1300" dirty="0"/>
          </a:p>
        </p:txBody>
      </p:sp>
      <p:sp>
        <p:nvSpPr>
          <p:cNvPr id="17" name="Shape 15"/>
          <p:cNvSpPr/>
          <p:nvPr/>
        </p:nvSpPr>
        <p:spPr>
          <a:xfrm>
            <a:off x="548640" y="4462272"/>
            <a:ext cx="1371600" cy="384048"/>
          </a:xfrm>
          <a:prstGeom prst="roundRect">
            <a:avLst>
              <a:gd name="adj" fmla="val 14286"/>
            </a:avLst>
          </a:prstGeom>
          <a:solidFill>
            <a:srgbClr val="D9F3FB"/>
          </a:solidFill>
          <a:ln w="12700">
            <a:solidFill>
              <a:srgbClr val="8FDCF2"/>
            </a:solidFill>
            <a:prstDash val="solid"/>
          </a:ln>
        </p:spPr>
      </p:sp>
      <p:sp>
        <p:nvSpPr>
          <p:cNvPr id="18" name="Text 16"/>
          <p:cNvSpPr txBox="1"/>
          <p:nvPr/>
        </p:nvSpPr>
        <p:spPr>
          <a:xfrm>
            <a:off x="548640" y="4462272"/>
            <a:ext cx="1371600" cy="384048"/>
          </a:xfrm>
          <a:prstGeom prst="rect">
            <a:avLst/>
          </a:prstGeom>
          <a:noFill/>
          <a:ln/>
        </p:spPr>
        <p:txBody>
          <a:bodyPr wrap="square" lIns="0" tIns="0" rIns="0" bIns="0" rtlCol="0" anchor="ctr"/>
          <a:lstStyle/>
          <a:p>
            <a:pPr algn="ctr" indent="0" marL="0">
              <a:buNone/>
            </a:pPr>
            <a:r>
              <a:rPr lang="en-US" sz="1300" b="1" dirty="0">
                <a:solidFill>
                  <a:srgbClr val="0F1B2D"/>
                </a:solidFill>
                <a:latin typeface="Calibri" pitchFamily="34" charset="0"/>
                <a:ea typeface="Calibri" pitchFamily="34" charset="-122"/>
                <a:cs typeface="Calibri" pitchFamily="34" charset="-120"/>
              </a:rPr>
              <a:t>300+</a:t>
            </a:r>
            <a:endParaRPr lang="en-US" sz="1300" dirty="0"/>
          </a:p>
        </p:txBody>
      </p:sp>
      <p:sp>
        <p:nvSpPr>
          <p:cNvPr id="19" name="Text 17"/>
          <p:cNvSpPr txBox="1"/>
          <p:nvPr/>
        </p:nvSpPr>
        <p:spPr>
          <a:xfrm>
            <a:off x="2103120" y="4462272"/>
            <a:ext cx="3931920" cy="384048"/>
          </a:xfrm>
          <a:prstGeom prst="rect">
            <a:avLst/>
          </a:prstGeom>
          <a:noFill/>
          <a:ln/>
        </p:spPr>
        <p:txBody>
          <a:bodyPr wrap="square" lIns="0" tIns="0" rIns="0" bIns="0" rtlCol="0" anchor="ctr"/>
          <a:lstStyle/>
          <a:p>
            <a:pPr indent="0" marL="0">
              <a:buNone/>
            </a:pPr>
            <a:r>
              <a:rPr lang="en-US" sz="1300" dirty="0">
                <a:solidFill>
                  <a:srgbClr val="33445C"/>
                </a:solidFill>
                <a:latin typeface="Calibri" pitchFamily="34" charset="0"/>
                <a:ea typeface="Calibri" pitchFamily="34" charset="-122"/>
                <a:cs typeface="Calibri" pitchFamily="34" charset="-120"/>
              </a:rPr>
              <a:t>true sales somewhere in 300 – 399</a:t>
            </a:r>
            <a:endParaRPr lang="en-US" sz="1300" dirty="0"/>
          </a:p>
        </p:txBody>
      </p:sp>
      <p:sp>
        <p:nvSpPr>
          <p:cNvPr id="20" name="Shape 18"/>
          <p:cNvSpPr/>
          <p:nvPr/>
        </p:nvSpPr>
        <p:spPr>
          <a:xfrm>
            <a:off x="548640" y="4937760"/>
            <a:ext cx="1371600" cy="384048"/>
          </a:xfrm>
          <a:prstGeom prst="roundRect">
            <a:avLst>
              <a:gd name="adj" fmla="val 14286"/>
            </a:avLst>
          </a:prstGeom>
          <a:solidFill>
            <a:srgbClr val="D9F3FB"/>
          </a:solidFill>
          <a:ln w="12700">
            <a:solidFill>
              <a:srgbClr val="8FDCF2"/>
            </a:solidFill>
            <a:prstDash val="solid"/>
          </a:ln>
        </p:spPr>
      </p:sp>
      <p:sp>
        <p:nvSpPr>
          <p:cNvPr id="21" name="Text 19"/>
          <p:cNvSpPr txBox="1"/>
          <p:nvPr/>
        </p:nvSpPr>
        <p:spPr>
          <a:xfrm>
            <a:off x="548640" y="4937760"/>
            <a:ext cx="1371600" cy="384048"/>
          </a:xfrm>
          <a:prstGeom prst="rect">
            <a:avLst/>
          </a:prstGeom>
          <a:noFill/>
          <a:ln/>
        </p:spPr>
        <p:txBody>
          <a:bodyPr wrap="square" lIns="0" tIns="0" rIns="0" bIns="0" rtlCol="0" anchor="ctr"/>
          <a:lstStyle/>
          <a:p>
            <a:pPr algn="ctr" indent="0" marL="0">
              <a:buNone/>
            </a:pPr>
            <a:r>
              <a:rPr lang="en-US" sz="1300" b="1" dirty="0">
                <a:solidFill>
                  <a:srgbClr val="0F1B2D"/>
                </a:solidFill>
                <a:latin typeface="Calibri" pitchFamily="34" charset="0"/>
                <a:ea typeface="Calibri" pitchFamily="34" charset="-122"/>
                <a:cs typeface="Calibri" pitchFamily="34" charset="-120"/>
              </a:rPr>
              <a:t>…</a:t>
            </a:r>
            <a:endParaRPr lang="en-US" sz="1300" dirty="0"/>
          </a:p>
        </p:txBody>
      </p:sp>
      <p:sp>
        <p:nvSpPr>
          <p:cNvPr id="22" name="Text 20"/>
          <p:cNvSpPr txBox="1"/>
          <p:nvPr/>
        </p:nvSpPr>
        <p:spPr>
          <a:xfrm>
            <a:off x="2103120" y="4937760"/>
            <a:ext cx="3931920" cy="384048"/>
          </a:xfrm>
          <a:prstGeom prst="rect">
            <a:avLst/>
          </a:prstGeom>
          <a:noFill/>
          <a:ln/>
        </p:spPr>
        <p:txBody>
          <a:bodyPr wrap="square" lIns="0" tIns="0" rIns="0" bIns="0" rtlCol="0" anchor="ctr"/>
          <a:lstStyle/>
          <a:p>
            <a:pPr indent="0" marL="0">
              <a:buNone/>
            </a:pPr>
            <a:r>
              <a:rPr lang="en-US" sz="1300" dirty="0">
                <a:solidFill>
                  <a:srgbClr val="33445C"/>
                </a:solidFill>
                <a:latin typeface="Calibri" pitchFamily="34" charset="0"/>
                <a:ea typeface="Calibri" pitchFamily="34" charset="-122"/>
                <a:cs typeface="Calibri" pitchFamily="34" charset="-120"/>
              </a:rPr>
              <a:t>true sales somewhere in …</a:t>
            </a:r>
            <a:endParaRPr lang="en-US" sz="1300" dirty="0"/>
          </a:p>
        </p:txBody>
      </p:sp>
      <p:sp>
        <p:nvSpPr>
          <p:cNvPr id="23" name="Shape 21"/>
          <p:cNvSpPr/>
          <p:nvPr/>
        </p:nvSpPr>
        <p:spPr>
          <a:xfrm>
            <a:off x="548640" y="5413248"/>
            <a:ext cx="1371600" cy="384048"/>
          </a:xfrm>
          <a:prstGeom prst="roundRect">
            <a:avLst>
              <a:gd name="adj" fmla="val 14286"/>
            </a:avLst>
          </a:prstGeom>
          <a:solidFill>
            <a:srgbClr val="D9F3FB"/>
          </a:solidFill>
          <a:ln w="12700">
            <a:solidFill>
              <a:srgbClr val="8FDCF2"/>
            </a:solidFill>
            <a:prstDash val="solid"/>
          </a:ln>
        </p:spPr>
      </p:sp>
      <p:sp>
        <p:nvSpPr>
          <p:cNvPr id="24" name="Text 22"/>
          <p:cNvSpPr txBox="1"/>
          <p:nvPr/>
        </p:nvSpPr>
        <p:spPr>
          <a:xfrm>
            <a:off x="548640" y="5413248"/>
            <a:ext cx="1371600" cy="384048"/>
          </a:xfrm>
          <a:prstGeom prst="rect">
            <a:avLst/>
          </a:prstGeom>
          <a:noFill/>
          <a:ln/>
        </p:spPr>
        <p:txBody>
          <a:bodyPr wrap="square" lIns="0" tIns="0" rIns="0" bIns="0" rtlCol="0" anchor="ctr"/>
          <a:lstStyle/>
          <a:p>
            <a:pPr algn="ctr" indent="0" marL="0">
              <a:buNone/>
            </a:pPr>
            <a:r>
              <a:rPr lang="en-US" sz="1300" b="1" dirty="0">
                <a:solidFill>
                  <a:srgbClr val="0F1B2D"/>
                </a:solidFill>
                <a:latin typeface="Calibri" pitchFamily="34" charset="0"/>
                <a:ea typeface="Calibri" pitchFamily="34" charset="-122"/>
                <a:cs typeface="Calibri" pitchFamily="34" charset="-120"/>
              </a:rPr>
              <a:t>1K+</a:t>
            </a:r>
            <a:endParaRPr lang="en-US" sz="1300" dirty="0"/>
          </a:p>
        </p:txBody>
      </p:sp>
      <p:sp>
        <p:nvSpPr>
          <p:cNvPr id="25" name="Text 23"/>
          <p:cNvSpPr txBox="1"/>
          <p:nvPr/>
        </p:nvSpPr>
        <p:spPr>
          <a:xfrm>
            <a:off x="2103120" y="5413248"/>
            <a:ext cx="3931920" cy="384048"/>
          </a:xfrm>
          <a:prstGeom prst="rect">
            <a:avLst/>
          </a:prstGeom>
          <a:noFill/>
          <a:ln/>
        </p:spPr>
        <p:txBody>
          <a:bodyPr wrap="square" lIns="0" tIns="0" rIns="0" bIns="0" rtlCol="0" anchor="ctr"/>
          <a:lstStyle/>
          <a:p>
            <a:pPr indent="0" marL="0">
              <a:buNone/>
            </a:pPr>
            <a:r>
              <a:rPr lang="en-US" sz="1300" dirty="0">
                <a:solidFill>
                  <a:srgbClr val="33445C"/>
                </a:solidFill>
                <a:latin typeface="Calibri" pitchFamily="34" charset="0"/>
                <a:ea typeface="Calibri" pitchFamily="34" charset="-122"/>
                <a:cs typeface="Calibri" pitchFamily="34" charset="-120"/>
              </a:rPr>
              <a:t>true sales somewhere in 1,000 – 1,999</a:t>
            </a:r>
            <a:endParaRPr lang="en-US" sz="1300" dirty="0"/>
          </a:p>
        </p:txBody>
      </p:sp>
      <p:graphicFrame>
        <p:nvGraphicFramePr>
          <p:cNvPr id="26" name="Chart 0" descr=""/>
          <p:cNvGraphicFramePr/>
          <p:nvPr/>
        </p:nvGraphicFramePr>
        <p:xfrm>
          <a:off x="6492240" y="1463040"/>
          <a:ext cx="5212080" cy="3291840"/>
        </p:xfrm>
        <a:graphic xmlns:a="http://schemas.openxmlformats.org/drawingml/2006/main">
          <a:graphicData uri="http://schemas.openxmlformats.org/drawingml/2006/chart">
            <c:chart xmlns:c="http://schemas.openxmlformats.org/drawingml/2006/chart" r:id="rId1"/>
          </a:graphicData>
        </a:graphic>
      </p:graphicFrame>
      <p:sp>
        <p:nvSpPr>
          <p:cNvPr id="27" name="Text 24"/>
          <p:cNvSpPr txBox="1"/>
          <p:nvPr/>
        </p:nvSpPr>
        <p:spPr>
          <a:xfrm>
            <a:off x="6492240" y="4983480"/>
            <a:ext cx="5212080" cy="1097280"/>
          </a:xfrm>
          <a:prstGeom prst="rect">
            <a:avLst/>
          </a:prstGeom>
          <a:noFill/>
          <a:ln/>
        </p:spPr>
        <p:txBody>
          <a:bodyPr wrap="square" lIns="0" tIns="0" rIns="0" bIns="0" rtlCol="0" anchor="ctr"/>
          <a:lstStyle/>
          <a:p>
            <a:pPr indent="0" marL="0">
              <a:buNone/>
            </a:pPr>
            <a:r>
              <a:rPr lang="en-US" sz="1400" b="1" dirty="0">
                <a:solidFill>
                  <a:srgbClr val="0F1B2D"/>
                </a:solidFill>
                <a:latin typeface="Calibri" pitchFamily="34" charset="0"/>
                <a:ea typeface="Calibri" pitchFamily="34" charset="-122"/>
                <a:cs typeface="Calibri" pitchFamily="34" charset="-120"/>
              </a:rPr>
              <a:t>Our fix: </a:t>
            </a:r>
            <a:pPr indent="0" marL="0">
              <a:buNone/>
            </a:pPr>
            <a:r>
              <a:rPr lang="en-US" sz="1400" dirty="0">
                <a:solidFill>
                  <a:srgbClr val="33445C"/>
                </a:solidFill>
                <a:latin typeface="Calibri" pitchFamily="34" charset="0"/>
                <a:ea typeface="Calibri" pitchFamily="34" charset="-122"/>
                <a:cs typeface="Calibri" pitchFamily="34" charset="-120"/>
              </a:rPr>
              <a:t>treat every badge as an interval, fit one demand model to all listings, and estimate the real total with a 95% interval — validated on markets where the true answer is known.</a:t>
            </a:r>
            <a:endParaRPr lang="en-US" sz="1400" dirty="0"/>
          </a:p>
        </p:txBody>
      </p:sp>
      <p:sp>
        <p:nvSpPr>
          <p:cNvPr id="28" name="Text 25"/>
          <p:cNvSpPr txBox="1"/>
          <p:nvPr/>
        </p:nvSpPr>
        <p:spPr>
          <a:xfrm>
            <a:off x="10332720" y="6446520"/>
            <a:ext cx="1371600" cy="228600"/>
          </a:xfrm>
          <a:prstGeom prst="rect">
            <a:avLst/>
          </a:prstGeom>
          <a:noFill/>
          <a:ln/>
        </p:spPr>
        <p:txBody>
          <a:bodyPr wrap="square" lIns="0" tIns="0" rIns="0" bIns="0" rtlCol="0" anchor="ctr"/>
          <a:lstStyle/>
          <a:p>
            <a:pPr algn="r" indent="0" marL="0">
              <a:buNone/>
            </a:pPr>
            <a:r>
              <a:rPr lang="en-US" sz="900" dirty="0">
                <a:solidFill>
                  <a:srgbClr val="8A98AD"/>
                </a:solidFill>
                <a:latin typeface="Calibri" pitchFamily="34" charset="0"/>
                <a:ea typeface="Calibri" pitchFamily="34" charset="-122"/>
                <a:cs typeface="Calibri" pitchFamily="34" charset="-120"/>
              </a:rPr>
              <a:t>DMIS ·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274320"/>
          </a:xfrm>
          <a:prstGeom prst="rect">
            <a:avLst/>
          </a:prstGeom>
          <a:noFill/>
          <a:ln/>
        </p:spPr>
        <p:txBody>
          <a:bodyPr wrap="square" lIns="0" tIns="0" rIns="0" bIns="0" rtlCol="0" anchor="ctr"/>
          <a:lstStyle/>
          <a:p>
            <a:pPr indent="0" marL="0">
              <a:buNone/>
            </a:pPr>
            <a:r>
              <a:rPr lang="en-US" sz="1100" b="1" spc="300" kern="0" dirty="0">
                <a:solidFill>
                  <a:srgbClr val="38D6FF"/>
                </a:solidFill>
                <a:latin typeface="Calibri" pitchFamily="34" charset="0"/>
                <a:ea typeface="Calibri" pitchFamily="34" charset="-122"/>
                <a:cs typeface="Calibri" pitchFamily="34" charset="-120"/>
              </a:rPr>
              <a:t>WHAT DMIS ANSWERS</a:t>
            </a:r>
            <a:endParaRPr lang="en-US" sz="1100" dirty="0"/>
          </a:p>
        </p:txBody>
      </p:sp>
      <p:sp>
        <p:nvSpPr>
          <p:cNvPr id="3" name="Text 1"/>
          <p:cNvSpPr txBox="1"/>
          <p:nvPr/>
        </p:nvSpPr>
        <p:spPr>
          <a:xfrm>
            <a:off x="548640" y="685800"/>
            <a:ext cx="11064240" cy="685800"/>
          </a:xfrm>
          <a:prstGeom prst="rect">
            <a:avLst/>
          </a:prstGeom>
          <a:noFill/>
          <a:ln/>
        </p:spPr>
        <p:txBody>
          <a:bodyPr wrap="square" lIns="0" tIns="0" rIns="0" bIns="0" rtlCol="0" anchor="ctr"/>
          <a:lstStyle/>
          <a:p>
            <a:pPr indent="0" marL="0">
              <a:buNone/>
            </a:pPr>
            <a:r>
              <a:rPr lang="en-US" sz="3200" b="1" dirty="0">
                <a:solidFill>
                  <a:srgbClr val="E6EEFB"/>
                </a:solidFill>
                <a:latin typeface="Cambria" pitchFamily="34" charset="0"/>
                <a:ea typeface="Cambria" pitchFamily="34" charset="-122"/>
                <a:cs typeface="Cambria" pitchFamily="34" charset="-120"/>
              </a:rPr>
              <a:t>Six questions DMIS answers</a:t>
            </a:r>
            <a:endParaRPr lang="en-US" sz="3200" dirty="0"/>
          </a:p>
        </p:txBody>
      </p:sp>
      <p:sp>
        <p:nvSpPr>
          <p:cNvPr id="4" name="Shape 2"/>
          <p:cNvSpPr/>
          <p:nvPr/>
        </p:nvSpPr>
        <p:spPr>
          <a:xfrm>
            <a:off x="548640" y="1737360"/>
            <a:ext cx="3520440" cy="2057400"/>
          </a:xfrm>
          <a:prstGeom prst="roundRect">
            <a:avLst>
              <a:gd name="adj" fmla="val 4444"/>
            </a:avLst>
          </a:prstGeom>
          <a:solidFill>
            <a:srgbClr val="111C2E"/>
          </a:solidFill>
          <a:ln w="12700">
            <a:solidFill>
              <a:srgbClr val="1F3150"/>
            </a:solidFill>
            <a:prstDash val="solid"/>
          </a:ln>
        </p:spPr>
      </p:sp>
      <p:sp>
        <p:nvSpPr>
          <p:cNvPr id="5" name="Shape 3"/>
          <p:cNvSpPr/>
          <p:nvPr/>
        </p:nvSpPr>
        <p:spPr>
          <a:xfrm>
            <a:off x="822960" y="2011680"/>
            <a:ext cx="457200" cy="457200"/>
          </a:xfrm>
          <a:prstGeom prst="ellipse">
            <a:avLst/>
          </a:prstGeom>
          <a:solidFill>
            <a:srgbClr val="38D6FF"/>
          </a:solidFill>
          <a:ln w="12700">
            <a:solidFill>
              <a:srgbClr val="38D6FF"/>
            </a:solidFill>
            <a:prstDash val="solid"/>
          </a:ln>
        </p:spPr>
      </p:sp>
      <p:sp>
        <p:nvSpPr>
          <p:cNvPr id="6" name="Text 4"/>
          <p:cNvSpPr txBox="1"/>
          <p:nvPr/>
        </p:nvSpPr>
        <p:spPr>
          <a:xfrm>
            <a:off x="822960" y="2011680"/>
            <a:ext cx="457200" cy="457200"/>
          </a:xfrm>
          <a:prstGeom prst="rect">
            <a:avLst/>
          </a:prstGeom>
          <a:noFill/>
          <a:ln/>
        </p:spPr>
        <p:txBody>
          <a:bodyPr wrap="square" lIns="0" tIns="0" rIns="0" bIns="0" rtlCol="0" anchor="ctr"/>
          <a:lstStyle/>
          <a:p>
            <a:pPr algn="ctr" indent="0" marL="0">
              <a:buNone/>
            </a:pPr>
            <a:r>
              <a:rPr lang="en-US" sz="1600" b="1" dirty="0">
                <a:solidFill>
                  <a:srgbClr val="0A1220"/>
                </a:solidFill>
                <a:latin typeface="Cambria" pitchFamily="34" charset="0"/>
                <a:ea typeface="Cambria" pitchFamily="34" charset="-122"/>
                <a:cs typeface="Cambria" pitchFamily="34" charset="-120"/>
              </a:rPr>
              <a:t>1</a:t>
            </a:r>
            <a:endParaRPr lang="en-US" sz="1600" dirty="0"/>
          </a:p>
        </p:txBody>
      </p:sp>
      <p:sp>
        <p:nvSpPr>
          <p:cNvPr id="7" name="Text 5"/>
          <p:cNvSpPr txBox="1"/>
          <p:nvPr/>
        </p:nvSpPr>
        <p:spPr>
          <a:xfrm>
            <a:off x="822960" y="2560320"/>
            <a:ext cx="3017520" cy="365760"/>
          </a:xfrm>
          <a:prstGeom prst="rect">
            <a:avLst/>
          </a:prstGeom>
          <a:noFill/>
          <a:ln/>
        </p:spPr>
        <p:txBody>
          <a:bodyPr wrap="square" lIns="0" tIns="0" rIns="0" bIns="0" rtlCol="0" anchor="ctr"/>
          <a:lstStyle/>
          <a:p>
            <a:pPr indent="0" marL="0">
              <a:buNone/>
            </a:pPr>
            <a:r>
              <a:rPr lang="en-US" sz="1550" b="1" dirty="0">
                <a:solidFill>
                  <a:srgbClr val="E6EEFB"/>
                </a:solidFill>
                <a:latin typeface="Cambria" pitchFamily="34" charset="0"/>
                <a:ea typeface="Cambria" pitchFamily="34" charset="-122"/>
                <a:cs typeface="Cambria" pitchFamily="34" charset="-120"/>
              </a:rPr>
              <a:t>How big is it, really?</a:t>
            </a:r>
            <a:endParaRPr lang="en-US" sz="1550" dirty="0"/>
          </a:p>
        </p:txBody>
      </p:sp>
      <p:sp>
        <p:nvSpPr>
          <p:cNvPr id="8" name="Text 6"/>
          <p:cNvSpPr txBox="1"/>
          <p:nvPr/>
        </p:nvSpPr>
        <p:spPr>
          <a:xfrm>
            <a:off x="822960" y="2999232"/>
            <a:ext cx="3017520" cy="713232"/>
          </a:xfrm>
          <a:prstGeom prst="rect">
            <a:avLst/>
          </a:prstGeom>
          <a:noFill/>
          <a:ln/>
        </p:spPr>
        <p:txBody>
          <a:bodyPr wrap="square" lIns="0" tIns="0" rIns="0" bIns="0" rtlCol="0" anchor="t"/>
          <a:lstStyle/>
          <a:p>
            <a:pPr indent="0" marL="0">
              <a:buNone/>
            </a:pPr>
            <a:r>
              <a:rPr lang="en-US" sz="1250" dirty="0">
                <a:solidFill>
                  <a:srgbClr val="A9BAD3"/>
                </a:solidFill>
                <a:latin typeface="Calibri" pitchFamily="34" charset="0"/>
                <a:ea typeface="Calibri" pitchFamily="34" charset="-122"/>
                <a:cs typeface="Calibri" pitchFamily="34" charset="-120"/>
              </a:rPr>
              <a:t>Revenue &amp; units with 95% intervals, certain floor, evidence grade A–D</a:t>
            </a:r>
            <a:endParaRPr lang="en-US" sz="1250" dirty="0"/>
          </a:p>
        </p:txBody>
      </p:sp>
      <p:sp>
        <p:nvSpPr>
          <p:cNvPr id="9" name="Shape 7"/>
          <p:cNvSpPr/>
          <p:nvPr/>
        </p:nvSpPr>
        <p:spPr>
          <a:xfrm>
            <a:off x="4297680" y="1737360"/>
            <a:ext cx="3520440" cy="2057400"/>
          </a:xfrm>
          <a:prstGeom prst="roundRect">
            <a:avLst>
              <a:gd name="adj" fmla="val 4444"/>
            </a:avLst>
          </a:prstGeom>
          <a:solidFill>
            <a:srgbClr val="111C2E"/>
          </a:solidFill>
          <a:ln w="12700">
            <a:solidFill>
              <a:srgbClr val="1F3150"/>
            </a:solidFill>
            <a:prstDash val="solid"/>
          </a:ln>
        </p:spPr>
      </p:sp>
      <p:sp>
        <p:nvSpPr>
          <p:cNvPr id="10" name="Shape 8"/>
          <p:cNvSpPr/>
          <p:nvPr/>
        </p:nvSpPr>
        <p:spPr>
          <a:xfrm>
            <a:off x="4572000" y="2011680"/>
            <a:ext cx="457200" cy="457200"/>
          </a:xfrm>
          <a:prstGeom prst="ellipse">
            <a:avLst/>
          </a:prstGeom>
          <a:solidFill>
            <a:srgbClr val="F5B942"/>
          </a:solidFill>
          <a:ln w="12700">
            <a:solidFill>
              <a:srgbClr val="F5B942"/>
            </a:solidFill>
            <a:prstDash val="solid"/>
          </a:ln>
        </p:spPr>
      </p:sp>
      <p:sp>
        <p:nvSpPr>
          <p:cNvPr id="11" name="Text 9"/>
          <p:cNvSpPr txBox="1"/>
          <p:nvPr/>
        </p:nvSpPr>
        <p:spPr>
          <a:xfrm>
            <a:off x="4572000" y="2011680"/>
            <a:ext cx="457200" cy="457200"/>
          </a:xfrm>
          <a:prstGeom prst="rect">
            <a:avLst/>
          </a:prstGeom>
          <a:noFill/>
          <a:ln/>
        </p:spPr>
        <p:txBody>
          <a:bodyPr wrap="square" lIns="0" tIns="0" rIns="0" bIns="0" rtlCol="0" anchor="ctr"/>
          <a:lstStyle/>
          <a:p>
            <a:pPr algn="ctr" indent="0" marL="0">
              <a:buNone/>
            </a:pPr>
            <a:r>
              <a:rPr lang="en-US" sz="1600" b="1" dirty="0">
                <a:solidFill>
                  <a:srgbClr val="0A1220"/>
                </a:solidFill>
                <a:latin typeface="Cambria" pitchFamily="34" charset="0"/>
                <a:ea typeface="Cambria" pitchFamily="34" charset="-122"/>
                <a:cs typeface="Cambria" pitchFamily="34" charset="-120"/>
              </a:rPr>
              <a:t>2</a:t>
            </a:r>
            <a:endParaRPr lang="en-US" sz="1600" dirty="0"/>
          </a:p>
        </p:txBody>
      </p:sp>
      <p:sp>
        <p:nvSpPr>
          <p:cNvPr id="12" name="Text 10"/>
          <p:cNvSpPr txBox="1"/>
          <p:nvPr/>
        </p:nvSpPr>
        <p:spPr>
          <a:xfrm>
            <a:off x="4572000" y="2560320"/>
            <a:ext cx="3017520" cy="365760"/>
          </a:xfrm>
          <a:prstGeom prst="rect">
            <a:avLst/>
          </a:prstGeom>
          <a:noFill/>
          <a:ln/>
        </p:spPr>
        <p:txBody>
          <a:bodyPr wrap="square" lIns="0" tIns="0" rIns="0" bIns="0" rtlCol="0" anchor="ctr"/>
          <a:lstStyle/>
          <a:p>
            <a:pPr indent="0" marL="0">
              <a:buNone/>
            </a:pPr>
            <a:r>
              <a:rPr lang="en-US" sz="1550" b="1" dirty="0">
                <a:solidFill>
                  <a:srgbClr val="E6EEFB"/>
                </a:solidFill>
                <a:latin typeface="Cambria" pitchFamily="34" charset="0"/>
                <a:ea typeface="Cambria" pitchFamily="34" charset="-122"/>
                <a:cs typeface="Cambria" pitchFamily="34" charset="-120"/>
              </a:rPr>
              <a:t>Who controls it?</a:t>
            </a:r>
            <a:endParaRPr lang="en-US" sz="1550" dirty="0"/>
          </a:p>
        </p:txBody>
      </p:sp>
      <p:sp>
        <p:nvSpPr>
          <p:cNvPr id="13" name="Text 11"/>
          <p:cNvSpPr txBox="1"/>
          <p:nvPr/>
        </p:nvSpPr>
        <p:spPr>
          <a:xfrm>
            <a:off x="4572000" y="2999232"/>
            <a:ext cx="3017520" cy="713232"/>
          </a:xfrm>
          <a:prstGeom prst="rect">
            <a:avLst/>
          </a:prstGeom>
          <a:noFill/>
          <a:ln/>
        </p:spPr>
        <p:txBody>
          <a:bodyPr wrap="square" lIns="0" tIns="0" rIns="0" bIns="0" rtlCol="0" anchor="t"/>
          <a:lstStyle/>
          <a:p>
            <a:pPr indent="0" marL="0">
              <a:buNone/>
            </a:pPr>
            <a:r>
              <a:rPr lang="en-US" sz="1250" dirty="0">
                <a:solidFill>
                  <a:srgbClr val="A9BAD3"/>
                </a:solidFill>
                <a:latin typeface="Calibri" pitchFamily="34" charset="0"/>
                <a:ea typeface="Calibri" pitchFamily="34" charset="-122"/>
                <a:cs typeface="Calibri" pitchFamily="34" charset="-120"/>
              </a:rPr>
              <a:t>Brand shares with intervals, P(#1), HHI, strengths &amp; weaknesses</a:t>
            </a:r>
            <a:endParaRPr lang="en-US" sz="1250" dirty="0"/>
          </a:p>
        </p:txBody>
      </p:sp>
      <p:sp>
        <p:nvSpPr>
          <p:cNvPr id="14" name="Shape 12"/>
          <p:cNvSpPr/>
          <p:nvPr/>
        </p:nvSpPr>
        <p:spPr>
          <a:xfrm>
            <a:off x="8046720" y="1737360"/>
            <a:ext cx="3520440" cy="2057400"/>
          </a:xfrm>
          <a:prstGeom prst="roundRect">
            <a:avLst>
              <a:gd name="adj" fmla="val 4444"/>
            </a:avLst>
          </a:prstGeom>
          <a:solidFill>
            <a:srgbClr val="111C2E"/>
          </a:solidFill>
          <a:ln w="12700">
            <a:solidFill>
              <a:srgbClr val="1F3150"/>
            </a:solidFill>
            <a:prstDash val="solid"/>
          </a:ln>
        </p:spPr>
      </p:sp>
      <p:sp>
        <p:nvSpPr>
          <p:cNvPr id="15" name="Shape 13"/>
          <p:cNvSpPr/>
          <p:nvPr/>
        </p:nvSpPr>
        <p:spPr>
          <a:xfrm>
            <a:off x="8321040" y="2011680"/>
            <a:ext cx="457200" cy="457200"/>
          </a:xfrm>
          <a:prstGeom prst="ellipse">
            <a:avLst/>
          </a:prstGeom>
          <a:solidFill>
            <a:srgbClr val="2ECC8F"/>
          </a:solidFill>
          <a:ln w="12700">
            <a:solidFill>
              <a:srgbClr val="2ECC8F"/>
            </a:solidFill>
            <a:prstDash val="solid"/>
          </a:ln>
        </p:spPr>
      </p:sp>
      <p:sp>
        <p:nvSpPr>
          <p:cNvPr id="16" name="Text 14"/>
          <p:cNvSpPr txBox="1"/>
          <p:nvPr/>
        </p:nvSpPr>
        <p:spPr>
          <a:xfrm>
            <a:off x="8321040" y="2011680"/>
            <a:ext cx="457200" cy="457200"/>
          </a:xfrm>
          <a:prstGeom prst="rect">
            <a:avLst/>
          </a:prstGeom>
          <a:noFill/>
          <a:ln/>
        </p:spPr>
        <p:txBody>
          <a:bodyPr wrap="square" lIns="0" tIns="0" rIns="0" bIns="0" rtlCol="0" anchor="ctr"/>
          <a:lstStyle/>
          <a:p>
            <a:pPr algn="ctr" indent="0" marL="0">
              <a:buNone/>
            </a:pPr>
            <a:r>
              <a:rPr lang="en-US" sz="1600" b="1" dirty="0">
                <a:solidFill>
                  <a:srgbClr val="0A1220"/>
                </a:solidFill>
                <a:latin typeface="Cambria" pitchFamily="34" charset="0"/>
                <a:ea typeface="Cambria" pitchFamily="34" charset="-122"/>
                <a:cs typeface="Cambria" pitchFamily="34" charset="-120"/>
              </a:rPr>
              <a:t>3</a:t>
            </a:r>
            <a:endParaRPr lang="en-US" sz="1600" dirty="0"/>
          </a:p>
        </p:txBody>
      </p:sp>
      <p:sp>
        <p:nvSpPr>
          <p:cNvPr id="17" name="Text 15"/>
          <p:cNvSpPr txBox="1"/>
          <p:nvPr/>
        </p:nvSpPr>
        <p:spPr>
          <a:xfrm>
            <a:off x="8321040" y="2560320"/>
            <a:ext cx="3017520" cy="365760"/>
          </a:xfrm>
          <a:prstGeom prst="rect">
            <a:avLst/>
          </a:prstGeom>
          <a:noFill/>
          <a:ln/>
        </p:spPr>
        <p:txBody>
          <a:bodyPr wrap="square" lIns="0" tIns="0" rIns="0" bIns="0" rtlCol="0" anchor="ctr"/>
          <a:lstStyle/>
          <a:p>
            <a:pPr indent="0" marL="0">
              <a:buNone/>
            </a:pPr>
            <a:r>
              <a:rPr lang="en-US" sz="1550" b="1" dirty="0">
                <a:solidFill>
                  <a:srgbClr val="E6EEFB"/>
                </a:solidFill>
                <a:latin typeface="Cambria" pitchFamily="34" charset="0"/>
                <a:ea typeface="Cambria" pitchFamily="34" charset="-122"/>
                <a:cs typeface="Cambria" pitchFamily="34" charset="-120"/>
              </a:rPr>
              <a:t>Where is demand unmet?</a:t>
            </a:r>
            <a:endParaRPr lang="en-US" sz="1550" dirty="0"/>
          </a:p>
        </p:txBody>
      </p:sp>
      <p:sp>
        <p:nvSpPr>
          <p:cNvPr id="18" name="Text 16"/>
          <p:cNvSpPr txBox="1"/>
          <p:nvPr/>
        </p:nvSpPr>
        <p:spPr>
          <a:xfrm>
            <a:off x="8321040" y="2999232"/>
            <a:ext cx="3017520" cy="713232"/>
          </a:xfrm>
          <a:prstGeom prst="rect">
            <a:avLst/>
          </a:prstGeom>
          <a:noFill/>
          <a:ln/>
        </p:spPr>
        <p:txBody>
          <a:bodyPr wrap="square" lIns="0" tIns="0" rIns="0" bIns="0" rtlCol="0" anchor="t"/>
          <a:lstStyle/>
          <a:p>
            <a:pPr indent="0" marL="0">
              <a:buNone/>
            </a:pPr>
            <a:r>
              <a:rPr lang="en-US" sz="1250" dirty="0">
                <a:solidFill>
                  <a:srgbClr val="A9BAD3"/>
                </a:solidFill>
                <a:latin typeface="Calibri" pitchFamily="34" charset="0"/>
                <a:ea typeface="Calibri" pitchFamily="34" charset="-122"/>
                <a:cs typeface="Calibri" pitchFamily="34" charset="-120"/>
              </a:rPr>
              <a:t>Statistically significant feature &amp; price-band gaps (bootstrap + FDR)</a:t>
            </a:r>
            <a:endParaRPr lang="en-US" sz="1250" dirty="0"/>
          </a:p>
        </p:txBody>
      </p:sp>
      <p:sp>
        <p:nvSpPr>
          <p:cNvPr id="19" name="Shape 17"/>
          <p:cNvSpPr/>
          <p:nvPr/>
        </p:nvSpPr>
        <p:spPr>
          <a:xfrm>
            <a:off x="548640" y="4069080"/>
            <a:ext cx="3520440" cy="2057400"/>
          </a:xfrm>
          <a:prstGeom prst="roundRect">
            <a:avLst>
              <a:gd name="adj" fmla="val 4444"/>
            </a:avLst>
          </a:prstGeom>
          <a:solidFill>
            <a:srgbClr val="111C2E"/>
          </a:solidFill>
          <a:ln w="12700">
            <a:solidFill>
              <a:srgbClr val="1F3150"/>
            </a:solidFill>
            <a:prstDash val="solid"/>
          </a:ln>
        </p:spPr>
      </p:sp>
      <p:sp>
        <p:nvSpPr>
          <p:cNvPr id="20" name="Shape 18"/>
          <p:cNvSpPr/>
          <p:nvPr/>
        </p:nvSpPr>
        <p:spPr>
          <a:xfrm>
            <a:off x="822960" y="4343400"/>
            <a:ext cx="457200" cy="457200"/>
          </a:xfrm>
          <a:prstGeom prst="ellipse">
            <a:avLst/>
          </a:prstGeom>
          <a:solidFill>
            <a:srgbClr val="38D6FF"/>
          </a:solidFill>
          <a:ln w="12700">
            <a:solidFill>
              <a:srgbClr val="38D6FF"/>
            </a:solidFill>
            <a:prstDash val="solid"/>
          </a:ln>
        </p:spPr>
      </p:sp>
      <p:sp>
        <p:nvSpPr>
          <p:cNvPr id="21" name="Text 19"/>
          <p:cNvSpPr txBox="1"/>
          <p:nvPr/>
        </p:nvSpPr>
        <p:spPr>
          <a:xfrm>
            <a:off x="822960" y="4343400"/>
            <a:ext cx="457200" cy="457200"/>
          </a:xfrm>
          <a:prstGeom prst="rect">
            <a:avLst/>
          </a:prstGeom>
          <a:noFill/>
          <a:ln/>
        </p:spPr>
        <p:txBody>
          <a:bodyPr wrap="square" lIns="0" tIns="0" rIns="0" bIns="0" rtlCol="0" anchor="ctr"/>
          <a:lstStyle/>
          <a:p>
            <a:pPr algn="ctr" indent="0" marL="0">
              <a:buNone/>
            </a:pPr>
            <a:r>
              <a:rPr lang="en-US" sz="1600" b="1" dirty="0">
                <a:solidFill>
                  <a:srgbClr val="0A1220"/>
                </a:solidFill>
                <a:latin typeface="Cambria" pitchFamily="34" charset="0"/>
                <a:ea typeface="Cambria" pitchFamily="34" charset="-122"/>
                <a:cs typeface="Cambria" pitchFamily="34" charset="-120"/>
              </a:rPr>
              <a:t>4</a:t>
            </a:r>
            <a:endParaRPr lang="en-US" sz="1600" dirty="0"/>
          </a:p>
        </p:txBody>
      </p:sp>
      <p:sp>
        <p:nvSpPr>
          <p:cNvPr id="22" name="Text 20"/>
          <p:cNvSpPr txBox="1"/>
          <p:nvPr/>
        </p:nvSpPr>
        <p:spPr>
          <a:xfrm>
            <a:off x="822960" y="4892040"/>
            <a:ext cx="3017520" cy="365760"/>
          </a:xfrm>
          <a:prstGeom prst="rect">
            <a:avLst/>
          </a:prstGeom>
          <a:noFill/>
          <a:ln/>
        </p:spPr>
        <p:txBody>
          <a:bodyPr wrap="square" lIns="0" tIns="0" rIns="0" bIns="0" rtlCol="0" anchor="ctr"/>
          <a:lstStyle/>
          <a:p>
            <a:pPr indent="0" marL="0">
              <a:buNone/>
            </a:pPr>
            <a:r>
              <a:rPr lang="en-US" sz="1550" b="1" dirty="0">
                <a:solidFill>
                  <a:srgbClr val="E6EEFB"/>
                </a:solidFill>
                <a:latin typeface="Cambria" pitchFamily="34" charset="0"/>
                <a:ea typeface="Cambria" pitchFamily="34" charset="-122"/>
                <a:cs typeface="Cambria" pitchFamily="34" charset="-120"/>
              </a:rPr>
              <a:t>Is it growing?</a:t>
            </a:r>
            <a:endParaRPr lang="en-US" sz="1550" dirty="0"/>
          </a:p>
        </p:txBody>
      </p:sp>
      <p:sp>
        <p:nvSpPr>
          <p:cNvPr id="23" name="Text 21"/>
          <p:cNvSpPr txBox="1"/>
          <p:nvPr/>
        </p:nvSpPr>
        <p:spPr>
          <a:xfrm>
            <a:off x="822960" y="5330952"/>
            <a:ext cx="3017520" cy="713232"/>
          </a:xfrm>
          <a:prstGeom prst="rect">
            <a:avLst/>
          </a:prstGeom>
          <a:noFill/>
          <a:ln/>
        </p:spPr>
        <p:txBody>
          <a:bodyPr wrap="square" lIns="0" tIns="0" rIns="0" bIns="0" rtlCol="0" anchor="t"/>
          <a:lstStyle/>
          <a:p>
            <a:pPr indent="0" marL="0">
              <a:buNone/>
            </a:pPr>
            <a:r>
              <a:rPr lang="en-US" sz="1250" dirty="0">
                <a:solidFill>
                  <a:srgbClr val="A9BAD3"/>
                </a:solidFill>
                <a:latin typeface="Calibri" pitchFamily="34" charset="0"/>
                <a:ea typeface="Calibri" pitchFamily="34" charset="-122"/>
                <a:cs typeface="Calibri" pitchFamily="34" charset="-120"/>
              </a:rPr>
              <a:t>Random-effects trend across monthly snapshots, forecasts with prediction intervals</a:t>
            </a:r>
            <a:endParaRPr lang="en-US" sz="1250" dirty="0"/>
          </a:p>
        </p:txBody>
      </p:sp>
      <p:sp>
        <p:nvSpPr>
          <p:cNvPr id="24" name="Shape 22"/>
          <p:cNvSpPr/>
          <p:nvPr/>
        </p:nvSpPr>
        <p:spPr>
          <a:xfrm>
            <a:off x="4297680" y="4069080"/>
            <a:ext cx="3520440" cy="2057400"/>
          </a:xfrm>
          <a:prstGeom prst="roundRect">
            <a:avLst>
              <a:gd name="adj" fmla="val 4444"/>
            </a:avLst>
          </a:prstGeom>
          <a:solidFill>
            <a:srgbClr val="111C2E"/>
          </a:solidFill>
          <a:ln w="12700">
            <a:solidFill>
              <a:srgbClr val="1F3150"/>
            </a:solidFill>
            <a:prstDash val="solid"/>
          </a:ln>
        </p:spPr>
      </p:sp>
      <p:sp>
        <p:nvSpPr>
          <p:cNvPr id="25" name="Shape 23"/>
          <p:cNvSpPr/>
          <p:nvPr/>
        </p:nvSpPr>
        <p:spPr>
          <a:xfrm>
            <a:off x="4572000" y="4343400"/>
            <a:ext cx="457200" cy="457200"/>
          </a:xfrm>
          <a:prstGeom prst="ellipse">
            <a:avLst/>
          </a:prstGeom>
          <a:solidFill>
            <a:srgbClr val="F5B942"/>
          </a:solidFill>
          <a:ln w="12700">
            <a:solidFill>
              <a:srgbClr val="F5B942"/>
            </a:solidFill>
            <a:prstDash val="solid"/>
          </a:ln>
        </p:spPr>
      </p:sp>
      <p:sp>
        <p:nvSpPr>
          <p:cNvPr id="26" name="Text 24"/>
          <p:cNvSpPr txBox="1"/>
          <p:nvPr/>
        </p:nvSpPr>
        <p:spPr>
          <a:xfrm>
            <a:off x="4572000" y="4343400"/>
            <a:ext cx="457200" cy="457200"/>
          </a:xfrm>
          <a:prstGeom prst="rect">
            <a:avLst/>
          </a:prstGeom>
          <a:noFill/>
          <a:ln/>
        </p:spPr>
        <p:txBody>
          <a:bodyPr wrap="square" lIns="0" tIns="0" rIns="0" bIns="0" rtlCol="0" anchor="ctr"/>
          <a:lstStyle/>
          <a:p>
            <a:pPr algn="ctr" indent="0" marL="0">
              <a:buNone/>
            </a:pPr>
            <a:r>
              <a:rPr lang="en-US" sz="1600" b="1" dirty="0">
                <a:solidFill>
                  <a:srgbClr val="0A1220"/>
                </a:solidFill>
                <a:latin typeface="Cambria" pitchFamily="34" charset="0"/>
                <a:ea typeface="Cambria" pitchFamily="34" charset="-122"/>
                <a:cs typeface="Cambria" pitchFamily="34" charset="-120"/>
              </a:rPr>
              <a:t>5</a:t>
            </a:r>
            <a:endParaRPr lang="en-US" sz="1600" dirty="0"/>
          </a:p>
        </p:txBody>
      </p:sp>
      <p:sp>
        <p:nvSpPr>
          <p:cNvPr id="27" name="Text 25"/>
          <p:cNvSpPr txBox="1"/>
          <p:nvPr/>
        </p:nvSpPr>
        <p:spPr>
          <a:xfrm>
            <a:off x="4572000" y="4892040"/>
            <a:ext cx="3017520" cy="365760"/>
          </a:xfrm>
          <a:prstGeom prst="rect">
            <a:avLst/>
          </a:prstGeom>
          <a:noFill/>
          <a:ln/>
        </p:spPr>
        <p:txBody>
          <a:bodyPr wrap="square" lIns="0" tIns="0" rIns="0" bIns="0" rtlCol="0" anchor="ctr"/>
          <a:lstStyle/>
          <a:p>
            <a:pPr indent="0" marL="0">
              <a:buNone/>
            </a:pPr>
            <a:r>
              <a:rPr lang="en-US" sz="1550" b="1" dirty="0">
                <a:solidFill>
                  <a:srgbClr val="E6EEFB"/>
                </a:solidFill>
                <a:latin typeface="Cambria" pitchFamily="34" charset="0"/>
                <a:ea typeface="Cambria" pitchFamily="34" charset="-122"/>
                <a:cs typeface="Cambria" pitchFamily="34" charset="-120"/>
              </a:rPr>
              <a:t>What if we launch it?</a:t>
            </a:r>
            <a:endParaRPr lang="en-US" sz="1550" dirty="0"/>
          </a:p>
        </p:txBody>
      </p:sp>
      <p:sp>
        <p:nvSpPr>
          <p:cNvPr id="28" name="Text 26"/>
          <p:cNvSpPr txBox="1"/>
          <p:nvPr/>
        </p:nvSpPr>
        <p:spPr>
          <a:xfrm>
            <a:off x="4572000" y="5330952"/>
            <a:ext cx="3017520" cy="713232"/>
          </a:xfrm>
          <a:prstGeom prst="rect">
            <a:avLst/>
          </a:prstGeom>
          <a:noFill/>
          <a:ln/>
        </p:spPr>
        <p:txBody>
          <a:bodyPr wrap="square" lIns="0" tIns="0" rIns="0" bIns="0" rtlCol="0" anchor="t"/>
          <a:lstStyle/>
          <a:p>
            <a:pPr indent="0" marL="0">
              <a:buNone/>
            </a:pPr>
            <a:r>
              <a:rPr lang="en-US" sz="1250" dirty="0">
                <a:solidFill>
                  <a:srgbClr val="A9BAD3"/>
                </a:solidFill>
                <a:latin typeface="Calibri" pitchFamily="34" charset="0"/>
                <a:ea typeface="Calibri" pitchFamily="34" charset="-122"/>
                <a:cs typeface="Calibri" pitchFamily="34" charset="-120"/>
              </a:rPr>
              <a:t>Posterior-predictive simulation: units, revenue, profit, risks</a:t>
            </a:r>
            <a:endParaRPr lang="en-US" sz="1250" dirty="0"/>
          </a:p>
        </p:txBody>
      </p:sp>
      <p:sp>
        <p:nvSpPr>
          <p:cNvPr id="29" name="Shape 27"/>
          <p:cNvSpPr/>
          <p:nvPr/>
        </p:nvSpPr>
        <p:spPr>
          <a:xfrm>
            <a:off x="8046720" y="4069080"/>
            <a:ext cx="3520440" cy="2057400"/>
          </a:xfrm>
          <a:prstGeom prst="roundRect">
            <a:avLst>
              <a:gd name="adj" fmla="val 4444"/>
            </a:avLst>
          </a:prstGeom>
          <a:solidFill>
            <a:srgbClr val="111C2E"/>
          </a:solidFill>
          <a:ln w="12700">
            <a:solidFill>
              <a:srgbClr val="1F3150"/>
            </a:solidFill>
            <a:prstDash val="solid"/>
          </a:ln>
        </p:spPr>
      </p:sp>
      <p:sp>
        <p:nvSpPr>
          <p:cNvPr id="30" name="Shape 28"/>
          <p:cNvSpPr/>
          <p:nvPr/>
        </p:nvSpPr>
        <p:spPr>
          <a:xfrm>
            <a:off x="8321040" y="4343400"/>
            <a:ext cx="457200" cy="457200"/>
          </a:xfrm>
          <a:prstGeom prst="ellipse">
            <a:avLst/>
          </a:prstGeom>
          <a:solidFill>
            <a:srgbClr val="2ECC8F"/>
          </a:solidFill>
          <a:ln w="12700">
            <a:solidFill>
              <a:srgbClr val="2ECC8F"/>
            </a:solidFill>
            <a:prstDash val="solid"/>
          </a:ln>
        </p:spPr>
      </p:sp>
      <p:sp>
        <p:nvSpPr>
          <p:cNvPr id="31" name="Text 29"/>
          <p:cNvSpPr txBox="1"/>
          <p:nvPr/>
        </p:nvSpPr>
        <p:spPr>
          <a:xfrm>
            <a:off x="8321040" y="4343400"/>
            <a:ext cx="457200" cy="457200"/>
          </a:xfrm>
          <a:prstGeom prst="rect">
            <a:avLst/>
          </a:prstGeom>
          <a:noFill/>
          <a:ln/>
        </p:spPr>
        <p:txBody>
          <a:bodyPr wrap="square" lIns="0" tIns="0" rIns="0" bIns="0" rtlCol="0" anchor="ctr"/>
          <a:lstStyle/>
          <a:p>
            <a:pPr algn="ctr" indent="0" marL="0">
              <a:buNone/>
            </a:pPr>
            <a:r>
              <a:rPr lang="en-US" sz="1600" b="1" dirty="0">
                <a:solidFill>
                  <a:srgbClr val="0A1220"/>
                </a:solidFill>
                <a:latin typeface="Cambria" pitchFamily="34" charset="0"/>
                <a:ea typeface="Cambria" pitchFamily="34" charset="-122"/>
                <a:cs typeface="Cambria" pitchFamily="34" charset="-120"/>
              </a:rPr>
              <a:t>6</a:t>
            </a:r>
            <a:endParaRPr lang="en-US" sz="1600" dirty="0"/>
          </a:p>
        </p:txBody>
      </p:sp>
      <p:sp>
        <p:nvSpPr>
          <p:cNvPr id="32" name="Text 30"/>
          <p:cNvSpPr txBox="1"/>
          <p:nvPr/>
        </p:nvSpPr>
        <p:spPr>
          <a:xfrm>
            <a:off x="8321040" y="4892040"/>
            <a:ext cx="3017520" cy="365760"/>
          </a:xfrm>
          <a:prstGeom prst="rect">
            <a:avLst/>
          </a:prstGeom>
          <a:noFill/>
          <a:ln/>
        </p:spPr>
        <p:txBody>
          <a:bodyPr wrap="square" lIns="0" tIns="0" rIns="0" bIns="0" rtlCol="0" anchor="ctr"/>
          <a:lstStyle/>
          <a:p>
            <a:pPr indent="0" marL="0">
              <a:buNone/>
            </a:pPr>
            <a:r>
              <a:rPr lang="en-US" sz="1550" b="1" dirty="0">
                <a:solidFill>
                  <a:srgbClr val="E6EEFB"/>
                </a:solidFill>
                <a:latin typeface="Cambria" pitchFamily="34" charset="0"/>
                <a:ea typeface="Cambria" pitchFamily="34" charset="-122"/>
                <a:cs typeface="Cambria" pitchFamily="34" charset="-120"/>
              </a:rPr>
              <a:t>What should we sell?</a:t>
            </a:r>
            <a:endParaRPr lang="en-US" sz="1550" dirty="0"/>
          </a:p>
        </p:txBody>
      </p:sp>
      <p:sp>
        <p:nvSpPr>
          <p:cNvPr id="33" name="Text 31"/>
          <p:cNvSpPr txBox="1"/>
          <p:nvPr/>
        </p:nvSpPr>
        <p:spPr>
          <a:xfrm>
            <a:off x="8321040" y="5330952"/>
            <a:ext cx="3017520" cy="713232"/>
          </a:xfrm>
          <a:prstGeom prst="rect">
            <a:avLst/>
          </a:prstGeom>
          <a:noFill/>
          <a:ln/>
        </p:spPr>
        <p:txBody>
          <a:bodyPr wrap="square" lIns="0" tIns="0" rIns="0" bIns="0" rtlCol="0" anchor="t"/>
          <a:lstStyle/>
          <a:p>
            <a:pPr indent="0" marL="0">
              <a:buNone/>
            </a:pPr>
            <a:r>
              <a:rPr lang="en-US" sz="1250" dirty="0">
                <a:solidFill>
                  <a:srgbClr val="A9BAD3"/>
                </a:solidFill>
                <a:latin typeface="Calibri" pitchFamily="34" charset="0"/>
                <a:ea typeface="Calibri" pitchFamily="34" charset="-122"/>
                <a:cs typeface="Calibri" pitchFamily="34" charset="-120"/>
              </a:rPr>
              <a:t>Opportunity Board: every market's best concepts with all the evidence</a:t>
            </a:r>
            <a:endParaRPr lang="en-US" sz="1250" dirty="0"/>
          </a:p>
        </p:txBody>
      </p:sp>
      <p:sp>
        <p:nvSpPr>
          <p:cNvPr id="34" name="Text 32"/>
          <p:cNvSpPr txBox="1"/>
          <p:nvPr/>
        </p:nvSpPr>
        <p:spPr>
          <a:xfrm>
            <a:off x="10332720" y="6446520"/>
            <a:ext cx="1371600" cy="228600"/>
          </a:xfrm>
          <a:prstGeom prst="rect">
            <a:avLst/>
          </a:prstGeom>
          <a:noFill/>
          <a:ln/>
        </p:spPr>
        <p:txBody>
          <a:bodyPr wrap="square" lIns="0" tIns="0" rIns="0" bIns="0" rtlCol="0" anchor="ctr"/>
          <a:lstStyle/>
          <a:p>
            <a:pPr algn="r" indent="0" marL="0">
              <a:buNone/>
            </a:pPr>
            <a:r>
              <a:rPr lang="en-US" sz="900" dirty="0">
                <a:solidFill>
                  <a:srgbClr val="6F84A6"/>
                </a:solidFill>
                <a:latin typeface="Calibri" pitchFamily="34" charset="0"/>
                <a:ea typeface="Calibri" pitchFamily="34" charset="-122"/>
                <a:cs typeface="Calibri" pitchFamily="34" charset="-120"/>
              </a:rPr>
              <a:t>DMIS ·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6FA"/>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274320"/>
          </a:xfrm>
          <a:prstGeom prst="rect">
            <a:avLst/>
          </a:prstGeom>
          <a:noFill/>
          <a:ln/>
        </p:spPr>
        <p:txBody>
          <a:bodyPr wrap="square" lIns="0" tIns="0" rIns="0" bIns="0" rtlCol="0" anchor="ctr"/>
          <a:lstStyle/>
          <a:p>
            <a:pPr indent="0" marL="0">
              <a:buNone/>
            </a:pPr>
            <a:r>
              <a:rPr lang="en-US" sz="1100" b="1" spc="300" kern="0" dirty="0">
                <a:solidFill>
                  <a:srgbClr val="0B7FA3"/>
                </a:solidFill>
                <a:latin typeface="Calibri" pitchFamily="34" charset="0"/>
                <a:ea typeface="Calibri" pitchFamily="34" charset="-122"/>
                <a:cs typeface="Calibri" pitchFamily="34" charset="-120"/>
              </a:rPr>
              <a:t>ARCHITECTURE</a:t>
            </a:r>
            <a:endParaRPr lang="en-US" sz="1100" dirty="0"/>
          </a:p>
        </p:txBody>
      </p:sp>
      <p:sp>
        <p:nvSpPr>
          <p:cNvPr id="3" name="Text 1"/>
          <p:cNvSpPr txBox="1"/>
          <p:nvPr/>
        </p:nvSpPr>
        <p:spPr>
          <a:xfrm>
            <a:off x="548640" y="685800"/>
            <a:ext cx="11064240" cy="685800"/>
          </a:xfrm>
          <a:prstGeom prst="rect">
            <a:avLst/>
          </a:prstGeom>
          <a:noFill/>
          <a:ln/>
        </p:spPr>
        <p:txBody>
          <a:bodyPr wrap="square" lIns="0" tIns="0" rIns="0" bIns="0" rtlCol="0" anchor="ctr"/>
          <a:lstStyle/>
          <a:p>
            <a:pPr indent="0" marL="0">
              <a:buNone/>
            </a:pPr>
            <a:r>
              <a:rPr lang="en-US" sz="3200" b="1" dirty="0">
                <a:solidFill>
                  <a:srgbClr val="0F1B2D"/>
                </a:solidFill>
                <a:latin typeface="Cambria" pitchFamily="34" charset="0"/>
                <a:ea typeface="Cambria" pitchFamily="34" charset="-122"/>
                <a:cs typeface="Cambria" pitchFamily="34" charset="-120"/>
              </a:rPr>
              <a:t>How the pieces connect</a:t>
            </a:r>
            <a:endParaRPr lang="en-US" sz="3200" dirty="0"/>
          </a:p>
        </p:txBody>
      </p:sp>
      <p:sp>
        <p:nvSpPr>
          <p:cNvPr id="4" name="Shape 2"/>
          <p:cNvSpPr/>
          <p:nvPr/>
        </p:nvSpPr>
        <p:spPr>
          <a:xfrm>
            <a:off x="548640" y="1645920"/>
            <a:ext cx="2651760" cy="914400"/>
          </a:xfrm>
          <a:prstGeom prst="roundRect">
            <a:avLst>
              <a:gd name="adj" fmla="val 8000"/>
            </a:avLst>
          </a:prstGeom>
          <a:solidFill>
            <a:srgbClr val="FFFFFF"/>
          </a:solidFill>
          <a:ln w="12700">
            <a:solidFill>
              <a:srgbClr val="C3CFDE"/>
            </a:solidFill>
            <a:prstDash val="solid"/>
          </a:ln>
        </p:spPr>
      </p:sp>
      <p:sp>
        <p:nvSpPr>
          <p:cNvPr id="5" name="Text 3"/>
          <p:cNvSpPr txBox="1"/>
          <p:nvPr/>
        </p:nvSpPr>
        <p:spPr>
          <a:xfrm>
            <a:off x="658368" y="1645920"/>
            <a:ext cx="2432304" cy="914400"/>
          </a:xfrm>
          <a:prstGeom prst="rect">
            <a:avLst/>
          </a:prstGeom>
          <a:noFill/>
          <a:ln/>
        </p:spPr>
        <p:txBody>
          <a:bodyPr wrap="square" lIns="0" tIns="0" rIns="0" bIns="0" rtlCol="0" anchor="ctr"/>
          <a:lstStyle/>
          <a:p>
            <a:pPr indent="0" marL="0">
              <a:buNone/>
            </a:pPr>
            <a:r>
              <a:rPr lang="en-US" sz="1400" b="1" dirty="0">
                <a:solidFill>
                  <a:srgbClr val="0F1B2D"/>
                </a:solidFill>
                <a:latin typeface="Calibri" pitchFamily="34" charset="0"/>
                <a:ea typeface="Calibri" pitchFamily="34" charset="-122"/>
                <a:cs typeface="Calibri" pitchFamily="34" charset="-120"/>
              </a:rPr>
              <a:t>Browser</a:t>
            </a:r>
            <a:endParaRPr lang="en-US" sz="1400" dirty="0"/>
          </a:p>
          <a:p>
            <a:pPr indent="0" marL="0">
              <a:buNone/>
            </a:pPr>
            <a:r>
              <a:rPr lang="en-US" sz="1050" dirty="0">
                <a:solidFill>
                  <a:srgbClr val="44546B"/>
                </a:solidFill>
                <a:latin typeface="Calibri" pitchFamily="34" charset="0"/>
                <a:ea typeface="Calibri" pitchFamily="34" charset="-122"/>
                <a:cs typeface="Calibri" pitchFamily="34" charset="-120"/>
              </a:rPr>
              <a:t>React pages (Next.js 16), ECharts, three.js 3D</a:t>
            </a:r>
            <a:endParaRPr lang="en-US" sz="1400" dirty="0"/>
          </a:p>
        </p:txBody>
      </p:sp>
      <p:sp>
        <p:nvSpPr>
          <p:cNvPr id="6" name="Shape 4"/>
          <p:cNvSpPr/>
          <p:nvPr/>
        </p:nvSpPr>
        <p:spPr>
          <a:xfrm>
            <a:off x="548640" y="3017520"/>
            <a:ext cx="2651760" cy="914400"/>
          </a:xfrm>
          <a:prstGeom prst="roundRect">
            <a:avLst>
              <a:gd name="adj" fmla="val 8000"/>
            </a:avLst>
          </a:prstGeom>
          <a:solidFill>
            <a:srgbClr val="FFFFFF"/>
          </a:solidFill>
          <a:ln w="12700">
            <a:solidFill>
              <a:srgbClr val="C3CFDE"/>
            </a:solidFill>
            <a:prstDash val="solid"/>
          </a:ln>
        </p:spPr>
      </p:sp>
      <p:sp>
        <p:nvSpPr>
          <p:cNvPr id="7" name="Text 5"/>
          <p:cNvSpPr txBox="1"/>
          <p:nvPr/>
        </p:nvSpPr>
        <p:spPr>
          <a:xfrm>
            <a:off x="658368" y="3017520"/>
            <a:ext cx="2432304" cy="914400"/>
          </a:xfrm>
          <a:prstGeom prst="rect">
            <a:avLst/>
          </a:prstGeom>
          <a:noFill/>
          <a:ln/>
        </p:spPr>
        <p:txBody>
          <a:bodyPr wrap="square" lIns="0" tIns="0" rIns="0" bIns="0" rtlCol="0" anchor="ctr"/>
          <a:lstStyle/>
          <a:p>
            <a:pPr indent="0" marL="0">
              <a:buNone/>
            </a:pPr>
            <a:r>
              <a:rPr lang="en-US" sz="1400" b="1" dirty="0">
                <a:solidFill>
                  <a:srgbClr val="0F1B2D"/>
                </a:solidFill>
                <a:latin typeface="Calibri" pitchFamily="34" charset="0"/>
                <a:ea typeface="Calibri" pitchFamily="34" charset="-122"/>
                <a:cs typeface="Calibri" pitchFamily="34" charset="-120"/>
              </a:rPr>
              <a:t>Next.js server :3000</a:t>
            </a:r>
            <a:endParaRPr lang="en-US" sz="1400" dirty="0"/>
          </a:p>
          <a:p>
            <a:pPr indent="0" marL="0">
              <a:buNone/>
            </a:pPr>
            <a:r>
              <a:rPr lang="en-US" sz="1050" dirty="0">
                <a:solidFill>
                  <a:srgbClr val="44546B"/>
                </a:solidFill>
                <a:latin typeface="Calibri" pitchFamily="34" charset="0"/>
                <a:ea typeface="Calibri" pitchFamily="34" charset="-122"/>
                <a:cs typeface="Calibri" pitchFamily="34" charset="-120"/>
              </a:rPr>
              <a:t>rewrites /api/v2/* → API (same origin, no CORS)</a:t>
            </a:r>
            <a:endParaRPr lang="en-US" sz="1400" dirty="0"/>
          </a:p>
        </p:txBody>
      </p:sp>
      <p:sp>
        <p:nvSpPr>
          <p:cNvPr id="8" name="Shape 6"/>
          <p:cNvSpPr/>
          <p:nvPr/>
        </p:nvSpPr>
        <p:spPr>
          <a:xfrm>
            <a:off x="3931920" y="2834640"/>
            <a:ext cx="3017520" cy="1280160"/>
          </a:xfrm>
          <a:prstGeom prst="roundRect">
            <a:avLst>
              <a:gd name="adj" fmla="val 5714"/>
            </a:avLst>
          </a:prstGeom>
          <a:solidFill>
            <a:srgbClr val="D9F3FB"/>
          </a:solidFill>
          <a:ln w="12700">
            <a:solidFill>
              <a:srgbClr val="C3CFDE"/>
            </a:solidFill>
            <a:prstDash val="solid"/>
          </a:ln>
        </p:spPr>
      </p:sp>
      <p:sp>
        <p:nvSpPr>
          <p:cNvPr id="9" name="Text 7"/>
          <p:cNvSpPr txBox="1"/>
          <p:nvPr/>
        </p:nvSpPr>
        <p:spPr>
          <a:xfrm>
            <a:off x="4041648" y="2834640"/>
            <a:ext cx="2798064" cy="1280160"/>
          </a:xfrm>
          <a:prstGeom prst="rect">
            <a:avLst/>
          </a:prstGeom>
          <a:noFill/>
          <a:ln/>
        </p:spPr>
        <p:txBody>
          <a:bodyPr wrap="square" lIns="0" tIns="0" rIns="0" bIns="0" rtlCol="0" anchor="ctr"/>
          <a:lstStyle/>
          <a:p>
            <a:pPr indent="0" marL="0">
              <a:buNone/>
            </a:pPr>
            <a:r>
              <a:rPr lang="en-US" sz="1400" b="1" dirty="0">
                <a:solidFill>
                  <a:srgbClr val="0F1B2D"/>
                </a:solidFill>
                <a:latin typeface="Calibri" pitchFamily="34" charset="0"/>
                <a:ea typeface="Calibri" pitchFamily="34" charset="-122"/>
                <a:cs typeface="Calibri" pitchFamily="34" charset="-120"/>
              </a:rPr>
              <a:t>FastAPI :8000</a:t>
            </a:r>
            <a:endParaRPr lang="en-US" sz="1400" dirty="0"/>
          </a:p>
          <a:p>
            <a:pPr indent="0" marL="0">
              <a:buNone/>
            </a:pPr>
            <a:r>
              <a:rPr lang="en-US" sz="1050" dirty="0">
                <a:solidFill>
                  <a:srgbClr val="44546B"/>
                </a:solidFill>
                <a:latin typeface="Calibri" pitchFamily="34" charset="0"/>
                <a:ea typeface="Calibri" pitchFamily="34" charset="-122"/>
                <a:cs typeface="Calibri" pitchFamily="34" charset="-120"/>
              </a:rPr>
              <a:t>src/dip/api · auth &amp; market scope · response cache · ~120 endpoints</a:t>
            </a:r>
            <a:endParaRPr lang="en-US" sz="1400" dirty="0"/>
          </a:p>
        </p:txBody>
      </p:sp>
      <p:sp>
        <p:nvSpPr>
          <p:cNvPr id="10" name="Shape 8"/>
          <p:cNvSpPr/>
          <p:nvPr/>
        </p:nvSpPr>
        <p:spPr>
          <a:xfrm>
            <a:off x="1874520" y="2560320"/>
            <a:ext cx="0" cy="457200"/>
          </a:xfrm>
          <a:prstGeom prst="line">
            <a:avLst/>
          </a:prstGeom>
          <a:noFill/>
          <a:ln w="22225">
            <a:solidFill>
              <a:srgbClr val="0B7FA3"/>
            </a:solidFill>
            <a:prstDash val="solid"/>
            <a:tailEnd type="triangle"/>
          </a:ln>
        </p:spPr>
      </p:sp>
      <p:sp>
        <p:nvSpPr>
          <p:cNvPr id="11" name="Text 9"/>
          <p:cNvSpPr txBox="1"/>
          <p:nvPr/>
        </p:nvSpPr>
        <p:spPr>
          <a:xfrm>
            <a:off x="1920240" y="2496312"/>
            <a:ext cx="2194560" cy="256032"/>
          </a:xfrm>
          <a:prstGeom prst="rect">
            <a:avLst/>
          </a:prstGeom>
          <a:noFill/>
          <a:ln/>
        </p:spPr>
        <p:txBody>
          <a:bodyPr wrap="square" lIns="0" tIns="0" rIns="0" bIns="0" rtlCol="0" anchor="ctr"/>
          <a:lstStyle/>
          <a:p>
            <a:pPr indent="0" marL="0">
              <a:buNone/>
            </a:pPr>
            <a:r>
              <a:rPr lang="en-US" sz="900" dirty="0">
                <a:solidFill>
                  <a:srgbClr val="0B7FA3"/>
                </a:solidFill>
                <a:latin typeface="Courier New" pitchFamily="34" charset="0"/>
                <a:ea typeface="Courier New" pitchFamily="34" charset="-122"/>
                <a:cs typeface="Courier New" pitchFamily="34" charset="-120"/>
              </a:rPr>
              <a:t>fetch /api/v2</a:t>
            </a:r>
            <a:endParaRPr lang="en-US" sz="900" dirty="0"/>
          </a:p>
        </p:txBody>
      </p:sp>
      <p:sp>
        <p:nvSpPr>
          <p:cNvPr id="12" name="Shape 10"/>
          <p:cNvSpPr/>
          <p:nvPr/>
        </p:nvSpPr>
        <p:spPr>
          <a:xfrm>
            <a:off x="3200400" y="3474720"/>
            <a:ext cx="731520" cy="0"/>
          </a:xfrm>
          <a:prstGeom prst="line">
            <a:avLst/>
          </a:prstGeom>
          <a:noFill/>
          <a:ln w="22225">
            <a:solidFill>
              <a:srgbClr val="0B7FA3"/>
            </a:solidFill>
            <a:prstDash val="solid"/>
            <a:tailEnd type="triangle"/>
          </a:ln>
        </p:spPr>
      </p:sp>
      <p:sp>
        <p:nvSpPr>
          <p:cNvPr id="13" name="Shape 11"/>
          <p:cNvSpPr/>
          <p:nvPr/>
        </p:nvSpPr>
        <p:spPr>
          <a:xfrm>
            <a:off x="7772400" y="1463040"/>
            <a:ext cx="3840480" cy="868680"/>
          </a:xfrm>
          <a:prstGeom prst="roundRect">
            <a:avLst>
              <a:gd name="adj" fmla="val 8421"/>
            </a:avLst>
          </a:prstGeom>
          <a:solidFill>
            <a:srgbClr val="FFFFFF"/>
          </a:solidFill>
          <a:ln w="12700">
            <a:solidFill>
              <a:srgbClr val="C3CFDE"/>
            </a:solidFill>
            <a:prstDash val="solid"/>
          </a:ln>
        </p:spPr>
      </p:sp>
      <p:sp>
        <p:nvSpPr>
          <p:cNvPr id="14" name="Text 12"/>
          <p:cNvSpPr txBox="1"/>
          <p:nvPr/>
        </p:nvSpPr>
        <p:spPr>
          <a:xfrm>
            <a:off x="7882128" y="1463040"/>
            <a:ext cx="3621024" cy="868680"/>
          </a:xfrm>
          <a:prstGeom prst="rect">
            <a:avLst/>
          </a:prstGeom>
          <a:noFill/>
          <a:ln/>
        </p:spPr>
        <p:txBody>
          <a:bodyPr wrap="square" lIns="0" tIns="0" rIns="0" bIns="0" rtlCol="0" anchor="ctr"/>
          <a:lstStyle/>
          <a:p>
            <a:pPr indent="0" marL="0">
              <a:buNone/>
            </a:pPr>
            <a:r>
              <a:rPr lang="en-US" sz="1400" b="1" dirty="0">
                <a:solidFill>
                  <a:srgbClr val="0F1B2D"/>
                </a:solidFill>
                <a:latin typeface="Calibri" pitchFamily="34" charset="0"/>
                <a:ea typeface="Calibri" pitchFamily="34" charset="-122"/>
                <a:cs typeface="Calibri" pitchFamily="34" charset="-120"/>
              </a:rPr>
              <a:t>Data lake</a:t>
            </a:r>
            <a:endParaRPr lang="en-US" sz="1400" dirty="0"/>
          </a:p>
          <a:p>
            <a:pPr indent="0" marL="0">
              <a:buNone/>
            </a:pPr>
            <a:r>
              <a:rPr lang="en-US" sz="1050" dirty="0">
                <a:solidFill>
                  <a:srgbClr val="44546B"/>
                </a:solidFill>
                <a:latin typeface="Calibri" pitchFamily="34" charset="0"/>
                <a:ea typeface="Calibri" pitchFamily="34" charset="-122"/>
                <a:cs typeface="Calibri" pitchFamily="34" charset="-120"/>
              </a:rPr>
              <a:t>Parquet per market, queried by DuckDB (read_parquet)</a:t>
            </a:r>
            <a:endParaRPr lang="en-US" sz="1400" dirty="0"/>
          </a:p>
        </p:txBody>
      </p:sp>
      <p:sp>
        <p:nvSpPr>
          <p:cNvPr id="15" name="Shape 13"/>
          <p:cNvSpPr/>
          <p:nvPr/>
        </p:nvSpPr>
        <p:spPr>
          <a:xfrm>
            <a:off x="7772400" y="2468880"/>
            <a:ext cx="3840480" cy="868680"/>
          </a:xfrm>
          <a:prstGeom prst="roundRect">
            <a:avLst>
              <a:gd name="adj" fmla="val 8421"/>
            </a:avLst>
          </a:prstGeom>
          <a:solidFill>
            <a:srgbClr val="FFFFFF"/>
          </a:solidFill>
          <a:ln w="12700">
            <a:solidFill>
              <a:srgbClr val="C3CFDE"/>
            </a:solidFill>
            <a:prstDash val="solid"/>
          </a:ln>
        </p:spPr>
      </p:sp>
      <p:sp>
        <p:nvSpPr>
          <p:cNvPr id="16" name="Text 14"/>
          <p:cNvSpPr txBox="1"/>
          <p:nvPr/>
        </p:nvSpPr>
        <p:spPr>
          <a:xfrm>
            <a:off x="7882128" y="2468880"/>
            <a:ext cx="3621024" cy="868680"/>
          </a:xfrm>
          <a:prstGeom prst="rect">
            <a:avLst/>
          </a:prstGeom>
          <a:noFill/>
          <a:ln/>
        </p:spPr>
        <p:txBody>
          <a:bodyPr wrap="square" lIns="0" tIns="0" rIns="0" bIns="0" rtlCol="0" anchor="ctr"/>
          <a:lstStyle/>
          <a:p>
            <a:pPr indent="0" marL="0">
              <a:buNone/>
            </a:pPr>
            <a:r>
              <a:rPr lang="en-US" sz="1400" b="1" dirty="0">
                <a:solidFill>
                  <a:srgbClr val="0F1B2D"/>
                </a:solidFill>
                <a:latin typeface="Calibri" pitchFamily="34" charset="0"/>
                <a:ea typeface="Calibri" pitchFamily="34" charset="-122"/>
                <a:cs typeface="Calibri" pitchFamily="34" charset="-120"/>
              </a:rPr>
              <a:t>Business DB</a:t>
            </a:r>
            <a:endParaRPr lang="en-US" sz="1400" dirty="0"/>
          </a:p>
          <a:p>
            <a:pPr indent="0" marL="0">
              <a:buNone/>
            </a:pPr>
            <a:r>
              <a:rPr lang="en-US" sz="1050" dirty="0">
                <a:solidFill>
                  <a:srgbClr val="44546B"/>
                </a:solidFill>
                <a:latin typeface="Calibri" pitchFamily="34" charset="0"/>
                <a:ea typeface="Calibri" pitchFamily="34" charset="-122"/>
                <a:cs typeface="Calibri" pitchFamily="34" charset="-120"/>
              </a:rPr>
              <a:t>SQLAlchemy → SQLite (default) or PostgreSQL · 29 tables</a:t>
            </a:r>
            <a:endParaRPr lang="en-US" sz="1400" dirty="0"/>
          </a:p>
        </p:txBody>
      </p:sp>
      <p:sp>
        <p:nvSpPr>
          <p:cNvPr id="17" name="Shape 15"/>
          <p:cNvSpPr/>
          <p:nvPr/>
        </p:nvSpPr>
        <p:spPr>
          <a:xfrm>
            <a:off x="7772400" y="3474720"/>
            <a:ext cx="3840480" cy="868680"/>
          </a:xfrm>
          <a:prstGeom prst="roundRect">
            <a:avLst>
              <a:gd name="adj" fmla="val 8421"/>
            </a:avLst>
          </a:prstGeom>
          <a:solidFill>
            <a:srgbClr val="FFFFFF"/>
          </a:solidFill>
          <a:ln w="12700">
            <a:solidFill>
              <a:srgbClr val="C3CFDE"/>
            </a:solidFill>
            <a:prstDash val="solid"/>
          </a:ln>
        </p:spPr>
      </p:sp>
      <p:sp>
        <p:nvSpPr>
          <p:cNvPr id="18" name="Text 16"/>
          <p:cNvSpPr txBox="1"/>
          <p:nvPr/>
        </p:nvSpPr>
        <p:spPr>
          <a:xfrm>
            <a:off x="7882128" y="3474720"/>
            <a:ext cx="3621024" cy="868680"/>
          </a:xfrm>
          <a:prstGeom prst="rect">
            <a:avLst/>
          </a:prstGeom>
          <a:noFill/>
          <a:ln/>
        </p:spPr>
        <p:txBody>
          <a:bodyPr wrap="square" lIns="0" tIns="0" rIns="0" bIns="0" rtlCol="0" anchor="ctr"/>
          <a:lstStyle/>
          <a:p>
            <a:pPr indent="0" marL="0">
              <a:buNone/>
            </a:pPr>
            <a:r>
              <a:rPr lang="en-US" sz="1400" b="1" dirty="0">
                <a:solidFill>
                  <a:srgbClr val="0F1B2D"/>
                </a:solidFill>
                <a:latin typeface="Calibri" pitchFamily="34" charset="0"/>
                <a:ea typeface="Calibri" pitchFamily="34" charset="-122"/>
                <a:cs typeface="Calibri" pitchFamily="34" charset="-120"/>
              </a:rPr>
              <a:t>Knowledge graph</a:t>
            </a:r>
            <a:endParaRPr lang="en-US" sz="1400" dirty="0"/>
          </a:p>
          <a:p>
            <a:pPr indent="0" marL="0">
              <a:buNone/>
            </a:pPr>
            <a:r>
              <a:rPr lang="en-US" sz="1050" dirty="0">
                <a:solidFill>
                  <a:srgbClr val="44546B"/>
                </a:solidFill>
                <a:latin typeface="Calibri" pitchFamily="34" charset="0"/>
                <a:ea typeface="Calibri" pitchFamily="34" charset="-122"/>
                <a:cs typeface="Calibri" pitchFamily="34" charset="-120"/>
              </a:rPr>
              <a:t>NetworkX embedded, or Neo4j</a:t>
            </a:r>
            <a:endParaRPr lang="en-US" sz="1400" dirty="0"/>
          </a:p>
        </p:txBody>
      </p:sp>
      <p:sp>
        <p:nvSpPr>
          <p:cNvPr id="19" name="Shape 17"/>
          <p:cNvSpPr/>
          <p:nvPr/>
        </p:nvSpPr>
        <p:spPr>
          <a:xfrm>
            <a:off x="7772400" y="4480560"/>
            <a:ext cx="3840480" cy="868680"/>
          </a:xfrm>
          <a:prstGeom prst="roundRect">
            <a:avLst>
              <a:gd name="adj" fmla="val 8421"/>
            </a:avLst>
          </a:prstGeom>
          <a:solidFill>
            <a:srgbClr val="FFFFFF"/>
          </a:solidFill>
          <a:ln w="12700">
            <a:solidFill>
              <a:srgbClr val="C3CFDE"/>
            </a:solidFill>
            <a:prstDash val="solid"/>
          </a:ln>
        </p:spPr>
      </p:sp>
      <p:sp>
        <p:nvSpPr>
          <p:cNvPr id="20" name="Text 18"/>
          <p:cNvSpPr txBox="1"/>
          <p:nvPr/>
        </p:nvSpPr>
        <p:spPr>
          <a:xfrm>
            <a:off x="7882128" y="4480560"/>
            <a:ext cx="3621024" cy="868680"/>
          </a:xfrm>
          <a:prstGeom prst="rect">
            <a:avLst/>
          </a:prstGeom>
          <a:noFill/>
          <a:ln/>
        </p:spPr>
        <p:txBody>
          <a:bodyPr wrap="square" lIns="0" tIns="0" rIns="0" bIns="0" rtlCol="0" anchor="ctr"/>
          <a:lstStyle/>
          <a:p>
            <a:pPr indent="0" marL="0">
              <a:buNone/>
            </a:pPr>
            <a:r>
              <a:rPr lang="en-US" sz="1400" b="1" dirty="0">
                <a:solidFill>
                  <a:srgbClr val="0F1B2D"/>
                </a:solidFill>
                <a:latin typeface="Calibri" pitchFamily="34" charset="0"/>
                <a:ea typeface="Calibri" pitchFamily="34" charset="-122"/>
                <a:cs typeface="Calibri" pitchFamily="34" charset="-120"/>
              </a:rPr>
              <a:t>Vector store</a:t>
            </a:r>
            <a:endParaRPr lang="en-US" sz="1400" dirty="0"/>
          </a:p>
          <a:p>
            <a:pPr indent="0" marL="0">
              <a:buNone/>
            </a:pPr>
            <a:r>
              <a:rPr lang="en-US" sz="1050" dirty="0">
                <a:solidFill>
                  <a:srgbClr val="44546B"/>
                </a:solidFill>
                <a:latin typeface="Calibri" pitchFamily="34" charset="0"/>
                <a:ea typeface="Calibri" pitchFamily="34" charset="-122"/>
                <a:cs typeface="Calibri" pitchFamily="34" charset="-120"/>
              </a:rPr>
              <a:t>Qdrant local or server · offline hashing embeddings</a:t>
            </a:r>
            <a:endParaRPr lang="en-US" sz="1400" dirty="0"/>
          </a:p>
        </p:txBody>
      </p:sp>
      <p:sp>
        <p:nvSpPr>
          <p:cNvPr id="21" name="Shape 19"/>
          <p:cNvSpPr/>
          <p:nvPr/>
        </p:nvSpPr>
        <p:spPr>
          <a:xfrm>
            <a:off x="6949440" y="3474720"/>
            <a:ext cx="822960" cy="-1581912"/>
          </a:xfrm>
          <a:prstGeom prst="line">
            <a:avLst/>
          </a:prstGeom>
          <a:noFill/>
          <a:ln w="22225">
            <a:solidFill>
              <a:srgbClr val="0B7FA3"/>
            </a:solidFill>
            <a:prstDash val="solid"/>
            <a:tailEnd type="triangle"/>
          </a:ln>
        </p:spPr>
      </p:sp>
      <p:sp>
        <p:nvSpPr>
          <p:cNvPr id="22" name="Shape 20"/>
          <p:cNvSpPr/>
          <p:nvPr/>
        </p:nvSpPr>
        <p:spPr>
          <a:xfrm>
            <a:off x="6949440" y="3474720"/>
            <a:ext cx="822960" cy="-576072"/>
          </a:xfrm>
          <a:prstGeom prst="line">
            <a:avLst/>
          </a:prstGeom>
          <a:noFill/>
          <a:ln w="22225">
            <a:solidFill>
              <a:srgbClr val="0B7FA3"/>
            </a:solidFill>
            <a:prstDash val="solid"/>
            <a:tailEnd type="triangle"/>
          </a:ln>
        </p:spPr>
      </p:sp>
      <p:sp>
        <p:nvSpPr>
          <p:cNvPr id="23" name="Shape 21"/>
          <p:cNvSpPr/>
          <p:nvPr/>
        </p:nvSpPr>
        <p:spPr>
          <a:xfrm>
            <a:off x="6949440" y="3474720"/>
            <a:ext cx="822960" cy="429768"/>
          </a:xfrm>
          <a:prstGeom prst="line">
            <a:avLst/>
          </a:prstGeom>
          <a:noFill/>
          <a:ln w="22225">
            <a:solidFill>
              <a:srgbClr val="0B7FA3"/>
            </a:solidFill>
            <a:prstDash val="solid"/>
            <a:tailEnd type="triangle"/>
          </a:ln>
        </p:spPr>
      </p:sp>
      <p:sp>
        <p:nvSpPr>
          <p:cNvPr id="24" name="Shape 22"/>
          <p:cNvSpPr/>
          <p:nvPr/>
        </p:nvSpPr>
        <p:spPr>
          <a:xfrm>
            <a:off x="6949440" y="3474720"/>
            <a:ext cx="822960" cy="1435608"/>
          </a:xfrm>
          <a:prstGeom prst="line">
            <a:avLst/>
          </a:prstGeom>
          <a:noFill/>
          <a:ln w="22225">
            <a:solidFill>
              <a:srgbClr val="0B7FA3"/>
            </a:solidFill>
            <a:prstDash val="solid"/>
            <a:tailEnd type="triangle"/>
          </a:ln>
        </p:spPr>
      </p:sp>
      <p:sp>
        <p:nvSpPr>
          <p:cNvPr id="25" name="Shape 23"/>
          <p:cNvSpPr/>
          <p:nvPr/>
        </p:nvSpPr>
        <p:spPr>
          <a:xfrm>
            <a:off x="3931920" y="4800600"/>
            <a:ext cx="3017520" cy="1005840"/>
          </a:xfrm>
          <a:prstGeom prst="roundRect">
            <a:avLst>
              <a:gd name="adj" fmla="val 7273"/>
            </a:avLst>
          </a:prstGeom>
          <a:solidFill>
            <a:srgbClr val="FFF3DA"/>
          </a:solidFill>
          <a:ln w="12700">
            <a:solidFill>
              <a:srgbClr val="C3CFDE"/>
            </a:solidFill>
            <a:prstDash val="solid"/>
          </a:ln>
        </p:spPr>
      </p:sp>
      <p:sp>
        <p:nvSpPr>
          <p:cNvPr id="26" name="Text 24"/>
          <p:cNvSpPr txBox="1"/>
          <p:nvPr/>
        </p:nvSpPr>
        <p:spPr>
          <a:xfrm>
            <a:off x="4041648" y="4800600"/>
            <a:ext cx="2798064" cy="1005840"/>
          </a:xfrm>
          <a:prstGeom prst="rect">
            <a:avLst/>
          </a:prstGeom>
          <a:noFill/>
          <a:ln/>
        </p:spPr>
        <p:txBody>
          <a:bodyPr wrap="square" lIns="0" tIns="0" rIns="0" bIns="0" rtlCol="0" anchor="ctr"/>
          <a:lstStyle/>
          <a:p>
            <a:pPr indent="0" marL="0">
              <a:buNone/>
            </a:pPr>
            <a:r>
              <a:rPr lang="en-US" sz="1400" b="1" dirty="0">
                <a:solidFill>
                  <a:srgbClr val="0F1B2D"/>
                </a:solidFill>
                <a:latin typeface="Calibri" pitchFamily="34" charset="0"/>
                <a:ea typeface="Calibri" pitchFamily="34" charset="-122"/>
                <a:cs typeface="Calibri" pitchFamily="34" charset="-120"/>
              </a:rPr>
              <a:t>Processing pipeline</a:t>
            </a:r>
            <a:endParaRPr lang="en-US" sz="1400" dirty="0"/>
          </a:p>
          <a:p>
            <a:pPr indent="0" marL="0">
              <a:buNone/>
            </a:pPr>
            <a:r>
              <a:rPr lang="en-US" sz="1050" dirty="0">
                <a:solidFill>
                  <a:srgbClr val="44546B"/>
                </a:solidFill>
                <a:latin typeface="Calibri" pitchFamily="34" charset="0"/>
                <a:ea typeface="Calibri" pitchFamily="34" charset="-122"/>
                <a:cs typeface="Calibri" pitchFamily="34" charset="-120"/>
              </a:rPr>
              <a:t>runner.py · 20+ stages · thread or queue worker</a:t>
            </a:r>
            <a:endParaRPr lang="en-US" sz="1400" dirty="0"/>
          </a:p>
        </p:txBody>
      </p:sp>
      <p:sp>
        <p:nvSpPr>
          <p:cNvPr id="27" name="Shape 25"/>
          <p:cNvSpPr/>
          <p:nvPr/>
        </p:nvSpPr>
        <p:spPr>
          <a:xfrm>
            <a:off x="5440680" y="4800600"/>
            <a:ext cx="0" cy="-685800"/>
          </a:xfrm>
          <a:prstGeom prst="line">
            <a:avLst/>
          </a:prstGeom>
          <a:noFill/>
          <a:ln w="22225">
            <a:solidFill>
              <a:srgbClr val="0B7FA3"/>
            </a:solidFill>
            <a:prstDash val="solid"/>
            <a:tailEnd type="triangle"/>
          </a:ln>
        </p:spPr>
      </p:sp>
      <p:sp>
        <p:nvSpPr>
          <p:cNvPr id="28" name="Shape 26"/>
          <p:cNvSpPr/>
          <p:nvPr/>
        </p:nvSpPr>
        <p:spPr>
          <a:xfrm>
            <a:off x="548640" y="4800600"/>
            <a:ext cx="2651760" cy="1005840"/>
          </a:xfrm>
          <a:prstGeom prst="roundRect">
            <a:avLst>
              <a:gd name="adj" fmla="val 7273"/>
            </a:avLst>
          </a:prstGeom>
          <a:solidFill>
            <a:srgbClr val="F1ECFF"/>
          </a:solidFill>
          <a:ln w="12700">
            <a:solidFill>
              <a:srgbClr val="C3CFDE"/>
            </a:solidFill>
            <a:prstDash val="solid"/>
          </a:ln>
        </p:spPr>
      </p:sp>
      <p:sp>
        <p:nvSpPr>
          <p:cNvPr id="29" name="Text 27"/>
          <p:cNvSpPr txBox="1"/>
          <p:nvPr/>
        </p:nvSpPr>
        <p:spPr>
          <a:xfrm>
            <a:off x="658368" y="4800600"/>
            <a:ext cx="2432304" cy="1005840"/>
          </a:xfrm>
          <a:prstGeom prst="rect">
            <a:avLst/>
          </a:prstGeom>
          <a:noFill/>
          <a:ln/>
        </p:spPr>
        <p:txBody>
          <a:bodyPr wrap="square" lIns="0" tIns="0" rIns="0" bIns="0" rtlCol="0" anchor="ctr"/>
          <a:lstStyle/>
          <a:p>
            <a:pPr indent="0" marL="0">
              <a:buNone/>
            </a:pPr>
            <a:r>
              <a:rPr lang="en-US" sz="1400" b="1" dirty="0">
                <a:solidFill>
                  <a:srgbClr val="0F1B2D"/>
                </a:solidFill>
                <a:latin typeface="Calibri" pitchFamily="34" charset="0"/>
                <a:ea typeface="Calibri" pitchFamily="34" charset="-122"/>
                <a:cs typeface="Calibri" pitchFamily="34" charset="-120"/>
              </a:rPr>
              <a:t>Gemini (optional)</a:t>
            </a:r>
            <a:endParaRPr lang="en-US" sz="1400" dirty="0"/>
          </a:p>
          <a:p>
            <a:pPr indent="0" marL="0">
              <a:buNone/>
            </a:pPr>
            <a:r>
              <a:rPr lang="en-US" sz="1050" dirty="0">
                <a:solidFill>
                  <a:srgbClr val="44546B"/>
                </a:solidFill>
                <a:latin typeface="Calibri" pitchFamily="34" charset="0"/>
                <a:ea typeface="Calibri" pitchFamily="34" charset="-122"/>
                <a:cs typeface="Calibri" pitchFamily="34" charset="-120"/>
              </a:rPr>
              <a:t>rephrases computed facts only</a:t>
            </a:r>
            <a:endParaRPr lang="en-US" sz="1400" dirty="0"/>
          </a:p>
        </p:txBody>
      </p:sp>
      <p:sp>
        <p:nvSpPr>
          <p:cNvPr id="30" name="Shape 28"/>
          <p:cNvSpPr/>
          <p:nvPr/>
        </p:nvSpPr>
        <p:spPr>
          <a:xfrm>
            <a:off x="3200400" y="5303520"/>
            <a:ext cx="731520" cy="0"/>
          </a:xfrm>
          <a:prstGeom prst="line">
            <a:avLst/>
          </a:prstGeom>
          <a:noFill/>
          <a:ln w="22225">
            <a:solidFill>
              <a:srgbClr val="0B7FA3"/>
            </a:solidFill>
            <a:prstDash val="solid"/>
            <a:tailEnd type="triangle"/>
          </a:ln>
        </p:spPr>
      </p:sp>
      <p:sp>
        <p:nvSpPr>
          <p:cNvPr id="31" name="Text 29"/>
          <p:cNvSpPr txBox="1"/>
          <p:nvPr/>
        </p:nvSpPr>
        <p:spPr>
          <a:xfrm>
            <a:off x="548640" y="6035040"/>
            <a:ext cx="11064240" cy="365760"/>
          </a:xfrm>
          <a:prstGeom prst="rect">
            <a:avLst/>
          </a:prstGeom>
          <a:noFill/>
          <a:ln/>
        </p:spPr>
        <p:txBody>
          <a:bodyPr wrap="square" lIns="0" tIns="0" rIns="0" bIns="0" rtlCol="0" anchor="ctr"/>
          <a:lstStyle/>
          <a:p>
            <a:pPr indent="0" marL="0">
              <a:buNone/>
            </a:pPr>
            <a:r>
              <a:rPr lang="en-US" sz="1200" i="1" dirty="0">
                <a:solidFill>
                  <a:srgbClr val="44546B"/>
                </a:solidFill>
                <a:latin typeface="Calibri" pitchFamily="34" charset="0"/>
                <a:ea typeface="Calibri" pitchFamily="34" charset="-122"/>
                <a:cs typeface="Calibri" pitchFamily="34" charset="-120"/>
              </a:rPr>
              <a:t>Everything runs offline on a laptop; each server-grade store is switched on by one environment variable (DIP_POSTGRES_URL, DIP_NEO4J_URI, DIP_QDRANT_URL).</a:t>
            </a:r>
            <a:endParaRPr lang="en-US" sz="1200" dirty="0"/>
          </a:p>
        </p:txBody>
      </p:sp>
      <p:sp>
        <p:nvSpPr>
          <p:cNvPr id="32" name="Text 30"/>
          <p:cNvSpPr txBox="1"/>
          <p:nvPr/>
        </p:nvSpPr>
        <p:spPr>
          <a:xfrm>
            <a:off x="10332720" y="6446520"/>
            <a:ext cx="1371600" cy="228600"/>
          </a:xfrm>
          <a:prstGeom prst="rect">
            <a:avLst/>
          </a:prstGeom>
          <a:noFill/>
          <a:ln/>
        </p:spPr>
        <p:txBody>
          <a:bodyPr wrap="square" lIns="0" tIns="0" rIns="0" bIns="0" rtlCol="0" anchor="ctr"/>
          <a:lstStyle/>
          <a:p>
            <a:pPr algn="r" indent="0" marL="0">
              <a:buNone/>
            </a:pPr>
            <a:r>
              <a:rPr lang="en-US" sz="900" dirty="0">
                <a:solidFill>
                  <a:srgbClr val="8A98AD"/>
                </a:solidFill>
                <a:latin typeface="Calibri" pitchFamily="34" charset="0"/>
                <a:ea typeface="Calibri" pitchFamily="34" charset="-122"/>
                <a:cs typeface="Calibri" pitchFamily="34" charset="-120"/>
              </a:rPr>
              <a:t>DMIS ·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274320"/>
          </a:xfrm>
          <a:prstGeom prst="rect">
            <a:avLst/>
          </a:prstGeom>
          <a:noFill/>
          <a:ln/>
        </p:spPr>
        <p:txBody>
          <a:bodyPr wrap="square" lIns="0" tIns="0" rIns="0" bIns="0" rtlCol="0" anchor="ctr"/>
          <a:lstStyle/>
          <a:p>
            <a:pPr indent="0" marL="0">
              <a:buNone/>
            </a:pPr>
            <a:r>
              <a:rPr lang="en-US" sz="1100" b="1" spc="300" kern="0" dirty="0">
                <a:solidFill>
                  <a:srgbClr val="38D6FF"/>
                </a:solidFill>
                <a:latin typeface="Calibri" pitchFamily="34" charset="0"/>
                <a:ea typeface="Calibri" pitchFamily="34" charset="-122"/>
                <a:cs typeface="Calibri" pitchFamily="34" charset="-120"/>
              </a:rPr>
              <a:t>DATA PIPELINE</a:t>
            </a:r>
            <a:endParaRPr lang="en-US" sz="1100" dirty="0"/>
          </a:p>
        </p:txBody>
      </p:sp>
      <p:sp>
        <p:nvSpPr>
          <p:cNvPr id="3" name="Text 1"/>
          <p:cNvSpPr txBox="1"/>
          <p:nvPr/>
        </p:nvSpPr>
        <p:spPr>
          <a:xfrm>
            <a:off x="548640" y="685800"/>
            <a:ext cx="11064240" cy="685800"/>
          </a:xfrm>
          <a:prstGeom prst="rect">
            <a:avLst/>
          </a:prstGeom>
          <a:noFill/>
          <a:ln/>
        </p:spPr>
        <p:txBody>
          <a:bodyPr wrap="square" lIns="0" tIns="0" rIns="0" bIns="0" rtlCol="0" anchor="ctr"/>
          <a:lstStyle/>
          <a:p>
            <a:pPr indent="0" marL="0">
              <a:buNone/>
            </a:pPr>
            <a:r>
              <a:rPr lang="en-US" sz="3200" b="1" dirty="0">
                <a:solidFill>
                  <a:srgbClr val="E6EEFB"/>
                </a:solidFill>
                <a:latin typeface="Cambria" pitchFamily="34" charset="0"/>
                <a:ea typeface="Cambria" pitchFamily="34" charset="-122"/>
                <a:cs typeface="Cambria" pitchFamily="34" charset="-120"/>
              </a:rPr>
              <a:t>One upload, twenty stages, nothing dropped</a:t>
            </a:r>
            <a:endParaRPr lang="en-US" sz="3200" dirty="0"/>
          </a:p>
        </p:txBody>
      </p:sp>
      <p:sp>
        <p:nvSpPr>
          <p:cNvPr id="4" name="Shape 2"/>
          <p:cNvSpPr/>
          <p:nvPr/>
        </p:nvSpPr>
        <p:spPr>
          <a:xfrm>
            <a:off x="548640" y="1691640"/>
            <a:ext cx="3566160" cy="1234440"/>
          </a:xfrm>
          <a:prstGeom prst="roundRect">
            <a:avLst>
              <a:gd name="adj" fmla="val 5926"/>
            </a:avLst>
          </a:prstGeom>
          <a:solidFill>
            <a:srgbClr val="111C2E"/>
          </a:solidFill>
          <a:ln w="12700">
            <a:solidFill>
              <a:srgbClr val="1F3150"/>
            </a:solidFill>
            <a:prstDash val="solid"/>
          </a:ln>
        </p:spPr>
      </p:sp>
      <p:sp>
        <p:nvSpPr>
          <p:cNvPr id="5" name="Shape 3"/>
          <p:cNvSpPr/>
          <p:nvPr/>
        </p:nvSpPr>
        <p:spPr>
          <a:xfrm>
            <a:off x="731520" y="1892808"/>
            <a:ext cx="384048" cy="384048"/>
          </a:xfrm>
          <a:prstGeom prst="ellipse">
            <a:avLst/>
          </a:prstGeom>
          <a:solidFill>
            <a:srgbClr val="38D6FF"/>
          </a:solidFill>
          <a:ln w="12700">
            <a:solidFill>
              <a:srgbClr val="38D6FF"/>
            </a:solidFill>
            <a:prstDash val="solid"/>
          </a:ln>
        </p:spPr>
      </p:sp>
      <p:sp>
        <p:nvSpPr>
          <p:cNvPr id="6" name="Text 4"/>
          <p:cNvSpPr txBox="1"/>
          <p:nvPr/>
        </p:nvSpPr>
        <p:spPr>
          <a:xfrm>
            <a:off x="731520" y="1892808"/>
            <a:ext cx="384048" cy="384048"/>
          </a:xfrm>
          <a:prstGeom prst="rect">
            <a:avLst/>
          </a:prstGeom>
          <a:noFill/>
          <a:ln/>
        </p:spPr>
        <p:txBody>
          <a:bodyPr wrap="square" lIns="0" tIns="0" rIns="0" bIns="0" rtlCol="0" anchor="ctr"/>
          <a:lstStyle/>
          <a:p>
            <a:pPr algn="ctr" indent="0" marL="0">
              <a:buNone/>
            </a:pPr>
            <a:r>
              <a:rPr lang="en-US" sz="1300" b="1" dirty="0">
                <a:solidFill>
                  <a:srgbClr val="0A1220"/>
                </a:solidFill>
                <a:latin typeface="Cambria" pitchFamily="34" charset="0"/>
                <a:ea typeface="Cambria" pitchFamily="34" charset="-122"/>
                <a:cs typeface="Cambria" pitchFamily="34" charset="-120"/>
              </a:rPr>
              <a:t>1</a:t>
            </a:r>
            <a:endParaRPr lang="en-US" sz="1300" dirty="0"/>
          </a:p>
        </p:txBody>
      </p:sp>
      <p:sp>
        <p:nvSpPr>
          <p:cNvPr id="7" name="Text 5"/>
          <p:cNvSpPr txBox="1"/>
          <p:nvPr/>
        </p:nvSpPr>
        <p:spPr>
          <a:xfrm>
            <a:off x="1261872" y="1856232"/>
            <a:ext cx="2743200" cy="411480"/>
          </a:xfrm>
          <a:prstGeom prst="rect">
            <a:avLst/>
          </a:prstGeom>
          <a:noFill/>
          <a:ln/>
        </p:spPr>
        <p:txBody>
          <a:bodyPr wrap="square" lIns="0" tIns="0" rIns="0" bIns="0" rtlCol="0" anchor="ctr"/>
          <a:lstStyle/>
          <a:p>
            <a:pPr indent="0" marL="0">
              <a:buNone/>
            </a:pPr>
            <a:r>
              <a:rPr lang="en-US" sz="1500" b="1" dirty="0">
                <a:solidFill>
                  <a:srgbClr val="E6EEFB"/>
                </a:solidFill>
                <a:latin typeface="Cambria" pitchFamily="34" charset="0"/>
                <a:ea typeface="Cambria" pitchFamily="34" charset="-122"/>
                <a:cs typeface="Cambria" pitchFamily="34" charset="-120"/>
              </a:rPr>
              <a:t>Ingest</a:t>
            </a:r>
            <a:endParaRPr lang="en-US" sz="1500" dirty="0"/>
          </a:p>
        </p:txBody>
      </p:sp>
      <p:sp>
        <p:nvSpPr>
          <p:cNvPr id="8" name="Text 6"/>
          <p:cNvSpPr txBox="1"/>
          <p:nvPr/>
        </p:nvSpPr>
        <p:spPr>
          <a:xfrm>
            <a:off x="731520" y="2350008"/>
            <a:ext cx="3246120" cy="530352"/>
          </a:xfrm>
          <a:prstGeom prst="rect">
            <a:avLst/>
          </a:prstGeom>
          <a:noFill/>
          <a:ln/>
        </p:spPr>
        <p:txBody>
          <a:bodyPr wrap="square" lIns="0" tIns="0" rIns="0" bIns="0" rtlCol="0" anchor="t"/>
          <a:lstStyle/>
          <a:p>
            <a:pPr indent="0" marL="0">
              <a:buNone/>
            </a:pPr>
            <a:r>
              <a:rPr lang="en-US" sz="1100" dirty="0">
                <a:solidFill>
                  <a:srgbClr val="A9BAD3"/>
                </a:solidFill>
                <a:latin typeface="Calibri" pitchFamily="34" charset="0"/>
                <a:ea typeface="Calibri" pitchFamily="34" charset="-122"/>
                <a:cs typeface="Calibri" pitchFamily="34" charset="-120"/>
              </a:rPr>
              <a:t>Excel / CSV / JSON; columns auto-detected (Chinese headers too); Polars streaming</a:t>
            </a:r>
            <a:endParaRPr lang="en-US" sz="1100" dirty="0"/>
          </a:p>
        </p:txBody>
      </p:sp>
      <p:sp>
        <p:nvSpPr>
          <p:cNvPr id="9" name="Shape 7"/>
          <p:cNvSpPr/>
          <p:nvPr/>
        </p:nvSpPr>
        <p:spPr>
          <a:xfrm>
            <a:off x="4343400" y="1691640"/>
            <a:ext cx="3566160" cy="1234440"/>
          </a:xfrm>
          <a:prstGeom prst="roundRect">
            <a:avLst>
              <a:gd name="adj" fmla="val 5926"/>
            </a:avLst>
          </a:prstGeom>
          <a:solidFill>
            <a:srgbClr val="111C2E"/>
          </a:solidFill>
          <a:ln w="12700">
            <a:solidFill>
              <a:srgbClr val="1F3150"/>
            </a:solidFill>
            <a:prstDash val="solid"/>
          </a:ln>
        </p:spPr>
      </p:sp>
      <p:sp>
        <p:nvSpPr>
          <p:cNvPr id="10" name="Shape 8"/>
          <p:cNvSpPr/>
          <p:nvPr/>
        </p:nvSpPr>
        <p:spPr>
          <a:xfrm>
            <a:off x="4526280" y="1892808"/>
            <a:ext cx="384048" cy="384048"/>
          </a:xfrm>
          <a:prstGeom prst="ellipse">
            <a:avLst/>
          </a:prstGeom>
          <a:solidFill>
            <a:srgbClr val="38D6FF"/>
          </a:solidFill>
          <a:ln w="12700">
            <a:solidFill>
              <a:srgbClr val="38D6FF"/>
            </a:solidFill>
            <a:prstDash val="solid"/>
          </a:ln>
        </p:spPr>
      </p:sp>
      <p:sp>
        <p:nvSpPr>
          <p:cNvPr id="11" name="Text 9"/>
          <p:cNvSpPr txBox="1"/>
          <p:nvPr/>
        </p:nvSpPr>
        <p:spPr>
          <a:xfrm>
            <a:off x="4526280" y="1892808"/>
            <a:ext cx="384048" cy="384048"/>
          </a:xfrm>
          <a:prstGeom prst="rect">
            <a:avLst/>
          </a:prstGeom>
          <a:noFill/>
          <a:ln/>
        </p:spPr>
        <p:txBody>
          <a:bodyPr wrap="square" lIns="0" tIns="0" rIns="0" bIns="0" rtlCol="0" anchor="ctr"/>
          <a:lstStyle/>
          <a:p>
            <a:pPr algn="ctr" indent="0" marL="0">
              <a:buNone/>
            </a:pPr>
            <a:r>
              <a:rPr lang="en-US" sz="1300" b="1" dirty="0">
                <a:solidFill>
                  <a:srgbClr val="0A1220"/>
                </a:solidFill>
                <a:latin typeface="Cambria" pitchFamily="34" charset="0"/>
                <a:ea typeface="Cambria" pitchFamily="34" charset="-122"/>
                <a:cs typeface="Cambria" pitchFamily="34" charset="-120"/>
              </a:rPr>
              <a:t>2</a:t>
            </a:r>
            <a:endParaRPr lang="en-US" sz="1300" dirty="0"/>
          </a:p>
        </p:txBody>
      </p:sp>
      <p:sp>
        <p:nvSpPr>
          <p:cNvPr id="12" name="Text 10"/>
          <p:cNvSpPr txBox="1"/>
          <p:nvPr/>
        </p:nvSpPr>
        <p:spPr>
          <a:xfrm>
            <a:off x="5056632" y="1856232"/>
            <a:ext cx="2743200" cy="411480"/>
          </a:xfrm>
          <a:prstGeom prst="rect">
            <a:avLst/>
          </a:prstGeom>
          <a:noFill/>
          <a:ln/>
        </p:spPr>
        <p:txBody>
          <a:bodyPr wrap="square" lIns="0" tIns="0" rIns="0" bIns="0" rtlCol="0" anchor="ctr"/>
          <a:lstStyle/>
          <a:p>
            <a:pPr indent="0" marL="0">
              <a:buNone/>
            </a:pPr>
            <a:r>
              <a:rPr lang="en-US" sz="1500" b="1" dirty="0">
                <a:solidFill>
                  <a:srgbClr val="E6EEFB"/>
                </a:solidFill>
                <a:latin typeface="Cambria" pitchFamily="34" charset="0"/>
                <a:ea typeface="Cambria" pitchFamily="34" charset="-122"/>
                <a:cs typeface="Cambria" pitchFamily="34" charset="-120"/>
              </a:rPr>
              <a:t>Clean</a:t>
            </a:r>
            <a:endParaRPr lang="en-US" sz="1500" dirty="0"/>
          </a:p>
        </p:txBody>
      </p:sp>
      <p:sp>
        <p:nvSpPr>
          <p:cNvPr id="13" name="Text 11"/>
          <p:cNvSpPr txBox="1"/>
          <p:nvPr/>
        </p:nvSpPr>
        <p:spPr>
          <a:xfrm>
            <a:off x="4526280" y="2350008"/>
            <a:ext cx="3246120" cy="530352"/>
          </a:xfrm>
          <a:prstGeom prst="rect">
            <a:avLst/>
          </a:prstGeom>
          <a:noFill/>
          <a:ln/>
        </p:spPr>
        <p:txBody>
          <a:bodyPr wrap="square" lIns="0" tIns="0" rIns="0" bIns="0" rtlCol="0" anchor="t"/>
          <a:lstStyle/>
          <a:p>
            <a:pPr indent="0" marL="0">
              <a:buNone/>
            </a:pPr>
            <a:r>
              <a:rPr lang="en-US" sz="1100" dirty="0">
                <a:solidFill>
                  <a:srgbClr val="A9BAD3"/>
                </a:solidFill>
                <a:latin typeface="Calibri" pitchFamily="34" charset="0"/>
                <a:ea typeface="Calibri" pitchFamily="34" charset="-122"/>
                <a:cs typeface="Calibri" pitchFamily="34" charset="-120"/>
              </a:rPr>
              <a:t>validate price, rating, dates; flag issues — never delete</a:t>
            </a:r>
            <a:endParaRPr lang="en-US" sz="1100" dirty="0"/>
          </a:p>
        </p:txBody>
      </p:sp>
      <p:sp>
        <p:nvSpPr>
          <p:cNvPr id="14" name="Shape 12"/>
          <p:cNvSpPr/>
          <p:nvPr/>
        </p:nvSpPr>
        <p:spPr>
          <a:xfrm>
            <a:off x="8138160" y="1691640"/>
            <a:ext cx="3566160" cy="1234440"/>
          </a:xfrm>
          <a:prstGeom prst="roundRect">
            <a:avLst>
              <a:gd name="adj" fmla="val 5926"/>
            </a:avLst>
          </a:prstGeom>
          <a:solidFill>
            <a:srgbClr val="111C2E"/>
          </a:solidFill>
          <a:ln w="12700">
            <a:solidFill>
              <a:srgbClr val="1F3150"/>
            </a:solidFill>
            <a:prstDash val="solid"/>
          </a:ln>
        </p:spPr>
      </p:sp>
      <p:sp>
        <p:nvSpPr>
          <p:cNvPr id="15" name="Shape 13"/>
          <p:cNvSpPr/>
          <p:nvPr/>
        </p:nvSpPr>
        <p:spPr>
          <a:xfrm>
            <a:off x="8321040" y="1892808"/>
            <a:ext cx="384048" cy="384048"/>
          </a:xfrm>
          <a:prstGeom prst="ellipse">
            <a:avLst/>
          </a:prstGeom>
          <a:solidFill>
            <a:srgbClr val="38D6FF"/>
          </a:solidFill>
          <a:ln w="12700">
            <a:solidFill>
              <a:srgbClr val="38D6FF"/>
            </a:solidFill>
            <a:prstDash val="solid"/>
          </a:ln>
        </p:spPr>
      </p:sp>
      <p:sp>
        <p:nvSpPr>
          <p:cNvPr id="16" name="Text 14"/>
          <p:cNvSpPr txBox="1"/>
          <p:nvPr/>
        </p:nvSpPr>
        <p:spPr>
          <a:xfrm>
            <a:off x="8321040" y="1892808"/>
            <a:ext cx="384048" cy="384048"/>
          </a:xfrm>
          <a:prstGeom prst="rect">
            <a:avLst/>
          </a:prstGeom>
          <a:noFill/>
          <a:ln/>
        </p:spPr>
        <p:txBody>
          <a:bodyPr wrap="square" lIns="0" tIns="0" rIns="0" bIns="0" rtlCol="0" anchor="ctr"/>
          <a:lstStyle/>
          <a:p>
            <a:pPr algn="ctr" indent="0" marL="0">
              <a:buNone/>
            </a:pPr>
            <a:r>
              <a:rPr lang="en-US" sz="1300" b="1" dirty="0">
                <a:solidFill>
                  <a:srgbClr val="0A1220"/>
                </a:solidFill>
                <a:latin typeface="Cambria" pitchFamily="34" charset="0"/>
                <a:ea typeface="Cambria" pitchFamily="34" charset="-122"/>
                <a:cs typeface="Cambria" pitchFamily="34" charset="-120"/>
              </a:rPr>
              <a:t>3</a:t>
            </a:r>
            <a:endParaRPr lang="en-US" sz="1300" dirty="0"/>
          </a:p>
        </p:txBody>
      </p:sp>
      <p:sp>
        <p:nvSpPr>
          <p:cNvPr id="17" name="Text 15"/>
          <p:cNvSpPr txBox="1"/>
          <p:nvPr/>
        </p:nvSpPr>
        <p:spPr>
          <a:xfrm>
            <a:off x="8851392" y="1856232"/>
            <a:ext cx="2743200" cy="411480"/>
          </a:xfrm>
          <a:prstGeom prst="rect">
            <a:avLst/>
          </a:prstGeom>
          <a:noFill/>
          <a:ln/>
        </p:spPr>
        <p:txBody>
          <a:bodyPr wrap="square" lIns="0" tIns="0" rIns="0" bIns="0" rtlCol="0" anchor="ctr"/>
          <a:lstStyle/>
          <a:p>
            <a:pPr indent="0" marL="0">
              <a:buNone/>
            </a:pPr>
            <a:r>
              <a:rPr lang="en-US" sz="1500" b="1" dirty="0">
                <a:solidFill>
                  <a:srgbClr val="E6EEFB"/>
                </a:solidFill>
                <a:latin typeface="Cambria" pitchFamily="34" charset="0"/>
                <a:ea typeface="Cambria" pitchFamily="34" charset="-122"/>
                <a:cs typeface="Cambria" pitchFamily="34" charset="-120"/>
              </a:rPr>
              <a:t>Relevance</a:t>
            </a:r>
            <a:endParaRPr lang="en-US" sz="1500" dirty="0"/>
          </a:p>
        </p:txBody>
      </p:sp>
      <p:sp>
        <p:nvSpPr>
          <p:cNvPr id="18" name="Text 16"/>
          <p:cNvSpPr txBox="1"/>
          <p:nvPr/>
        </p:nvSpPr>
        <p:spPr>
          <a:xfrm>
            <a:off x="8321040" y="2350008"/>
            <a:ext cx="3246120" cy="530352"/>
          </a:xfrm>
          <a:prstGeom prst="rect">
            <a:avLst/>
          </a:prstGeom>
          <a:noFill/>
          <a:ln/>
        </p:spPr>
        <p:txBody>
          <a:bodyPr wrap="square" lIns="0" tIns="0" rIns="0" bIns="0" rtlCol="0" anchor="t"/>
          <a:lstStyle/>
          <a:p>
            <a:pPr indent="0" marL="0">
              <a:buNone/>
            </a:pPr>
            <a:r>
              <a:rPr lang="en-US" sz="1100" dirty="0">
                <a:solidFill>
                  <a:srgbClr val="A9BAD3"/>
                </a:solidFill>
                <a:latin typeface="Calibri" pitchFamily="34" charset="0"/>
                <a:ea typeface="Calibri" pitchFamily="34" charset="-122"/>
                <a:cs typeface="Calibri" pitchFamily="34" charset="-120"/>
              </a:rPr>
              <a:t>category rules from categories.yaml (+ XGBoost); uncertain → review queue</a:t>
            </a:r>
            <a:endParaRPr lang="en-US" sz="1100" dirty="0"/>
          </a:p>
        </p:txBody>
      </p:sp>
      <p:sp>
        <p:nvSpPr>
          <p:cNvPr id="19" name="Shape 17"/>
          <p:cNvSpPr/>
          <p:nvPr/>
        </p:nvSpPr>
        <p:spPr>
          <a:xfrm>
            <a:off x="548640" y="3108960"/>
            <a:ext cx="3566160" cy="1234440"/>
          </a:xfrm>
          <a:prstGeom prst="roundRect">
            <a:avLst>
              <a:gd name="adj" fmla="val 5926"/>
            </a:avLst>
          </a:prstGeom>
          <a:solidFill>
            <a:srgbClr val="111C2E"/>
          </a:solidFill>
          <a:ln w="12700">
            <a:solidFill>
              <a:srgbClr val="1F3150"/>
            </a:solidFill>
            <a:prstDash val="solid"/>
          </a:ln>
        </p:spPr>
      </p:sp>
      <p:sp>
        <p:nvSpPr>
          <p:cNvPr id="20" name="Shape 18"/>
          <p:cNvSpPr/>
          <p:nvPr/>
        </p:nvSpPr>
        <p:spPr>
          <a:xfrm>
            <a:off x="731520" y="3310128"/>
            <a:ext cx="384048" cy="384048"/>
          </a:xfrm>
          <a:prstGeom prst="ellipse">
            <a:avLst/>
          </a:prstGeom>
          <a:solidFill>
            <a:srgbClr val="38D6FF"/>
          </a:solidFill>
          <a:ln w="12700">
            <a:solidFill>
              <a:srgbClr val="38D6FF"/>
            </a:solidFill>
            <a:prstDash val="solid"/>
          </a:ln>
        </p:spPr>
      </p:sp>
      <p:sp>
        <p:nvSpPr>
          <p:cNvPr id="21" name="Text 19"/>
          <p:cNvSpPr txBox="1"/>
          <p:nvPr/>
        </p:nvSpPr>
        <p:spPr>
          <a:xfrm>
            <a:off x="731520" y="3310128"/>
            <a:ext cx="384048" cy="384048"/>
          </a:xfrm>
          <a:prstGeom prst="rect">
            <a:avLst/>
          </a:prstGeom>
          <a:noFill/>
          <a:ln/>
        </p:spPr>
        <p:txBody>
          <a:bodyPr wrap="square" lIns="0" tIns="0" rIns="0" bIns="0" rtlCol="0" anchor="ctr"/>
          <a:lstStyle/>
          <a:p>
            <a:pPr algn="ctr" indent="0" marL="0">
              <a:buNone/>
            </a:pPr>
            <a:r>
              <a:rPr lang="en-US" sz="1300" b="1" dirty="0">
                <a:solidFill>
                  <a:srgbClr val="0A1220"/>
                </a:solidFill>
                <a:latin typeface="Cambria" pitchFamily="34" charset="0"/>
                <a:ea typeface="Cambria" pitchFamily="34" charset="-122"/>
                <a:cs typeface="Cambria" pitchFamily="34" charset="-120"/>
              </a:rPr>
              <a:t>4</a:t>
            </a:r>
            <a:endParaRPr lang="en-US" sz="1300" dirty="0"/>
          </a:p>
        </p:txBody>
      </p:sp>
      <p:sp>
        <p:nvSpPr>
          <p:cNvPr id="22" name="Text 20"/>
          <p:cNvSpPr txBox="1"/>
          <p:nvPr/>
        </p:nvSpPr>
        <p:spPr>
          <a:xfrm>
            <a:off x="1261872" y="3273552"/>
            <a:ext cx="2743200" cy="411480"/>
          </a:xfrm>
          <a:prstGeom prst="rect">
            <a:avLst/>
          </a:prstGeom>
          <a:noFill/>
          <a:ln/>
        </p:spPr>
        <p:txBody>
          <a:bodyPr wrap="square" lIns="0" tIns="0" rIns="0" bIns="0" rtlCol="0" anchor="ctr"/>
          <a:lstStyle/>
          <a:p>
            <a:pPr indent="0" marL="0">
              <a:buNone/>
            </a:pPr>
            <a:r>
              <a:rPr lang="en-US" sz="1500" b="1" dirty="0">
                <a:solidFill>
                  <a:srgbClr val="E6EEFB"/>
                </a:solidFill>
                <a:latin typeface="Cambria" pitchFamily="34" charset="0"/>
                <a:ea typeface="Cambria" pitchFamily="34" charset="-122"/>
                <a:cs typeface="Cambria" pitchFamily="34" charset="-120"/>
              </a:rPr>
              <a:t>Scope &amp; segment</a:t>
            </a:r>
            <a:endParaRPr lang="en-US" sz="1500" dirty="0"/>
          </a:p>
        </p:txBody>
      </p:sp>
      <p:sp>
        <p:nvSpPr>
          <p:cNvPr id="23" name="Text 21"/>
          <p:cNvSpPr txBox="1"/>
          <p:nvPr/>
        </p:nvSpPr>
        <p:spPr>
          <a:xfrm>
            <a:off x="731520" y="3767328"/>
            <a:ext cx="3246120" cy="530352"/>
          </a:xfrm>
          <a:prstGeom prst="rect">
            <a:avLst/>
          </a:prstGeom>
          <a:noFill/>
          <a:ln/>
        </p:spPr>
        <p:txBody>
          <a:bodyPr wrap="square" lIns="0" tIns="0" rIns="0" bIns="0" rtlCol="0" anchor="t"/>
          <a:lstStyle/>
          <a:p>
            <a:pPr indent="0" marL="0">
              <a:buNone/>
            </a:pPr>
            <a:r>
              <a:rPr lang="en-US" sz="1100" dirty="0">
                <a:solidFill>
                  <a:srgbClr val="A9BAD3"/>
                </a:solidFill>
                <a:latin typeface="Calibri" pitchFamily="34" charset="0"/>
                <a:ea typeface="Calibri" pitchFamily="34" charset="-122"/>
                <a:cs typeface="Calibri" pitchFamily="34" charset="-120"/>
              </a:rPr>
              <a:t>which sub-categories belong; discover segments, keywords, EN/ZH descriptions</a:t>
            </a:r>
            <a:endParaRPr lang="en-US" sz="1100" dirty="0"/>
          </a:p>
        </p:txBody>
      </p:sp>
      <p:sp>
        <p:nvSpPr>
          <p:cNvPr id="24" name="Shape 22"/>
          <p:cNvSpPr/>
          <p:nvPr/>
        </p:nvSpPr>
        <p:spPr>
          <a:xfrm>
            <a:off x="4343400" y="3108960"/>
            <a:ext cx="3566160" cy="1234440"/>
          </a:xfrm>
          <a:prstGeom prst="roundRect">
            <a:avLst>
              <a:gd name="adj" fmla="val 5926"/>
            </a:avLst>
          </a:prstGeom>
          <a:solidFill>
            <a:srgbClr val="111C2E"/>
          </a:solidFill>
          <a:ln w="12700">
            <a:solidFill>
              <a:srgbClr val="1F3150"/>
            </a:solidFill>
            <a:prstDash val="solid"/>
          </a:ln>
        </p:spPr>
      </p:sp>
      <p:sp>
        <p:nvSpPr>
          <p:cNvPr id="25" name="Shape 23"/>
          <p:cNvSpPr/>
          <p:nvPr/>
        </p:nvSpPr>
        <p:spPr>
          <a:xfrm>
            <a:off x="4526280" y="3310128"/>
            <a:ext cx="384048" cy="384048"/>
          </a:xfrm>
          <a:prstGeom prst="ellipse">
            <a:avLst/>
          </a:prstGeom>
          <a:solidFill>
            <a:srgbClr val="38D6FF"/>
          </a:solidFill>
          <a:ln w="12700">
            <a:solidFill>
              <a:srgbClr val="38D6FF"/>
            </a:solidFill>
            <a:prstDash val="solid"/>
          </a:ln>
        </p:spPr>
      </p:sp>
      <p:sp>
        <p:nvSpPr>
          <p:cNvPr id="26" name="Text 24"/>
          <p:cNvSpPr txBox="1"/>
          <p:nvPr/>
        </p:nvSpPr>
        <p:spPr>
          <a:xfrm>
            <a:off x="4526280" y="3310128"/>
            <a:ext cx="384048" cy="384048"/>
          </a:xfrm>
          <a:prstGeom prst="rect">
            <a:avLst/>
          </a:prstGeom>
          <a:noFill/>
          <a:ln/>
        </p:spPr>
        <p:txBody>
          <a:bodyPr wrap="square" lIns="0" tIns="0" rIns="0" bIns="0" rtlCol="0" anchor="ctr"/>
          <a:lstStyle/>
          <a:p>
            <a:pPr algn="ctr" indent="0" marL="0">
              <a:buNone/>
            </a:pPr>
            <a:r>
              <a:rPr lang="en-US" sz="1300" b="1" dirty="0">
                <a:solidFill>
                  <a:srgbClr val="0A1220"/>
                </a:solidFill>
                <a:latin typeface="Cambria" pitchFamily="34" charset="0"/>
                <a:ea typeface="Cambria" pitchFamily="34" charset="-122"/>
                <a:cs typeface="Cambria" pitchFamily="34" charset="-120"/>
              </a:rPr>
              <a:t>5</a:t>
            </a:r>
            <a:endParaRPr lang="en-US" sz="1300" dirty="0"/>
          </a:p>
        </p:txBody>
      </p:sp>
      <p:sp>
        <p:nvSpPr>
          <p:cNvPr id="27" name="Text 25"/>
          <p:cNvSpPr txBox="1"/>
          <p:nvPr/>
        </p:nvSpPr>
        <p:spPr>
          <a:xfrm>
            <a:off x="5056632" y="3273552"/>
            <a:ext cx="2743200" cy="411480"/>
          </a:xfrm>
          <a:prstGeom prst="rect">
            <a:avLst/>
          </a:prstGeom>
          <a:noFill/>
          <a:ln/>
        </p:spPr>
        <p:txBody>
          <a:bodyPr wrap="square" lIns="0" tIns="0" rIns="0" bIns="0" rtlCol="0" anchor="ctr"/>
          <a:lstStyle/>
          <a:p>
            <a:pPr indent="0" marL="0">
              <a:buNone/>
            </a:pPr>
            <a:r>
              <a:rPr lang="en-US" sz="1500" b="1" dirty="0">
                <a:solidFill>
                  <a:srgbClr val="E6EEFB"/>
                </a:solidFill>
                <a:latin typeface="Cambria" pitchFamily="34" charset="0"/>
                <a:ea typeface="Cambria" pitchFamily="34" charset="-122"/>
                <a:cs typeface="Cambria" pitchFamily="34" charset="-120"/>
              </a:rPr>
              <a:t>Resolve products</a:t>
            </a:r>
            <a:endParaRPr lang="en-US" sz="1500" dirty="0"/>
          </a:p>
        </p:txBody>
      </p:sp>
      <p:sp>
        <p:nvSpPr>
          <p:cNvPr id="28" name="Text 26"/>
          <p:cNvSpPr txBox="1"/>
          <p:nvPr/>
        </p:nvSpPr>
        <p:spPr>
          <a:xfrm>
            <a:off x="4526280" y="3767328"/>
            <a:ext cx="3246120" cy="530352"/>
          </a:xfrm>
          <a:prstGeom prst="rect">
            <a:avLst/>
          </a:prstGeom>
          <a:noFill/>
          <a:ln/>
        </p:spPr>
        <p:txBody>
          <a:bodyPr wrap="square" lIns="0" tIns="0" rIns="0" bIns="0" rtlCol="0" anchor="t"/>
          <a:lstStyle/>
          <a:p>
            <a:pPr indent="0" marL="0">
              <a:buNone/>
            </a:pPr>
            <a:r>
              <a:rPr lang="en-US" sz="1100" dirty="0">
                <a:solidFill>
                  <a:srgbClr val="A9BAD3"/>
                </a:solidFill>
                <a:latin typeface="Calibri" pitchFamily="34" charset="0"/>
                <a:ea typeface="Calibri" pitchFamily="34" charset="-122"/>
                <a:cs typeface="Calibri" pitchFamily="34" charset="-120"/>
              </a:rPr>
              <a:t>listings → products; Family → Segment → Model → Variant → Listing</a:t>
            </a:r>
            <a:endParaRPr lang="en-US" sz="1100" dirty="0"/>
          </a:p>
        </p:txBody>
      </p:sp>
      <p:sp>
        <p:nvSpPr>
          <p:cNvPr id="29" name="Shape 27"/>
          <p:cNvSpPr/>
          <p:nvPr/>
        </p:nvSpPr>
        <p:spPr>
          <a:xfrm>
            <a:off x="8138160" y="3108960"/>
            <a:ext cx="3566160" cy="1234440"/>
          </a:xfrm>
          <a:prstGeom prst="roundRect">
            <a:avLst>
              <a:gd name="adj" fmla="val 5926"/>
            </a:avLst>
          </a:prstGeom>
          <a:solidFill>
            <a:srgbClr val="111C2E"/>
          </a:solidFill>
          <a:ln w="12700">
            <a:solidFill>
              <a:srgbClr val="1F3150"/>
            </a:solidFill>
            <a:prstDash val="solid"/>
          </a:ln>
        </p:spPr>
      </p:sp>
      <p:sp>
        <p:nvSpPr>
          <p:cNvPr id="30" name="Shape 28"/>
          <p:cNvSpPr/>
          <p:nvPr/>
        </p:nvSpPr>
        <p:spPr>
          <a:xfrm>
            <a:off x="8321040" y="3310128"/>
            <a:ext cx="384048" cy="384048"/>
          </a:xfrm>
          <a:prstGeom prst="ellipse">
            <a:avLst/>
          </a:prstGeom>
          <a:solidFill>
            <a:srgbClr val="38D6FF"/>
          </a:solidFill>
          <a:ln w="12700">
            <a:solidFill>
              <a:srgbClr val="38D6FF"/>
            </a:solidFill>
            <a:prstDash val="solid"/>
          </a:ln>
        </p:spPr>
      </p:sp>
      <p:sp>
        <p:nvSpPr>
          <p:cNvPr id="31" name="Text 29"/>
          <p:cNvSpPr txBox="1"/>
          <p:nvPr/>
        </p:nvSpPr>
        <p:spPr>
          <a:xfrm>
            <a:off x="8321040" y="3310128"/>
            <a:ext cx="384048" cy="384048"/>
          </a:xfrm>
          <a:prstGeom prst="rect">
            <a:avLst/>
          </a:prstGeom>
          <a:noFill/>
          <a:ln/>
        </p:spPr>
        <p:txBody>
          <a:bodyPr wrap="square" lIns="0" tIns="0" rIns="0" bIns="0" rtlCol="0" anchor="ctr"/>
          <a:lstStyle/>
          <a:p>
            <a:pPr algn="ctr" indent="0" marL="0">
              <a:buNone/>
            </a:pPr>
            <a:r>
              <a:rPr lang="en-US" sz="1300" b="1" dirty="0">
                <a:solidFill>
                  <a:srgbClr val="0A1220"/>
                </a:solidFill>
                <a:latin typeface="Cambria" pitchFamily="34" charset="0"/>
                <a:ea typeface="Cambria" pitchFamily="34" charset="-122"/>
                <a:cs typeface="Cambria" pitchFamily="34" charset="-120"/>
              </a:rPr>
              <a:t>6</a:t>
            </a:r>
            <a:endParaRPr lang="en-US" sz="1300" dirty="0"/>
          </a:p>
        </p:txBody>
      </p:sp>
      <p:sp>
        <p:nvSpPr>
          <p:cNvPr id="32" name="Text 30"/>
          <p:cNvSpPr txBox="1"/>
          <p:nvPr/>
        </p:nvSpPr>
        <p:spPr>
          <a:xfrm>
            <a:off x="8851392" y="3273552"/>
            <a:ext cx="2743200" cy="411480"/>
          </a:xfrm>
          <a:prstGeom prst="rect">
            <a:avLst/>
          </a:prstGeom>
          <a:noFill/>
          <a:ln/>
        </p:spPr>
        <p:txBody>
          <a:bodyPr wrap="square" lIns="0" tIns="0" rIns="0" bIns="0" rtlCol="0" anchor="ctr"/>
          <a:lstStyle/>
          <a:p>
            <a:pPr indent="0" marL="0">
              <a:buNone/>
            </a:pPr>
            <a:r>
              <a:rPr lang="en-US" sz="1500" b="1" dirty="0">
                <a:solidFill>
                  <a:srgbClr val="E6EEFB"/>
                </a:solidFill>
                <a:latin typeface="Cambria" pitchFamily="34" charset="0"/>
                <a:ea typeface="Cambria" pitchFamily="34" charset="-122"/>
                <a:cs typeface="Cambria" pitchFamily="34" charset="-120"/>
              </a:rPr>
              <a:t>Metrics v3</a:t>
            </a:r>
            <a:endParaRPr lang="en-US" sz="1500" dirty="0"/>
          </a:p>
        </p:txBody>
      </p:sp>
      <p:sp>
        <p:nvSpPr>
          <p:cNvPr id="33" name="Text 31"/>
          <p:cNvSpPr txBox="1"/>
          <p:nvPr/>
        </p:nvSpPr>
        <p:spPr>
          <a:xfrm>
            <a:off x="8321040" y="3767328"/>
            <a:ext cx="3246120" cy="530352"/>
          </a:xfrm>
          <a:prstGeom prst="rect">
            <a:avLst/>
          </a:prstGeom>
          <a:noFill/>
          <a:ln/>
        </p:spPr>
        <p:txBody>
          <a:bodyPr wrap="square" lIns="0" tIns="0" rIns="0" bIns="0" rtlCol="0" anchor="t"/>
          <a:lstStyle/>
          <a:p>
            <a:pPr indent="0" marL="0">
              <a:buNone/>
            </a:pPr>
            <a:r>
              <a:rPr lang="en-US" sz="1100" dirty="0">
                <a:solidFill>
                  <a:srgbClr val="A9BAD3"/>
                </a:solidFill>
                <a:latin typeface="Calibri" pitchFamily="34" charset="0"/>
                <a:ea typeface="Calibri" pitchFamily="34" charset="-122"/>
                <a:cs typeface="Calibri" pitchFamily="34" charset="-120"/>
              </a:rPr>
              <a:t>demand model, 400 joint simulations, every estimate + 95% interval</a:t>
            </a:r>
            <a:endParaRPr lang="en-US" sz="1100" dirty="0"/>
          </a:p>
        </p:txBody>
      </p:sp>
      <p:sp>
        <p:nvSpPr>
          <p:cNvPr id="34" name="Shape 32"/>
          <p:cNvSpPr/>
          <p:nvPr/>
        </p:nvSpPr>
        <p:spPr>
          <a:xfrm>
            <a:off x="548640" y="4526280"/>
            <a:ext cx="3566160" cy="1234440"/>
          </a:xfrm>
          <a:prstGeom prst="roundRect">
            <a:avLst>
              <a:gd name="adj" fmla="val 5926"/>
            </a:avLst>
          </a:prstGeom>
          <a:solidFill>
            <a:srgbClr val="111C2E"/>
          </a:solidFill>
          <a:ln w="12700">
            <a:solidFill>
              <a:srgbClr val="1F3150"/>
            </a:solidFill>
            <a:prstDash val="solid"/>
          </a:ln>
        </p:spPr>
      </p:sp>
      <p:sp>
        <p:nvSpPr>
          <p:cNvPr id="35" name="Shape 33"/>
          <p:cNvSpPr/>
          <p:nvPr/>
        </p:nvSpPr>
        <p:spPr>
          <a:xfrm>
            <a:off x="731520" y="4727448"/>
            <a:ext cx="384048" cy="384048"/>
          </a:xfrm>
          <a:prstGeom prst="ellipse">
            <a:avLst/>
          </a:prstGeom>
          <a:solidFill>
            <a:srgbClr val="38D6FF"/>
          </a:solidFill>
          <a:ln w="12700">
            <a:solidFill>
              <a:srgbClr val="38D6FF"/>
            </a:solidFill>
            <a:prstDash val="solid"/>
          </a:ln>
        </p:spPr>
      </p:sp>
      <p:sp>
        <p:nvSpPr>
          <p:cNvPr id="36" name="Text 34"/>
          <p:cNvSpPr txBox="1"/>
          <p:nvPr/>
        </p:nvSpPr>
        <p:spPr>
          <a:xfrm>
            <a:off x="731520" y="4727448"/>
            <a:ext cx="384048" cy="384048"/>
          </a:xfrm>
          <a:prstGeom prst="rect">
            <a:avLst/>
          </a:prstGeom>
          <a:noFill/>
          <a:ln/>
        </p:spPr>
        <p:txBody>
          <a:bodyPr wrap="square" lIns="0" tIns="0" rIns="0" bIns="0" rtlCol="0" anchor="ctr"/>
          <a:lstStyle/>
          <a:p>
            <a:pPr algn="ctr" indent="0" marL="0">
              <a:buNone/>
            </a:pPr>
            <a:r>
              <a:rPr lang="en-US" sz="1300" b="1" dirty="0">
                <a:solidFill>
                  <a:srgbClr val="0A1220"/>
                </a:solidFill>
                <a:latin typeface="Cambria" pitchFamily="34" charset="0"/>
                <a:ea typeface="Cambria" pitchFamily="34" charset="-122"/>
                <a:cs typeface="Cambria" pitchFamily="34" charset="-120"/>
              </a:rPr>
              <a:t>7</a:t>
            </a:r>
            <a:endParaRPr lang="en-US" sz="1300" dirty="0"/>
          </a:p>
        </p:txBody>
      </p:sp>
      <p:sp>
        <p:nvSpPr>
          <p:cNvPr id="37" name="Text 35"/>
          <p:cNvSpPr txBox="1"/>
          <p:nvPr/>
        </p:nvSpPr>
        <p:spPr>
          <a:xfrm>
            <a:off x="1261872" y="4690872"/>
            <a:ext cx="2743200" cy="411480"/>
          </a:xfrm>
          <a:prstGeom prst="rect">
            <a:avLst/>
          </a:prstGeom>
          <a:noFill/>
          <a:ln/>
        </p:spPr>
        <p:txBody>
          <a:bodyPr wrap="square" lIns="0" tIns="0" rIns="0" bIns="0" rtlCol="0" anchor="ctr"/>
          <a:lstStyle/>
          <a:p>
            <a:pPr indent="0" marL="0">
              <a:buNone/>
            </a:pPr>
            <a:r>
              <a:rPr lang="en-US" sz="1500" b="1" dirty="0">
                <a:solidFill>
                  <a:srgbClr val="E6EEFB"/>
                </a:solidFill>
                <a:latin typeface="Cambria" pitchFamily="34" charset="0"/>
                <a:ea typeface="Cambria" pitchFamily="34" charset="-122"/>
                <a:cs typeface="Cambria" pitchFamily="34" charset="-120"/>
              </a:rPr>
              <a:t>Gaps · brands · pain</a:t>
            </a:r>
            <a:endParaRPr lang="en-US" sz="1500" dirty="0"/>
          </a:p>
        </p:txBody>
      </p:sp>
      <p:sp>
        <p:nvSpPr>
          <p:cNvPr id="38" name="Text 36"/>
          <p:cNvSpPr txBox="1"/>
          <p:nvPr/>
        </p:nvSpPr>
        <p:spPr>
          <a:xfrm>
            <a:off x="731520" y="5184648"/>
            <a:ext cx="3246120" cy="530352"/>
          </a:xfrm>
          <a:prstGeom prst="rect">
            <a:avLst/>
          </a:prstGeom>
          <a:noFill/>
          <a:ln/>
        </p:spPr>
        <p:txBody>
          <a:bodyPr wrap="square" lIns="0" tIns="0" rIns="0" bIns="0" rtlCol="0" anchor="t"/>
          <a:lstStyle/>
          <a:p>
            <a:pPr indent="0" marL="0">
              <a:buNone/>
            </a:pPr>
            <a:r>
              <a:rPr lang="en-US" sz="1100" dirty="0">
                <a:solidFill>
                  <a:srgbClr val="A9BAD3"/>
                </a:solidFill>
                <a:latin typeface="Calibri" pitchFamily="34" charset="0"/>
                <a:ea typeface="Calibri" pitchFamily="34" charset="-122"/>
                <a:cs typeface="Calibri" pitchFamily="34" charset="-120"/>
              </a:rPr>
              <a:t>significant demand gaps, brand intelligence, quality gap</a:t>
            </a:r>
            <a:endParaRPr lang="en-US" sz="1100" dirty="0"/>
          </a:p>
        </p:txBody>
      </p:sp>
      <p:sp>
        <p:nvSpPr>
          <p:cNvPr id="39" name="Shape 37"/>
          <p:cNvSpPr/>
          <p:nvPr/>
        </p:nvSpPr>
        <p:spPr>
          <a:xfrm>
            <a:off x="4343400" y="4526280"/>
            <a:ext cx="3566160" cy="1234440"/>
          </a:xfrm>
          <a:prstGeom prst="roundRect">
            <a:avLst>
              <a:gd name="adj" fmla="val 5926"/>
            </a:avLst>
          </a:prstGeom>
          <a:solidFill>
            <a:srgbClr val="111C2E"/>
          </a:solidFill>
          <a:ln w="12700">
            <a:solidFill>
              <a:srgbClr val="1F3150"/>
            </a:solidFill>
            <a:prstDash val="solid"/>
          </a:ln>
        </p:spPr>
      </p:sp>
      <p:sp>
        <p:nvSpPr>
          <p:cNvPr id="40" name="Shape 38"/>
          <p:cNvSpPr/>
          <p:nvPr/>
        </p:nvSpPr>
        <p:spPr>
          <a:xfrm>
            <a:off x="4526280" y="4727448"/>
            <a:ext cx="384048" cy="384048"/>
          </a:xfrm>
          <a:prstGeom prst="ellipse">
            <a:avLst/>
          </a:prstGeom>
          <a:solidFill>
            <a:srgbClr val="38D6FF"/>
          </a:solidFill>
          <a:ln w="12700">
            <a:solidFill>
              <a:srgbClr val="38D6FF"/>
            </a:solidFill>
            <a:prstDash val="solid"/>
          </a:ln>
        </p:spPr>
      </p:sp>
      <p:sp>
        <p:nvSpPr>
          <p:cNvPr id="41" name="Text 39"/>
          <p:cNvSpPr txBox="1"/>
          <p:nvPr/>
        </p:nvSpPr>
        <p:spPr>
          <a:xfrm>
            <a:off x="4526280" y="4727448"/>
            <a:ext cx="384048" cy="384048"/>
          </a:xfrm>
          <a:prstGeom prst="rect">
            <a:avLst/>
          </a:prstGeom>
          <a:noFill/>
          <a:ln/>
        </p:spPr>
        <p:txBody>
          <a:bodyPr wrap="square" lIns="0" tIns="0" rIns="0" bIns="0" rtlCol="0" anchor="ctr"/>
          <a:lstStyle/>
          <a:p>
            <a:pPr algn="ctr" indent="0" marL="0">
              <a:buNone/>
            </a:pPr>
            <a:r>
              <a:rPr lang="en-US" sz="1300" b="1" dirty="0">
                <a:solidFill>
                  <a:srgbClr val="0A1220"/>
                </a:solidFill>
                <a:latin typeface="Cambria" pitchFamily="34" charset="0"/>
                <a:ea typeface="Cambria" pitchFamily="34" charset="-122"/>
                <a:cs typeface="Cambria" pitchFamily="34" charset="-120"/>
              </a:rPr>
              <a:t>8</a:t>
            </a:r>
            <a:endParaRPr lang="en-US" sz="1300" dirty="0"/>
          </a:p>
        </p:txBody>
      </p:sp>
      <p:sp>
        <p:nvSpPr>
          <p:cNvPr id="42" name="Text 40"/>
          <p:cNvSpPr txBox="1"/>
          <p:nvPr/>
        </p:nvSpPr>
        <p:spPr>
          <a:xfrm>
            <a:off x="5056632" y="4690872"/>
            <a:ext cx="2743200" cy="411480"/>
          </a:xfrm>
          <a:prstGeom prst="rect">
            <a:avLst/>
          </a:prstGeom>
          <a:noFill/>
          <a:ln/>
        </p:spPr>
        <p:txBody>
          <a:bodyPr wrap="square" lIns="0" tIns="0" rIns="0" bIns="0" rtlCol="0" anchor="ctr"/>
          <a:lstStyle/>
          <a:p>
            <a:pPr indent="0" marL="0">
              <a:buNone/>
            </a:pPr>
            <a:r>
              <a:rPr lang="en-US" sz="1500" b="1" dirty="0">
                <a:solidFill>
                  <a:srgbClr val="E6EEFB"/>
                </a:solidFill>
                <a:latin typeface="Cambria" pitchFamily="34" charset="0"/>
                <a:ea typeface="Cambria" pitchFamily="34" charset="-122"/>
                <a:cs typeface="Cambria" pitchFamily="34" charset="-120"/>
              </a:rPr>
              <a:t>Graph · vectors · lake</a:t>
            </a:r>
            <a:endParaRPr lang="en-US" sz="1500" dirty="0"/>
          </a:p>
        </p:txBody>
      </p:sp>
      <p:sp>
        <p:nvSpPr>
          <p:cNvPr id="43" name="Text 41"/>
          <p:cNvSpPr txBox="1"/>
          <p:nvPr/>
        </p:nvSpPr>
        <p:spPr>
          <a:xfrm>
            <a:off x="4526280" y="5184648"/>
            <a:ext cx="3246120" cy="530352"/>
          </a:xfrm>
          <a:prstGeom prst="rect">
            <a:avLst/>
          </a:prstGeom>
          <a:noFill/>
          <a:ln/>
        </p:spPr>
        <p:txBody>
          <a:bodyPr wrap="square" lIns="0" tIns="0" rIns="0" bIns="0" rtlCol="0" anchor="t"/>
          <a:lstStyle/>
          <a:p>
            <a:pPr indent="0" marL="0">
              <a:buNone/>
            </a:pPr>
            <a:r>
              <a:rPr lang="en-US" sz="1100" dirty="0">
                <a:solidFill>
                  <a:srgbClr val="A9BAD3"/>
                </a:solidFill>
                <a:latin typeface="Calibri" pitchFamily="34" charset="0"/>
                <a:ea typeface="Calibri" pitchFamily="34" charset="-122"/>
                <a:cs typeface="Calibri" pitchFamily="34" charset="-120"/>
              </a:rPr>
              <a:t>ontology with evidence; similarity index; Parquet tables</a:t>
            </a:r>
            <a:endParaRPr lang="en-US" sz="1100" dirty="0"/>
          </a:p>
        </p:txBody>
      </p:sp>
      <p:sp>
        <p:nvSpPr>
          <p:cNvPr id="44" name="Shape 42"/>
          <p:cNvSpPr/>
          <p:nvPr/>
        </p:nvSpPr>
        <p:spPr>
          <a:xfrm>
            <a:off x="8138160" y="4526280"/>
            <a:ext cx="3566160" cy="1234440"/>
          </a:xfrm>
          <a:prstGeom prst="roundRect">
            <a:avLst>
              <a:gd name="adj" fmla="val 5926"/>
            </a:avLst>
          </a:prstGeom>
          <a:solidFill>
            <a:srgbClr val="111C2E"/>
          </a:solidFill>
          <a:ln w="12700">
            <a:solidFill>
              <a:srgbClr val="1F3150"/>
            </a:solidFill>
            <a:prstDash val="solid"/>
          </a:ln>
        </p:spPr>
      </p:sp>
      <p:sp>
        <p:nvSpPr>
          <p:cNvPr id="45" name="Shape 43"/>
          <p:cNvSpPr/>
          <p:nvPr/>
        </p:nvSpPr>
        <p:spPr>
          <a:xfrm>
            <a:off x="8321040" y="4727448"/>
            <a:ext cx="384048" cy="384048"/>
          </a:xfrm>
          <a:prstGeom prst="ellipse">
            <a:avLst/>
          </a:prstGeom>
          <a:solidFill>
            <a:srgbClr val="38D6FF"/>
          </a:solidFill>
          <a:ln w="12700">
            <a:solidFill>
              <a:srgbClr val="38D6FF"/>
            </a:solidFill>
            <a:prstDash val="solid"/>
          </a:ln>
        </p:spPr>
      </p:sp>
      <p:sp>
        <p:nvSpPr>
          <p:cNvPr id="46" name="Text 44"/>
          <p:cNvSpPr txBox="1"/>
          <p:nvPr/>
        </p:nvSpPr>
        <p:spPr>
          <a:xfrm>
            <a:off x="8321040" y="4727448"/>
            <a:ext cx="384048" cy="384048"/>
          </a:xfrm>
          <a:prstGeom prst="rect">
            <a:avLst/>
          </a:prstGeom>
          <a:noFill/>
          <a:ln/>
        </p:spPr>
        <p:txBody>
          <a:bodyPr wrap="square" lIns="0" tIns="0" rIns="0" bIns="0" rtlCol="0" anchor="ctr"/>
          <a:lstStyle/>
          <a:p>
            <a:pPr algn="ctr" indent="0" marL="0">
              <a:buNone/>
            </a:pPr>
            <a:r>
              <a:rPr lang="en-US" sz="1300" b="1" dirty="0">
                <a:solidFill>
                  <a:srgbClr val="0A1220"/>
                </a:solidFill>
                <a:latin typeface="Cambria" pitchFamily="34" charset="0"/>
                <a:ea typeface="Cambria" pitchFamily="34" charset="-122"/>
                <a:cs typeface="Cambria" pitchFamily="34" charset="-120"/>
              </a:rPr>
              <a:t>9</a:t>
            </a:r>
            <a:endParaRPr lang="en-US" sz="1300" dirty="0"/>
          </a:p>
        </p:txBody>
      </p:sp>
      <p:sp>
        <p:nvSpPr>
          <p:cNvPr id="47" name="Text 45"/>
          <p:cNvSpPr txBox="1"/>
          <p:nvPr/>
        </p:nvSpPr>
        <p:spPr>
          <a:xfrm>
            <a:off x="8851392" y="4690872"/>
            <a:ext cx="2743200" cy="411480"/>
          </a:xfrm>
          <a:prstGeom prst="rect">
            <a:avLst/>
          </a:prstGeom>
          <a:noFill/>
          <a:ln/>
        </p:spPr>
        <p:txBody>
          <a:bodyPr wrap="square" lIns="0" tIns="0" rIns="0" bIns="0" rtlCol="0" anchor="ctr"/>
          <a:lstStyle/>
          <a:p>
            <a:pPr indent="0" marL="0">
              <a:buNone/>
            </a:pPr>
            <a:r>
              <a:rPr lang="en-US" sz="1500" b="1" dirty="0">
                <a:solidFill>
                  <a:srgbClr val="E6EEFB"/>
                </a:solidFill>
                <a:latin typeface="Cambria" pitchFamily="34" charset="0"/>
                <a:ea typeface="Cambria" pitchFamily="34" charset="-122"/>
                <a:cs typeface="Cambria" pitchFamily="34" charset="-120"/>
              </a:rPr>
              <a:t>Events</a:t>
            </a:r>
            <a:endParaRPr lang="en-US" sz="1500" dirty="0"/>
          </a:p>
        </p:txBody>
      </p:sp>
      <p:sp>
        <p:nvSpPr>
          <p:cNvPr id="48" name="Text 46"/>
          <p:cNvSpPr txBox="1"/>
          <p:nvPr/>
        </p:nvSpPr>
        <p:spPr>
          <a:xfrm>
            <a:off x="8321040" y="5184648"/>
            <a:ext cx="3246120" cy="530352"/>
          </a:xfrm>
          <a:prstGeom prst="rect">
            <a:avLst/>
          </a:prstGeom>
          <a:noFill/>
          <a:ln/>
        </p:spPr>
        <p:txBody>
          <a:bodyPr wrap="square" lIns="0" tIns="0" rIns="0" bIns="0" rtlCol="0" anchor="t"/>
          <a:lstStyle/>
          <a:p>
            <a:pPr indent="0" marL="0">
              <a:buNone/>
            </a:pPr>
            <a:r>
              <a:rPr lang="en-US" sz="1100" dirty="0">
                <a:solidFill>
                  <a:srgbClr val="A9BAD3"/>
                </a:solidFill>
                <a:latin typeface="Calibri" pitchFamily="34" charset="0"/>
                <a:ea typeface="Calibri" pitchFamily="34" charset="-122"/>
                <a:cs typeface="Calibri" pitchFamily="34" charset="-120"/>
              </a:rPr>
              <a:t>compare with last snapshot; alert only on significant changes</a:t>
            </a:r>
            <a:endParaRPr lang="en-US" sz="1100" dirty="0"/>
          </a:p>
        </p:txBody>
      </p:sp>
      <p:sp>
        <p:nvSpPr>
          <p:cNvPr id="49" name="Text 47"/>
          <p:cNvSpPr txBox="1"/>
          <p:nvPr/>
        </p:nvSpPr>
        <p:spPr>
          <a:xfrm>
            <a:off x="548640" y="6080760"/>
            <a:ext cx="11064240" cy="365760"/>
          </a:xfrm>
          <a:prstGeom prst="rect">
            <a:avLst/>
          </a:prstGeom>
          <a:noFill/>
          <a:ln/>
        </p:spPr>
        <p:txBody>
          <a:bodyPr wrap="square" lIns="0" tIns="0" rIns="0" bIns="0" rtlCol="0" anchor="ctr"/>
          <a:lstStyle/>
          <a:p>
            <a:pPr indent="0" marL="0">
              <a:buNone/>
            </a:pPr>
            <a:r>
              <a:rPr lang="en-US" sz="1200" i="1" dirty="0">
                <a:solidFill>
                  <a:srgbClr val="6F84A6"/>
                </a:solidFill>
                <a:latin typeface="Calibri" pitchFamily="34" charset="0"/>
                <a:ea typeface="Calibri" pitchFamily="34" charset="-122"/>
                <a:cs typeface="Calibri" pitchFamily="34" charset="-120"/>
              </a:rPr>
              <a:t>Every excluded listing keeps a reason (rejected / not relevant / low data quality). Stage timing and memory are shown live on Data Operations.</a:t>
            </a:r>
            <a:endParaRPr lang="en-US" sz="1200" dirty="0"/>
          </a:p>
        </p:txBody>
      </p:sp>
      <p:sp>
        <p:nvSpPr>
          <p:cNvPr id="50" name="Text 48"/>
          <p:cNvSpPr txBox="1"/>
          <p:nvPr/>
        </p:nvSpPr>
        <p:spPr>
          <a:xfrm>
            <a:off x="10332720" y="6446520"/>
            <a:ext cx="1371600" cy="228600"/>
          </a:xfrm>
          <a:prstGeom prst="rect">
            <a:avLst/>
          </a:prstGeom>
          <a:noFill/>
          <a:ln/>
        </p:spPr>
        <p:txBody>
          <a:bodyPr wrap="square" lIns="0" tIns="0" rIns="0" bIns="0" rtlCol="0" anchor="ctr"/>
          <a:lstStyle/>
          <a:p>
            <a:pPr algn="r" indent="0" marL="0">
              <a:buNone/>
            </a:pPr>
            <a:r>
              <a:rPr lang="en-US" sz="900" dirty="0">
                <a:solidFill>
                  <a:srgbClr val="6F84A6"/>
                </a:solidFill>
                <a:latin typeface="Calibri" pitchFamily="34" charset="0"/>
                <a:ea typeface="Calibri" pitchFamily="34" charset="-122"/>
                <a:cs typeface="Calibri" pitchFamily="34" charset="-120"/>
              </a:rPr>
              <a:t>DMIS ·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6FA"/>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274320"/>
          </a:xfrm>
          <a:prstGeom prst="rect">
            <a:avLst/>
          </a:prstGeom>
          <a:noFill/>
          <a:ln/>
        </p:spPr>
        <p:txBody>
          <a:bodyPr wrap="square" lIns="0" tIns="0" rIns="0" bIns="0" rtlCol="0" anchor="ctr"/>
          <a:lstStyle/>
          <a:p>
            <a:pPr indent="0" marL="0">
              <a:buNone/>
            </a:pPr>
            <a:r>
              <a:rPr lang="en-US" sz="1100" b="1" spc="300" kern="0" dirty="0">
                <a:solidFill>
                  <a:srgbClr val="0B7FA3"/>
                </a:solidFill>
                <a:latin typeface="Calibri" pitchFamily="34" charset="0"/>
                <a:ea typeface="Calibri" pitchFamily="34" charset="-122"/>
                <a:cs typeface="Calibri" pitchFamily="34" charset="-120"/>
              </a:rPr>
              <a:t>THE STATISTICAL ENGINE · METRICS V3</a:t>
            </a:r>
            <a:endParaRPr lang="en-US" sz="1100" dirty="0"/>
          </a:p>
        </p:txBody>
      </p:sp>
      <p:sp>
        <p:nvSpPr>
          <p:cNvPr id="3" name="Text 1"/>
          <p:cNvSpPr txBox="1"/>
          <p:nvPr/>
        </p:nvSpPr>
        <p:spPr>
          <a:xfrm>
            <a:off x="548640" y="685800"/>
            <a:ext cx="11064240" cy="685800"/>
          </a:xfrm>
          <a:prstGeom prst="rect">
            <a:avLst/>
          </a:prstGeom>
          <a:noFill/>
          <a:ln/>
        </p:spPr>
        <p:txBody>
          <a:bodyPr wrap="square" lIns="0" tIns="0" rIns="0" bIns="0" rtlCol="0" anchor="ctr"/>
          <a:lstStyle/>
          <a:p>
            <a:pPr indent="0" marL="0">
              <a:buNone/>
            </a:pPr>
            <a:r>
              <a:rPr lang="en-US" sz="3200" b="1" dirty="0">
                <a:solidFill>
                  <a:srgbClr val="0F1B2D"/>
                </a:solidFill>
                <a:latin typeface="Cambria" pitchFamily="34" charset="0"/>
                <a:ea typeface="Cambria" pitchFamily="34" charset="-122"/>
                <a:cs typeface="Cambria" pitchFamily="34" charset="-120"/>
              </a:rPr>
              <a:t>From badges to estimates with intervals</a:t>
            </a:r>
            <a:endParaRPr lang="en-US" sz="3200" dirty="0"/>
          </a:p>
        </p:txBody>
      </p:sp>
      <p:sp>
        <p:nvSpPr>
          <p:cNvPr id="4" name="Shape 2"/>
          <p:cNvSpPr/>
          <p:nvPr/>
        </p:nvSpPr>
        <p:spPr>
          <a:xfrm>
            <a:off x="548640" y="1554480"/>
            <a:ext cx="1417320" cy="603504"/>
          </a:xfrm>
          <a:prstGeom prst="roundRect">
            <a:avLst>
              <a:gd name="adj" fmla="val 12121"/>
            </a:avLst>
          </a:prstGeom>
          <a:solidFill>
            <a:srgbClr val="0B7FA3"/>
          </a:solidFill>
          <a:ln w="12700">
            <a:solidFill>
              <a:srgbClr val="0B7FA3"/>
            </a:solidFill>
            <a:prstDash val="solid"/>
          </a:ln>
        </p:spPr>
      </p:sp>
      <p:sp>
        <p:nvSpPr>
          <p:cNvPr id="5" name="Text 3"/>
          <p:cNvSpPr txBox="1"/>
          <p:nvPr/>
        </p:nvSpPr>
        <p:spPr>
          <a:xfrm>
            <a:off x="548640" y="1554480"/>
            <a:ext cx="1417320" cy="60350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Detect</a:t>
            </a:r>
            <a:endParaRPr lang="en-US" sz="1400" dirty="0"/>
          </a:p>
        </p:txBody>
      </p:sp>
      <p:sp>
        <p:nvSpPr>
          <p:cNvPr id="6" name="Text 4"/>
          <p:cNvSpPr txBox="1"/>
          <p:nvPr/>
        </p:nvSpPr>
        <p:spPr>
          <a:xfrm>
            <a:off x="2148840" y="1554480"/>
            <a:ext cx="4206240" cy="603504"/>
          </a:xfrm>
          <a:prstGeom prst="rect">
            <a:avLst/>
          </a:prstGeom>
          <a:noFill/>
          <a:ln/>
        </p:spPr>
        <p:txBody>
          <a:bodyPr wrap="square" lIns="0" tIns="0" rIns="0" bIns="0" rtlCol="0" anchor="ctr"/>
          <a:lstStyle/>
          <a:p>
            <a:pPr indent="0" marL="0">
              <a:buNone/>
            </a:pPr>
            <a:r>
              <a:rPr lang="en-US" sz="1200" dirty="0">
                <a:solidFill>
                  <a:srgbClr val="33445C"/>
                </a:solidFill>
                <a:latin typeface="Calibri" pitchFamily="34" charset="0"/>
                <a:ea typeface="Calibri" pitchFamily="34" charset="-122"/>
                <a:cs typeface="Calibri" pitchFamily="34" charset="-120"/>
              </a:rPr>
              <a:t>≥ 98% of values on the ladder → badge data (else exact sales)</a:t>
            </a:r>
            <a:endParaRPr lang="en-US" sz="1200" dirty="0"/>
          </a:p>
        </p:txBody>
      </p:sp>
      <p:sp>
        <p:nvSpPr>
          <p:cNvPr id="7" name="Shape 5"/>
          <p:cNvSpPr/>
          <p:nvPr/>
        </p:nvSpPr>
        <p:spPr>
          <a:xfrm>
            <a:off x="548640" y="2331720"/>
            <a:ext cx="1417320" cy="603504"/>
          </a:xfrm>
          <a:prstGeom prst="roundRect">
            <a:avLst>
              <a:gd name="adj" fmla="val 12121"/>
            </a:avLst>
          </a:prstGeom>
          <a:solidFill>
            <a:srgbClr val="0B7FA3"/>
          </a:solidFill>
          <a:ln w="12700">
            <a:solidFill>
              <a:srgbClr val="0B7FA3"/>
            </a:solidFill>
            <a:prstDash val="solid"/>
          </a:ln>
        </p:spPr>
      </p:sp>
      <p:sp>
        <p:nvSpPr>
          <p:cNvPr id="8" name="Text 6"/>
          <p:cNvSpPr txBox="1"/>
          <p:nvPr/>
        </p:nvSpPr>
        <p:spPr>
          <a:xfrm>
            <a:off x="548640" y="2331720"/>
            <a:ext cx="1417320" cy="60350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Fit</a:t>
            </a:r>
            <a:endParaRPr lang="en-US" sz="1400" dirty="0"/>
          </a:p>
        </p:txBody>
      </p:sp>
      <p:sp>
        <p:nvSpPr>
          <p:cNvPr id="9" name="Text 7"/>
          <p:cNvSpPr txBox="1"/>
          <p:nvPr/>
        </p:nvSpPr>
        <p:spPr>
          <a:xfrm>
            <a:off x="2148840" y="2331720"/>
            <a:ext cx="4206240" cy="603504"/>
          </a:xfrm>
          <a:prstGeom prst="rect">
            <a:avLst/>
          </a:prstGeom>
          <a:noFill/>
          <a:ln/>
        </p:spPr>
        <p:txBody>
          <a:bodyPr wrap="square" lIns="0" tIns="0" rIns="0" bIns="0" rtlCol="0" anchor="ctr"/>
          <a:lstStyle/>
          <a:p>
            <a:pPr indent="0" marL="0">
              <a:buNone/>
            </a:pPr>
            <a:r>
              <a:rPr lang="en-US" sz="1200" dirty="0">
                <a:solidFill>
                  <a:srgbClr val="33445C"/>
                </a:solidFill>
                <a:latin typeface="Calibri" pitchFamily="34" charset="0"/>
                <a:ea typeface="Calibri" pitchFamily="34" charset="-122"/>
                <a:cs typeface="Calibri" pitchFamily="34" charset="-120"/>
              </a:rPr>
              <a:t>log units = β·(price, rating, age, sub-category) + σε; error family by AIC; interval-censored likelihood</a:t>
            </a:r>
            <a:endParaRPr lang="en-US" sz="1200" dirty="0"/>
          </a:p>
        </p:txBody>
      </p:sp>
      <p:sp>
        <p:nvSpPr>
          <p:cNvPr id="10" name="Shape 8"/>
          <p:cNvSpPr/>
          <p:nvPr/>
        </p:nvSpPr>
        <p:spPr>
          <a:xfrm>
            <a:off x="548640" y="3108960"/>
            <a:ext cx="1417320" cy="603504"/>
          </a:xfrm>
          <a:prstGeom prst="roundRect">
            <a:avLst>
              <a:gd name="adj" fmla="val 12121"/>
            </a:avLst>
          </a:prstGeom>
          <a:solidFill>
            <a:srgbClr val="0B7FA3"/>
          </a:solidFill>
          <a:ln w="12700">
            <a:solidFill>
              <a:srgbClr val="0B7FA3"/>
            </a:solidFill>
            <a:prstDash val="solid"/>
          </a:ln>
        </p:spPr>
      </p:sp>
      <p:sp>
        <p:nvSpPr>
          <p:cNvPr id="11" name="Text 9"/>
          <p:cNvSpPr txBox="1"/>
          <p:nvPr/>
        </p:nvSpPr>
        <p:spPr>
          <a:xfrm>
            <a:off x="548640" y="3108960"/>
            <a:ext cx="1417320" cy="60350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Bootstrap</a:t>
            </a:r>
            <a:endParaRPr lang="en-US" sz="1400" dirty="0"/>
          </a:p>
        </p:txBody>
      </p:sp>
      <p:sp>
        <p:nvSpPr>
          <p:cNvPr id="12" name="Text 10"/>
          <p:cNvSpPr txBox="1"/>
          <p:nvPr/>
        </p:nvSpPr>
        <p:spPr>
          <a:xfrm>
            <a:off x="2148840" y="3108960"/>
            <a:ext cx="4206240" cy="603504"/>
          </a:xfrm>
          <a:prstGeom prst="rect">
            <a:avLst/>
          </a:prstGeom>
          <a:noFill/>
          <a:ln/>
        </p:spPr>
        <p:txBody>
          <a:bodyPr wrap="square" lIns="0" tIns="0" rIns="0" bIns="0" rtlCol="0" anchor="ctr"/>
          <a:lstStyle/>
          <a:p>
            <a:pPr indent="0" marL="0">
              <a:buNone/>
            </a:pPr>
            <a:r>
              <a:rPr lang="en-US" sz="1200" dirty="0">
                <a:solidFill>
                  <a:srgbClr val="33445C"/>
                </a:solidFill>
                <a:latin typeface="Calibri" pitchFamily="34" charset="0"/>
                <a:ea typeface="Calibri" pitchFamily="34" charset="-122"/>
                <a:cs typeface="Calibri" pitchFamily="34" charset="-120"/>
              </a:rPr>
              <a:t>60 parametric refits → parameter uncertainty + small-sample bias correction</a:t>
            </a:r>
            <a:endParaRPr lang="en-US" sz="1200" dirty="0"/>
          </a:p>
        </p:txBody>
      </p:sp>
      <p:sp>
        <p:nvSpPr>
          <p:cNvPr id="13" name="Shape 11"/>
          <p:cNvSpPr/>
          <p:nvPr/>
        </p:nvSpPr>
        <p:spPr>
          <a:xfrm>
            <a:off x="548640" y="3886200"/>
            <a:ext cx="1417320" cy="603504"/>
          </a:xfrm>
          <a:prstGeom prst="roundRect">
            <a:avLst>
              <a:gd name="adj" fmla="val 12121"/>
            </a:avLst>
          </a:prstGeom>
          <a:solidFill>
            <a:srgbClr val="0B7FA3"/>
          </a:solidFill>
          <a:ln w="12700">
            <a:solidFill>
              <a:srgbClr val="0B7FA3"/>
            </a:solidFill>
            <a:prstDash val="solid"/>
          </a:ln>
        </p:spPr>
      </p:sp>
      <p:sp>
        <p:nvSpPr>
          <p:cNvPr id="14" name="Text 12"/>
          <p:cNvSpPr txBox="1"/>
          <p:nvPr/>
        </p:nvSpPr>
        <p:spPr>
          <a:xfrm>
            <a:off x="548640" y="3886200"/>
            <a:ext cx="1417320" cy="60350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Estimate</a:t>
            </a:r>
            <a:endParaRPr lang="en-US" sz="1400" dirty="0"/>
          </a:p>
        </p:txBody>
      </p:sp>
      <p:sp>
        <p:nvSpPr>
          <p:cNvPr id="15" name="Text 13"/>
          <p:cNvSpPr txBox="1"/>
          <p:nvPr/>
        </p:nvSpPr>
        <p:spPr>
          <a:xfrm>
            <a:off x="2148840" y="3886200"/>
            <a:ext cx="4206240" cy="603504"/>
          </a:xfrm>
          <a:prstGeom prst="rect">
            <a:avLst/>
          </a:prstGeom>
          <a:noFill/>
          <a:ln/>
        </p:spPr>
        <p:txBody>
          <a:bodyPr wrap="square" lIns="0" tIns="0" rIns="0" bIns="0" rtlCol="0" anchor="ctr"/>
          <a:lstStyle/>
          <a:p>
            <a:pPr indent="0" marL="0">
              <a:buNone/>
            </a:pPr>
            <a:r>
              <a:rPr lang="en-US" sz="1200" dirty="0">
                <a:solidFill>
                  <a:srgbClr val="33445C"/>
                </a:solidFill>
                <a:latin typeface="Calibri" pitchFamily="34" charset="0"/>
                <a:ea typeface="Calibri" pitchFamily="34" charset="-122"/>
                <a:cs typeface="Calibri" pitchFamily="34" charset="-120"/>
              </a:rPr>
              <a:t>each listing: expected sales given its badge range, always inside the range</a:t>
            </a:r>
            <a:endParaRPr lang="en-US" sz="1200" dirty="0"/>
          </a:p>
        </p:txBody>
      </p:sp>
      <p:sp>
        <p:nvSpPr>
          <p:cNvPr id="16" name="Shape 14"/>
          <p:cNvSpPr/>
          <p:nvPr/>
        </p:nvSpPr>
        <p:spPr>
          <a:xfrm>
            <a:off x="548640" y="4663440"/>
            <a:ext cx="1417320" cy="603504"/>
          </a:xfrm>
          <a:prstGeom prst="roundRect">
            <a:avLst>
              <a:gd name="adj" fmla="val 12121"/>
            </a:avLst>
          </a:prstGeom>
          <a:solidFill>
            <a:srgbClr val="0B7FA3"/>
          </a:solidFill>
          <a:ln w="12700">
            <a:solidFill>
              <a:srgbClr val="0B7FA3"/>
            </a:solidFill>
            <a:prstDash val="solid"/>
          </a:ln>
        </p:spPr>
      </p:sp>
      <p:sp>
        <p:nvSpPr>
          <p:cNvPr id="17" name="Text 15"/>
          <p:cNvSpPr txBox="1"/>
          <p:nvPr/>
        </p:nvSpPr>
        <p:spPr>
          <a:xfrm>
            <a:off x="548640" y="4663440"/>
            <a:ext cx="1417320" cy="60350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Simulate</a:t>
            </a:r>
            <a:endParaRPr lang="en-US" sz="1400" dirty="0"/>
          </a:p>
        </p:txBody>
      </p:sp>
      <p:sp>
        <p:nvSpPr>
          <p:cNvPr id="18" name="Text 16"/>
          <p:cNvSpPr txBox="1"/>
          <p:nvPr/>
        </p:nvSpPr>
        <p:spPr>
          <a:xfrm>
            <a:off x="2148840" y="4663440"/>
            <a:ext cx="4206240" cy="603504"/>
          </a:xfrm>
          <a:prstGeom prst="rect">
            <a:avLst/>
          </a:prstGeom>
          <a:noFill/>
          <a:ln/>
        </p:spPr>
        <p:txBody>
          <a:bodyPr wrap="square" lIns="0" tIns="0" rIns="0" bIns="0" rtlCol="0" anchor="ctr"/>
          <a:lstStyle/>
          <a:p>
            <a:pPr indent="0" marL="0">
              <a:buNone/>
            </a:pPr>
            <a:r>
              <a:rPr lang="en-US" sz="1200" dirty="0">
                <a:solidFill>
                  <a:srgbClr val="33445C"/>
                </a:solidFill>
                <a:latin typeface="Calibri" pitchFamily="34" charset="0"/>
                <a:ea typeface="Calibri" pitchFamily="34" charset="-122"/>
                <a:cs typeface="Calibri" pitchFamily="34" charset="-120"/>
              </a:rPr>
              <a:t>400 joint draws → intervals for every total and share (width calibrated ×1.3)</a:t>
            </a:r>
            <a:endParaRPr lang="en-US" sz="1200" dirty="0"/>
          </a:p>
        </p:txBody>
      </p:sp>
      <p:sp>
        <p:nvSpPr>
          <p:cNvPr id="19" name="Shape 17"/>
          <p:cNvSpPr/>
          <p:nvPr/>
        </p:nvSpPr>
        <p:spPr>
          <a:xfrm>
            <a:off x="548640" y="5440680"/>
            <a:ext cx="1417320" cy="603504"/>
          </a:xfrm>
          <a:prstGeom prst="roundRect">
            <a:avLst>
              <a:gd name="adj" fmla="val 12121"/>
            </a:avLst>
          </a:prstGeom>
          <a:solidFill>
            <a:srgbClr val="0B7FA3"/>
          </a:solidFill>
          <a:ln w="12700">
            <a:solidFill>
              <a:srgbClr val="0B7FA3"/>
            </a:solidFill>
            <a:prstDash val="solid"/>
          </a:ln>
        </p:spPr>
      </p:sp>
      <p:sp>
        <p:nvSpPr>
          <p:cNvPr id="20" name="Text 18"/>
          <p:cNvSpPr txBox="1"/>
          <p:nvPr/>
        </p:nvSpPr>
        <p:spPr>
          <a:xfrm>
            <a:off x="548640" y="5440680"/>
            <a:ext cx="1417320" cy="60350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Reconcile</a:t>
            </a:r>
            <a:endParaRPr lang="en-US" sz="1400" dirty="0"/>
          </a:p>
        </p:txBody>
      </p:sp>
      <p:sp>
        <p:nvSpPr>
          <p:cNvPr id="21" name="Text 19"/>
          <p:cNvSpPr txBox="1"/>
          <p:nvPr/>
        </p:nvSpPr>
        <p:spPr>
          <a:xfrm>
            <a:off x="2148840" y="5440680"/>
            <a:ext cx="4206240" cy="603504"/>
          </a:xfrm>
          <a:prstGeom prst="rect">
            <a:avLst/>
          </a:prstGeom>
          <a:noFill/>
          <a:ln/>
        </p:spPr>
        <p:txBody>
          <a:bodyPr wrap="square" lIns="0" tIns="0" rIns="0" bIns="0" rtlCol="0" anchor="ctr"/>
          <a:lstStyle/>
          <a:p>
            <a:pPr indent="0" marL="0">
              <a:buNone/>
            </a:pPr>
            <a:r>
              <a:rPr lang="en-US" sz="1200" dirty="0">
                <a:solidFill>
                  <a:srgbClr val="33445C"/>
                </a:solidFill>
                <a:latin typeface="Calibri" pitchFamily="34" charset="0"/>
                <a:ea typeface="Calibri" pitchFamily="34" charset="-122"/>
                <a:cs typeface="Calibri" pitchFamily="34" charset="-120"/>
              </a:rPr>
              <a:t>every total = sum of its listings → listings, products, brands, segments, market add up exactly</a:t>
            </a:r>
            <a:endParaRPr lang="en-US" sz="1200" dirty="0"/>
          </a:p>
        </p:txBody>
      </p:sp>
      <p:graphicFrame>
        <p:nvGraphicFramePr>
          <p:cNvPr id="22" name="Chart 0" descr=""/>
          <p:cNvGraphicFramePr/>
          <p:nvPr/>
        </p:nvGraphicFramePr>
        <p:xfrm>
          <a:off x="6675120" y="1554480"/>
          <a:ext cx="5029200" cy="4023360"/>
        </p:xfrm>
        <a:graphic xmlns:a="http://schemas.openxmlformats.org/drawingml/2006/main">
          <a:graphicData uri="http://schemas.openxmlformats.org/drawingml/2006/chart">
            <c:chart xmlns:c="http://schemas.openxmlformats.org/drawingml/2006/chart" r:id="rId1"/>
          </a:graphicData>
        </a:graphic>
      </p:graphicFrame>
      <p:sp>
        <p:nvSpPr>
          <p:cNvPr id="23" name="Text 20"/>
          <p:cNvSpPr txBox="1"/>
          <p:nvPr/>
        </p:nvSpPr>
        <p:spPr>
          <a:xfrm>
            <a:off x="6675120" y="5669280"/>
            <a:ext cx="5029200" cy="457200"/>
          </a:xfrm>
          <a:prstGeom prst="rect">
            <a:avLst/>
          </a:prstGeom>
          <a:noFill/>
          <a:ln/>
        </p:spPr>
        <p:txBody>
          <a:bodyPr wrap="square" lIns="0" tIns="0" rIns="0" bIns="0" rtlCol="0" anchor="ctr"/>
          <a:lstStyle/>
          <a:p>
            <a:pPr indent="0" marL="0">
              <a:buNone/>
            </a:pPr>
            <a:r>
              <a:rPr lang="en-US" sz="1150" i="1" dirty="0">
                <a:solidFill>
                  <a:srgbClr val="44546B"/>
                </a:solidFill>
                <a:latin typeface="Calibri" pitchFamily="34" charset="0"/>
                <a:ea typeface="Calibri" pitchFamily="34" charset="-122"/>
                <a:cs typeface="Calibri" pitchFamily="34" charset="-120"/>
              </a:rPr>
              <a:t>Real exports: dental_models $175.8k (floor $64.9k), denture_base $114.1k, implants $12.7k in scope.</a:t>
            </a:r>
            <a:endParaRPr lang="en-US" sz="1150" dirty="0"/>
          </a:p>
        </p:txBody>
      </p:sp>
      <p:sp>
        <p:nvSpPr>
          <p:cNvPr id="24" name="Text 21"/>
          <p:cNvSpPr txBox="1"/>
          <p:nvPr/>
        </p:nvSpPr>
        <p:spPr>
          <a:xfrm>
            <a:off x="10332720" y="6446520"/>
            <a:ext cx="1371600" cy="228600"/>
          </a:xfrm>
          <a:prstGeom prst="rect">
            <a:avLst/>
          </a:prstGeom>
          <a:noFill/>
          <a:ln/>
        </p:spPr>
        <p:txBody>
          <a:bodyPr wrap="square" lIns="0" tIns="0" rIns="0" bIns="0" rtlCol="0" anchor="ctr"/>
          <a:lstStyle/>
          <a:p>
            <a:pPr algn="r" indent="0" marL="0">
              <a:buNone/>
            </a:pPr>
            <a:r>
              <a:rPr lang="en-US" sz="900" dirty="0">
                <a:solidFill>
                  <a:srgbClr val="8A98AD"/>
                </a:solidFill>
                <a:latin typeface="Calibri" pitchFamily="34" charset="0"/>
                <a:ea typeface="Calibri" pitchFamily="34" charset="-122"/>
                <a:cs typeface="Calibri" pitchFamily="34" charset="-120"/>
              </a:rPr>
              <a:t>DMIS ·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274320"/>
          </a:xfrm>
          <a:prstGeom prst="rect">
            <a:avLst/>
          </a:prstGeom>
          <a:noFill/>
          <a:ln/>
        </p:spPr>
        <p:txBody>
          <a:bodyPr wrap="square" lIns="0" tIns="0" rIns="0" bIns="0" rtlCol="0" anchor="ctr"/>
          <a:lstStyle/>
          <a:p>
            <a:pPr indent="0" marL="0">
              <a:buNone/>
            </a:pPr>
            <a:r>
              <a:rPr lang="en-US" sz="1100" b="1" spc="300" kern="0" dirty="0">
                <a:solidFill>
                  <a:srgbClr val="38D6FF"/>
                </a:solidFill>
                <a:latin typeface="Calibri" pitchFamily="34" charset="0"/>
                <a:ea typeface="Calibri" pitchFamily="34" charset="-122"/>
                <a:cs typeface="Calibri" pitchFamily="34" charset="-120"/>
              </a:rPr>
              <a:t>MODULE · INTELLIGENCE</a:t>
            </a:r>
            <a:endParaRPr lang="en-US" sz="1100" dirty="0"/>
          </a:p>
        </p:txBody>
      </p:sp>
      <p:sp>
        <p:nvSpPr>
          <p:cNvPr id="3" name="Text 1"/>
          <p:cNvSpPr txBox="1"/>
          <p:nvPr/>
        </p:nvSpPr>
        <p:spPr>
          <a:xfrm>
            <a:off x="548640" y="685800"/>
            <a:ext cx="11064240" cy="685800"/>
          </a:xfrm>
          <a:prstGeom prst="rect">
            <a:avLst/>
          </a:prstGeom>
          <a:noFill/>
          <a:ln/>
        </p:spPr>
        <p:txBody>
          <a:bodyPr wrap="square" lIns="0" tIns="0" rIns="0" bIns="0" rtlCol="0" anchor="ctr"/>
          <a:lstStyle/>
          <a:p>
            <a:pPr indent="0" marL="0">
              <a:buNone/>
            </a:pPr>
            <a:r>
              <a:rPr lang="en-US" sz="3200" b="1" dirty="0">
                <a:solidFill>
                  <a:srgbClr val="E6EEFB"/>
                </a:solidFill>
                <a:latin typeface="Cambria" pitchFamily="34" charset="0"/>
                <a:ea typeface="Cambria" pitchFamily="34" charset="-122"/>
                <a:cs typeface="Cambria" pitchFamily="34" charset="-120"/>
              </a:rPr>
              <a:t>Command Center — where to act</a:t>
            </a:r>
            <a:endParaRPr lang="en-US" sz="3200" dirty="0"/>
          </a:p>
        </p:txBody>
      </p:sp>
      <p:sp>
        <p:nvSpPr>
          <p:cNvPr id="4" name="Shape 2"/>
          <p:cNvSpPr/>
          <p:nvPr/>
        </p:nvSpPr>
        <p:spPr>
          <a:xfrm>
            <a:off x="493776" y="1545336"/>
            <a:ext cx="7013448" cy="4624914"/>
          </a:xfrm>
          <a:prstGeom prst="roundRect">
            <a:avLst>
              <a:gd name="adj" fmla="val 1582"/>
            </a:avLst>
          </a:prstGeom>
          <a:solidFill>
            <a:srgbClr val="1F3150"/>
          </a:solidFill>
          <a:ln w="12700">
            <a:solidFill>
              <a:srgbClr val="1F3150"/>
            </a:solidFill>
            <a:prstDash val="solid"/>
          </a:ln>
          <a:effectLst>
            <a:outerShdw sx="100000" sy="100000" kx="0" ky="0" algn="bl" rotWithShape="0" blurRad="101600" dist="38100" dir="5400000">
              <a:srgbClr val="000000">
                <a:alpha val="25000"/>
              </a:srgbClr>
            </a:outerShdw>
          </a:effectLst>
        </p:spPr>
      </p:sp>
      <p:pic>
        <p:nvPicPr>
          <p:cNvPr id="5" name="Image 0" descr="home.jpg">    </p:cNvPr>
          <p:cNvPicPr>
            <a:picLocks noChangeAspect="1"/>
          </p:cNvPicPr>
          <p:nvPr/>
        </p:nvPicPr>
        <p:blipFill>
          <a:blip r:embed="rId1"/>
          <a:stretch>
            <a:fillRect/>
          </a:stretch>
        </p:blipFill>
        <p:spPr>
          <a:xfrm>
            <a:off x="548640" y="1600200"/>
            <a:ext cx="6903720" cy="4515186"/>
          </a:xfrm>
          <a:prstGeom prst="rect">
            <a:avLst/>
          </a:prstGeom>
        </p:spPr>
      </p:pic>
      <p:sp>
        <p:nvSpPr>
          <p:cNvPr id="6" name="Text 3"/>
          <p:cNvSpPr txBox="1"/>
          <p:nvPr/>
        </p:nvSpPr>
        <p:spPr>
          <a:xfrm>
            <a:off x="548640" y="6225114"/>
            <a:ext cx="6903720" cy="228600"/>
          </a:xfrm>
          <a:prstGeom prst="rect">
            <a:avLst/>
          </a:prstGeom>
          <a:noFill/>
          <a:ln/>
        </p:spPr>
        <p:txBody>
          <a:bodyPr wrap="square" lIns="0" tIns="0" rIns="0" bIns="0" rtlCol="0" anchor="ctr"/>
          <a:lstStyle/>
          <a:p>
            <a:pPr indent="0" marL="0">
              <a:buNone/>
            </a:pPr>
            <a:r>
              <a:rPr lang="en-US" sz="1000" dirty="0">
                <a:solidFill>
                  <a:srgbClr val="6F84A6"/>
                </a:solidFill>
                <a:latin typeface="Courier New" pitchFamily="34" charset="0"/>
                <a:ea typeface="Courier New" pitchFamily="34" charset="-122"/>
                <a:cs typeface="Courier New" pitchFamily="34" charset="-120"/>
              </a:rPr>
              <a:t>/</a:t>
            </a:r>
            <a:endParaRPr lang="en-US" sz="1000" dirty="0"/>
          </a:p>
        </p:txBody>
      </p:sp>
      <p:sp>
        <p:nvSpPr>
          <p:cNvPr id="7" name="Text 4"/>
          <p:cNvSpPr txBox="1"/>
          <p:nvPr/>
        </p:nvSpPr>
        <p:spPr>
          <a:xfrm>
            <a:off x="7818120" y="1600200"/>
            <a:ext cx="3840480" cy="256032"/>
          </a:xfrm>
          <a:prstGeom prst="rect">
            <a:avLst/>
          </a:prstGeom>
          <a:noFill/>
          <a:ln/>
        </p:spPr>
        <p:txBody>
          <a:bodyPr wrap="square" lIns="0" tIns="0" rIns="0" bIns="0" rtlCol="0" anchor="ctr"/>
          <a:lstStyle/>
          <a:p>
            <a:pPr indent="0" marL="0">
              <a:buNone/>
            </a:pPr>
            <a:r>
              <a:rPr lang="en-US" sz="1050" b="1" spc="200" kern="0" dirty="0">
                <a:solidFill>
                  <a:srgbClr val="38D6FF"/>
                </a:solidFill>
                <a:latin typeface="Calibri" pitchFamily="34" charset="0"/>
                <a:ea typeface="Calibri" pitchFamily="34" charset="-122"/>
                <a:cs typeface="Calibri" pitchFamily="34" charset="-120"/>
              </a:rPr>
              <a:t>HOW IT WORKS</a:t>
            </a:r>
            <a:endParaRPr lang="en-US" sz="1050" dirty="0"/>
          </a:p>
        </p:txBody>
      </p:sp>
      <p:sp>
        <p:nvSpPr>
          <p:cNvPr id="8" name="Text 5"/>
          <p:cNvSpPr txBox="1"/>
          <p:nvPr/>
        </p:nvSpPr>
        <p:spPr>
          <a:xfrm>
            <a:off x="7818120" y="1901952"/>
            <a:ext cx="3840480" cy="214884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A9BAD3"/>
                </a:solidFill>
                <a:latin typeface="Calibri" pitchFamily="34" charset="0"/>
                <a:ea typeface="Calibri" pitchFamily="34" charset="-122"/>
                <a:cs typeface="Calibri" pitchFamily="34" charset="-120"/>
              </a:rPr>
              <a:t>KPI strip: markets, products, estimated revenue with its certain floor, records, suppliers, graph size</a:t>
            </a:r>
            <a:endParaRPr lang="en-US" sz="1250" dirty="0"/>
          </a:p>
          <a:p>
            <a:pPr marL="177800" indent="-177800">
              <a:spcAft>
                <a:spcPts val="500"/>
              </a:spcAft>
              <a:buSzPct val="100000"/>
              <a:buChar char="•"/>
            </a:pPr>
            <a:r>
              <a:rPr lang="en-US" sz="1250" dirty="0">
                <a:solidFill>
                  <a:srgbClr val="A9BAD3"/>
                </a:solidFill>
                <a:latin typeface="Calibri" pitchFamily="34" charset="0"/>
                <a:ea typeface="Calibri" pitchFamily="34" charset="-122"/>
                <a:cs typeface="Calibri" pitchFamily="34" charset="-120"/>
              </a:rPr>
              <a:t>“Where to act”: one card per market — size interval, evidence grade, best sub-category, recommended product</a:t>
            </a:r>
            <a:endParaRPr lang="en-US" sz="1250" dirty="0"/>
          </a:p>
          <a:p>
            <a:pPr marL="177800" indent="-177800">
              <a:spcAft>
                <a:spcPts val="500"/>
              </a:spcAft>
              <a:buSzPct val="100000"/>
              <a:buChar char="•"/>
            </a:pPr>
            <a:r>
              <a:rPr lang="en-US" sz="1250" dirty="0">
                <a:solidFill>
                  <a:srgbClr val="A9BAD3"/>
                </a:solidFill>
                <a:latin typeface="Calibri" pitchFamily="34" charset="0"/>
                <a:ea typeface="Calibri" pitchFamily="34" charset="-122"/>
                <a:cs typeface="Calibri" pitchFamily="34" charset="-120"/>
              </a:rPr>
              <a:t>Leading brands by estimated revenue; 3D globe of markets and suppliers</a:t>
            </a:r>
            <a:endParaRPr lang="en-US" sz="1250" dirty="0"/>
          </a:p>
        </p:txBody>
      </p:sp>
      <p:sp>
        <p:nvSpPr>
          <p:cNvPr id="9" name="Text 6"/>
          <p:cNvSpPr txBox="1"/>
          <p:nvPr/>
        </p:nvSpPr>
        <p:spPr>
          <a:xfrm>
            <a:off x="7818120" y="4114800"/>
            <a:ext cx="3840480" cy="256032"/>
          </a:xfrm>
          <a:prstGeom prst="rect">
            <a:avLst/>
          </a:prstGeom>
          <a:noFill/>
          <a:ln/>
        </p:spPr>
        <p:txBody>
          <a:bodyPr wrap="square" lIns="0" tIns="0" rIns="0" bIns="0" rtlCol="0" anchor="ctr"/>
          <a:lstStyle/>
          <a:p>
            <a:pPr indent="0" marL="0">
              <a:buNone/>
            </a:pPr>
            <a:r>
              <a:rPr lang="en-US" sz="1050" b="1" spc="200" kern="0" dirty="0">
                <a:solidFill>
                  <a:srgbClr val="F5B942"/>
                </a:solidFill>
                <a:latin typeface="Calibri" pitchFamily="34" charset="0"/>
                <a:ea typeface="Calibri" pitchFamily="34" charset="-122"/>
                <a:cs typeface="Calibri" pitchFamily="34" charset="-120"/>
              </a:rPr>
              <a:t>IN DEPTH</a:t>
            </a:r>
            <a:endParaRPr lang="en-US" sz="1050" dirty="0"/>
          </a:p>
        </p:txBody>
      </p:sp>
      <p:sp>
        <p:nvSpPr>
          <p:cNvPr id="10" name="Text 7"/>
          <p:cNvSpPr txBox="1"/>
          <p:nvPr/>
        </p:nvSpPr>
        <p:spPr>
          <a:xfrm>
            <a:off x="7818120" y="4416552"/>
            <a:ext cx="3840480" cy="1920240"/>
          </a:xfrm>
          <a:prstGeom prst="rect">
            <a:avLst/>
          </a:prstGeom>
          <a:noFill/>
          <a:ln/>
        </p:spPr>
        <p:txBody>
          <a:bodyPr wrap="square" lIns="0" tIns="0" rIns="0" bIns="0" rtlCol="0" anchor="t"/>
          <a:lstStyle/>
          <a:p>
            <a:pPr marL="177800" indent="-177800">
              <a:buSzPct val="100000"/>
              <a:buChar char="•"/>
            </a:pPr>
            <a:r>
              <a:rPr lang="en-US" sz="1150" b="1" dirty="0">
                <a:solidFill>
                  <a:srgbClr val="E6EEFB"/>
                </a:solidFill>
                <a:latin typeface="Calibri" pitchFamily="34" charset="0"/>
                <a:ea typeface="Calibri" pitchFamily="34" charset="-122"/>
                <a:cs typeface="Calibri" pitchFamily="34" charset="-120"/>
              </a:rPr>
              <a:t>Ranking: </a:t>
            </a:r>
            <a:pPr indent="0" marL="0">
              <a:spcAft>
                <a:spcPts val="500"/>
              </a:spcAft>
              <a:buNone/>
            </a:pPr>
            <a:r>
              <a:rPr lang="en-US" sz="1150" dirty="0">
                <a:solidFill>
                  <a:srgbClr val="A9BAD3"/>
                </a:solidFill>
                <a:latin typeface="Calibri" pitchFamily="34" charset="0"/>
                <a:ea typeface="Calibri" pitchFamily="34" charset="-122"/>
                <a:cs typeface="Calibri" pitchFamily="34" charset="-120"/>
              </a:rPr>
              <a:t>markets ordered by their top sub-category's opportunity index</a:t>
            </a:r>
            <a:endParaRPr lang="en-US" sz="1150" dirty="0"/>
          </a:p>
          <a:p>
            <a:pPr marL="177800" indent="-177800">
              <a:buSzPct val="100000"/>
              <a:buChar char="•"/>
            </a:pPr>
            <a:r>
              <a:rPr lang="en-US" sz="1150" b="1" dirty="0">
                <a:solidFill>
                  <a:srgbClr val="E6EEFB"/>
                </a:solidFill>
                <a:latin typeface="Calibri" pitchFamily="34" charset="0"/>
                <a:ea typeface="Calibri" pitchFamily="34" charset="-122"/>
                <a:cs typeface="Calibri" pitchFamily="34" charset="-120"/>
              </a:rPr>
              <a:t>Grade: </a:t>
            </a:r>
            <a:pPr indent="0" marL="0">
              <a:spcAft>
                <a:spcPts val="500"/>
              </a:spcAft>
              <a:buNone/>
            </a:pPr>
            <a:r>
              <a:rPr lang="en-US" sz="1150" dirty="0">
                <a:solidFill>
                  <a:srgbClr val="A9BAD3"/>
                </a:solidFill>
                <a:latin typeface="Calibri" pitchFamily="34" charset="0"/>
                <a:ea typeface="Calibri" pitchFamily="34" charset="-122"/>
                <a:cs typeface="Calibri" pitchFamily="34" charset="-120"/>
              </a:rPr>
              <a:t>A–D from listings, badge share and hold-out AUC</a:t>
            </a:r>
            <a:endParaRPr lang="en-US" sz="1150" dirty="0"/>
          </a:p>
          <a:p>
            <a:pPr marL="177800" indent="-177800">
              <a:buSzPct val="100000"/>
              <a:buChar char="•"/>
            </a:pPr>
            <a:r>
              <a:rPr lang="en-US" sz="1150" b="1" dirty="0">
                <a:solidFill>
                  <a:srgbClr val="E6EEFB"/>
                </a:solidFill>
                <a:latin typeface="Calibri" pitchFamily="34" charset="0"/>
                <a:ea typeface="Calibri" pitchFamily="34" charset="-122"/>
                <a:cs typeface="Calibri" pitchFamily="34" charset="-120"/>
              </a:rPr>
              <a:t>Globe: </a:t>
            </a:r>
            <a:pPr indent="0" marL="0">
              <a:spcAft>
                <a:spcPts val="500"/>
              </a:spcAft>
              <a:buNone/>
            </a:pPr>
            <a:r>
              <a:rPr lang="en-US" sz="1150" dirty="0">
                <a:solidFill>
                  <a:srgbClr val="A9BAD3"/>
                </a:solidFill>
                <a:latin typeface="Calibri" pitchFamily="34" charset="0"/>
                <a:ea typeface="Calibri" pitchFamily="34" charset="-122"/>
                <a:cs typeface="Calibri" pitchFamily="34" charset="-120"/>
              </a:rPr>
              <a:t>three.js; beacon height = revenue, colour = opportunity</a:t>
            </a:r>
            <a:endParaRPr lang="en-US" sz="1150" dirty="0"/>
          </a:p>
        </p:txBody>
      </p:sp>
      <p:sp>
        <p:nvSpPr>
          <p:cNvPr id="11" name="Text 8"/>
          <p:cNvSpPr txBox="1"/>
          <p:nvPr/>
        </p:nvSpPr>
        <p:spPr>
          <a:xfrm>
            <a:off x="10332720" y="6446520"/>
            <a:ext cx="1371600" cy="228600"/>
          </a:xfrm>
          <a:prstGeom prst="rect">
            <a:avLst/>
          </a:prstGeom>
          <a:noFill/>
          <a:ln/>
        </p:spPr>
        <p:txBody>
          <a:bodyPr wrap="square" lIns="0" tIns="0" rIns="0" bIns="0" rtlCol="0" anchor="ctr"/>
          <a:lstStyle/>
          <a:p>
            <a:pPr algn="r" indent="0" marL="0">
              <a:buNone/>
            </a:pPr>
            <a:r>
              <a:rPr lang="en-US" sz="900" dirty="0">
                <a:solidFill>
                  <a:srgbClr val="6F84A6"/>
                </a:solidFill>
                <a:latin typeface="Calibri" pitchFamily="34" charset="0"/>
                <a:ea typeface="Calibri" pitchFamily="34" charset="-122"/>
                <a:cs typeface="Calibri" pitchFamily="34" charset="-120"/>
              </a:rPr>
              <a:t>DMIS ·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274320"/>
          </a:xfrm>
          <a:prstGeom prst="rect">
            <a:avLst/>
          </a:prstGeom>
          <a:noFill/>
          <a:ln/>
        </p:spPr>
        <p:txBody>
          <a:bodyPr wrap="square" lIns="0" tIns="0" rIns="0" bIns="0" rtlCol="0" anchor="ctr"/>
          <a:lstStyle/>
          <a:p>
            <a:pPr indent="0" marL="0">
              <a:buNone/>
            </a:pPr>
            <a:r>
              <a:rPr lang="en-US" sz="1100" b="1" spc="300" kern="0" dirty="0">
                <a:solidFill>
                  <a:srgbClr val="38D6FF"/>
                </a:solidFill>
                <a:latin typeface="Calibri" pitchFamily="34" charset="0"/>
                <a:ea typeface="Calibri" pitchFamily="34" charset="-122"/>
                <a:cs typeface="Calibri" pitchFamily="34" charset="-120"/>
              </a:rPr>
              <a:t>MODULE · INTELLIGENCE</a:t>
            </a:r>
            <a:endParaRPr lang="en-US" sz="1100" dirty="0"/>
          </a:p>
        </p:txBody>
      </p:sp>
      <p:sp>
        <p:nvSpPr>
          <p:cNvPr id="3" name="Text 1"/>
          <p:cNvSpPr txBox="1"/>
          <p:nvPr/>
        </p:nvSpPr>
        <p:spPr>
          <a:xfrm>
            <a:off x="548640" y="685800"/>
            <a:ext cx="11064240" cy="685800"/>
          </a:xfrm>
          <a:prstGeom prst="rect">
            <a:avLst/>
          </a:prstGeom>
          <a:noFill/>
          <a:ln/>
        </p:spPr>
        <p:txBody>
          <a:bodyPr wrap="square" lIns="0" tIns="0" rIns="0" bIns="0" rtlCol="0" anchor="ctr"/>
          <a:lstStyle/>
          <a:p>
            <a:pPr indent="0" marL="0">
              <a:buNone/>
            </a:pPr>
            <a:r>
              <a:rPr lang="en-US" sz="3200" b="1" dirty="0">
                <a:solidFill>
                  <a:srgbClr val="E6EEFB"/>
                </a:solidFill>
                <a:latin typeface="Cambria" pitchFamily="34" charset="0"/>
                <a:ea typeface="Cambria" pitchFamily="34" charset="-122"/>
                <a:cs typeface="Cambria" pitchFamily="34" charset="-120"/>
              </a:rPr>
              <a:t>Market Analytics — one market in depth</a:t>
            </a:r>
            <a:endParaRPr lang="en-US" sz="3200" dirty="0"/>
          </a:p>
        </p:txBody>
      </p:sp>
      <p:sp>
        <p:nvSpPr>
          <p:cNvPr id="4" name="Shape 2"/>
          <p:cNvSpPr/>
          <p:nvPr/>
        </p:nvSpPr>
        <p:spPr>
          <a:xfrm>
            <a:off x="493776" y="1545336"/>
            <a:ext cx="7013448" cy="4624914"/>
          </a:xfrm>
          <a:prstGeom prst="roundRect">
            <a:avLst>
              <a:gd name="adj" fmla="val 1582"/>
            </a:avLst>
          </a:prstGeom>
          <a:solidFill>
            <a:srgbClr val="1F3150"/>
          </a:solidFill>
          <a:ln w="12700">
            <a:solidFill>
              <a:srgbClr val="1F3150"/>
            </a:solidFill>
            <a:prstDash val="solid"/>
          </a:ln>
          <a:effectLst>
            <a:outerShdw sx="100000" sy="100000" kx="0" ky="0" algn="bl" rotWithShape="0" blurRad="101600" dist="38100" dir="5400000">
              <a:srgbClr val="000000">
                <a:alpha val="25000"/>
              </a:srgbClr>
            </a:outerShdw>
          </a:effectLst>
        </p:spPr>
      </p:sp>
      <p:pic>
        <p:nvPicPr>
          <p:cNvPr id="5" name="Image 0" descr="market.jpg">    </p:cNvPr>
          <p:cNvPicPr>
            <a:picLocks noChangeAspect="1"/>
          </p:cNvPicPr>
          <p:nvPr/>
        </p:nvPicPr>
        <p:blipFill>
          <a:blip r:embed="rId1"/>
          <a:stretch>
            <a:fillRect/>
          </a:stretch>
        </p:blipFill>
        <p:spPr>
          <a:xfrm>
            <a:off x="548640" y="1600200"/>
            <a:ext cx="6903720" cy="4515186"/>
          </a:xfrm>
          <a:prstGeom prst="rect">
            <a:avLst/>
          </a:prstGeom>
        </p:spPr>
      </p:pic>
      <p:sp>
        <p:nvSpPr>
          <p:cNvPr id="6" name="Text 3"/>
          <p:cNvSpPr txBox="1"/>
          <p:nvPr/>
        </p:nvSpPr>
        <p:spPr>
          <a:xfrm>
            <a:off x="548640" y="6225114"/>
            <a:ext cx="6903720" cy="228600"/>
          </a:xfrm>
          <a:prstGeom prst="rect">
            <a:avLst/>
          </a:prstGeom>
          <a:noFill/>
          <a:ln/>
        </p:spPr>
        <p:txBody>
          <a:bodyPr wrap="square" lIns="0" tIns="0" rIns="0" bIns="0" rtlCol="0" anchor="ctr"/>
          <a:lstStyle/>
          <a:p>
            <a:pPr indent="0" marL="0">
              <a:buNone/>
            </a:pPr>
            <a:r>
              <a:rPr lang="en-US" sz="1000" dirty="0">
                <a:solidFill>
                  <a:srgbClr val="6F84A6"/>
                </a:solidFill>
                <a:latin typeface="Courier New" pitchFamily="34" charset="0"/>
                <a:ea typeface="Courier New" pitchFamily="34" charset="-122"/>
                <a:cs typeface="Courier New" pitchFamily="34" charset="-120"/>
              </a:rPr>
              <a:t>/markets/dental_models</a:t>
            </a:r>
            <a:endParaRPr lang="en-US" sz="1000" dirty="0"/>
          </a:p>
        </p:txBody>
      </p:sp>
      <p:sp>
        <p:nvSpPr>
          <p:cNvPr id="7" name="Text 4"/>
          <p:cNvSpPr txBox="1"/>
          <p:nvPr/>
        </p:nvSpPr>
        <p:spPr>
          <a:xfrm>
            <a:off x="7818120" y="1600200"/>
            <a:ext cx="3840480" cy="256032"/>
          </a:xfrm>
          <a:prstGeom prst="rect">
            <a:avLst/>
          </a:prstGeom>
          <a:noFill/>
          <a:ln/>
        </p:spPr>
        <p:txBody>
          <a:bodyPr wrap="square" lIns="0" tIns="0" rIns="0" bIns="0" rtlCol="0" anchor="ctr"/>
          <a:lstStyle/>
          <a:p>
            <a:pPr indent="0" marL="0">
              <a:buNone/>
            </a:pPr>
            <a:r>
              <a:rPr lang="en-US" sz="1050" b="1" spc="200" kern="0" dirty="0">
                <a:solidFill>
                  <a:srgbClr val="38D6FF"/>
                </a:solidFill>
                <a:latin typeface="Calibri" pitchFamily="34" charset="0"/>
                <a:ea typeface="Calibri" pitchFamily="34" charset="-122"/>
                <a:cs typeface="Calibri" pitchFamily="34" charset="-120"/>
              </a:rPr>
              <a:t>HOW IT WORKS</a:t>
            </a:r>
            <a:endParaRPr lang="en-US" sz="1050" dirty="0"/>
          </a:p>
        </p:txBody>
      </p:sp>
      <p:sp>
        <p:nvSpPr>
          <p:cNvPr id="8" name="Text 5"/>
          <p:cNvSpPr txBox="1"/>
          <p:nvPr/>
        </p:nvSpPr>
        <p:spPr>
          <a:xfrm>
            <a:off x="7818120" y="1901952"/>
            <a:ext cx="3840480" cy="214884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A9BAD3"/>
                </a:solidFill>
                <a:latin typeface="Calibri" pitchFamily="34" charset="0"/>
                <a:ea typeface="Calibri" pitchFamily="34" charset="-122"/>
                <a:cs typeface="Calibri" pitchFamily="34" charset="-120"/>
              </a:rPr>
              <a:t>Size tiles: estimate, 95% interval, floor and ceiling; units; concentration; entrant success; demand model; unit costs</a:t>
            </a:r>
            <a:endParaRPr lang="en-US" sz="1250" dirty="0"/>
          </a:p>
          <a:p>
            <a:pPr marL="177800" indent="-177800">
              <a:spcAft>
                <a:spcPts val="500"/>
              </a:spcAft>
              <a:buSzPct val="100000"/>
              <a:buChar char="•"/>
            </a:pPr>
            <a:r>
              <a:rPr lang="en-US" sz="1250" dirty="0">
                <a:solidFill>
                  <a:srgbClr val="A9BAD3"/>
                </a:solidFill>
                <a:latin typeface="Calibri" pitchFamily="34" charset="0"/>
                <a:ea typeface="Calibri" pitchFamily="34" charset="-122"/>
                <a:cs typeface="Calibri" pitchFamily="34" charset="-120"/>
              </a:rPr>
              <a:t>Recommended product from significant demand gaps</a:t>
            </a:r>
            <a:endParaRPr lang="en-US" sz="1250" dirty="0"/>
          </a:p>
          <a:p>
            <a:pPr marL="177800" indent="-177800">
              <a:spcAft>
                <a:spcPts val="500"/>
              </a:spcAft>
              <a:buSzPct val="100000"/>
              <a:buChar char="•"/>
            </a:pPr>
            <a:r>
              <a:rPr lang="en-US" sz="1250" dirty="0">
                <a:solidFill>
                  <a:srgbClr val="A9BAD3"/>
                </a:solidFill>
                <a:latin typeface="Calibri" pitchFamily="34" charset="0"/>
                <a:ea typeface="Calibri" pitchFamily="34" charset="-122"/>
                <a:cs typeface="Calibri" pitchFamily="34" charset="-120"/>
              </a:rPr>
              <a:t>Sub-categories ranked by opportunity index, each with generated description and keywords</a:t>
            </a:r>
            <a:endParaRPr lang="en-US" sz="1250" dirty="0"/>
          </a:p>
        </p:txBody>
      </p:sp>
      <p:sp>
        <p:nvSpPr>
          <p:cNvPr id="9" name="Text 6"/>
          <p:cNvSpPr txBox="1"/>
          <p:nvPr/>
        </p:nvSpPr>
        <p:spPr>
          <a:xfrm>
            <a:off x="7818120" y="4114800"/>
            <a:ext cx="3840480" cy="256032"/>
          </a:xfrm>
          <a:prstGeom prst="rect">
            <a:avLst/>
          </a:prstGeom>
          <a:noFill/>
          <a:ln/>
        </p:spPr>
        <p:txBody>
          <a:bodyPr wrap="square" lIns="0" tIns="0" rIns="0" bIns="0" rtlCol="0" anchor="ctr"/>
          <a:lstStyle/>
          <a:p>
            <a:pPr indent="0" marL="0">
              <a:buNone/>
            </a:pPr>
            <a:r>
              <a:rPr lang="en-US" sz="1050" b="1" spc="200" kern="0" dirty="0">
                <a:solidFill>
                  <a:srgbClr val="F5B942"/>
                </a:solidFill>
                <a:latin typeface="Calibri" pitchFamily="34" charset="0"/>
                <a:ea typeface="Calibri" pitchFamily="34" charset="-122"/>
                <a:cs typeface="Calibri" pitchFamily="34" charset="-120"/>
              </a:rPr>
              <a:t>IN DEPTH</a:t>
            </a:r>
            <a:endParaRPr lang="en-US" sz="1050" dirty="0"/>
          </a:p>
        </p:txBody>
      </p:sp>
      <p:sp>
        <p:nvSpPr>
          <p:cNvPr id="10" name="Text 7"/>
          <p:cNvSpPr txBox="1"/>
          <p:nvPr/>
        </p:nvSpPr>
        <p:spPr>
          <a:xfrm>
            <a:off x="7818120" y="4416552"/>
            <a:ext cx="3840480" cy="1920240"/>
          </a:xfrm>
          <a:prstGeom prst="rect">
            <a:avLst/>
          </a:prstGeom>
          <a:noFill/>
          <a:ln/>
        </p:spPr>
        <p:txBody>
          <a:bodyPr wrap="square" lIns="0" tIns="0" rIns="0" bIns="0" rtlCol="0" anchor="t"/>
          <a:lstStyle/>
          <a:p>
            <a:pPr marL="177800" indent="-177800">
              <a:buSzPct val="100000"/>
              <a:buChar char="•"/>
            </a:pPr>
            <a:r>
              <a:rPr lang="en-US" sz="1150" b="1" dirty="0">
                <a:solidFill>
                  <a:srgbClr val="E6EEFB"/>
                </a:solidFill>
                <a:latin typeface="Calibri" pitchFamily="34" charset="0"/>
                <a:ea typeface="Calibri" pitchFamily="34" charset="-122"/>
                <a:cs typeface="Calibri" pitchFamily="34" charset="-120"/>
              </a:rPr>
              <a:t>ⓘ on every number: </a:t>
            </a:r>
            <a:pPr indent="0" marL="0">
              <a:spcAft>
                <a:spcPts val="500"/>
              </a:spcAft>
              <a:buNone/>
            </a:pPr>
            <a:r>
              <a:rPr lang="en-US" sz="1150" dirty="0">
                <a:solidFill>
                  <a:srgbClr val="A9BAD3"/>
                </a:solidFill>
                <a:latin typeface="Calibri" pitchFamily="34" charset="0"/>
                <a:ea typeface="Calibri" pitchFamily="34" charset="-122"/>
                <a:cs typeface="Calibri" pitchFamily="34" charset="-120"/>
              </a:rPr>
              <a:t>value, interval, n, formula ID, basis, caveat</a:t>
            </a:r>
            <a:endParaRPr lang="en-US" sz="1150" dirty="0"/>
          </a:p>
          <a:p>
            <a:pPr marL="177800" indent="-177800">
              <a:buSzPct val="100000"/>
              <a:buChar char="•"/>
            </a:pPr>
            <a:r>
              <a:rPr lang="en-US" sz="1150" b="1" dirty="0">
                <a:solidFill>
                  <a:srgbClr val="E6EEFB"/>
                </a:solidFill>
                <a:latin typeface="Calibri" pitchFamily="34" charset="0"/>
                <a:ea typeface="Calibri" pitchFamily="34" charset="-122"/>
                <a:cs typeface="Calibri" pitchFamily="34" charset="-120"/>
              </a:rPr>
              <a:t>Evidence grade C: </a:t>
            </a:r>
            <a:pPr indent="0" marL="0">
              <a:spcAft>
                <a:spcPts val="500"/>
              </a:spcAft>
              <a:buNone/>
            </a:pPr>
            <a:r>
              <a:rPr lang="en-US" sz="1150" dirty="0">
                <a:solidFill>
                  <a:srgbClr val="A9BAD3"/>
                </a:solidFill>
                <a:latin typeface="Calibri" pitchFamily="34" charset="0"/>
                <a:ea typeface="Calibri" pitchFamily="34" charset="-122"/>
                <a:cs typeface="Calibri" pitchFamily="34" charset="-120"/>
              </a:rPr>
              <a:t>read intervals, not point estimates</a:t>
            </a:r>
            <a:endParaRPr lang="en-US" sz="1150" dirty="0"/>
          </a:p>
          <a:p>
            <a:pPr marL="177800" indent="-177800">
              <a:buSzPct val="100000"/>
              <a:buChar char="•"/>
            </a:pPr>
            <a:r>
              <a:rPr lang="en-US" sz="1150" b="1" dirty="0">
                <a:solidFill>
                  <a:srgbClr val="E6EEFB"/>
                </a:solidFill>
                <a:latin typeface="Calibri" pitchFamily="34" charset="0"/>
                <a:ea typeface="Calibri" pitchFamily="34" charset="-122"/>
                <a:cs typeface="Calibri" pitchFamily="34" charset="-120"/>
              </a:rPr>
              <a:t>Cost column: </a:t>
            </a:r>
            <a:pPr indent="0" marL="0">
              <a:spcAft>
                <a:spcPts val="500"/>
              </a:spcAft>
              <a:buNone/>
            </a:pPr>
            <a:r>
              <a:rPr lang="en-US" sz="1150" dirty="0">
                <a:solidFill>
                  <a:srgbClr val="A9BAD3"/>
                </a:solidFill>
                <a:latin typeface="Calibri" pitchFamily="34" charset="0"/>
                <a:ea typeface="Calibri" pitchFamily="34" charset="-122"/>
                <a:cs typeface="Calibri" pitchFamily="34" charset="-120"/>
              </a:rPr>
              <a:t>detected as derived from price → never used as a real cost</a:t>
            </a:r>
            <a:endParaRPr lang="en-US" sz="1150" dirty="0"/>
          </a:p>
        </p:txBody>
      </p:sp>
      <p:sp>
        <p:nvSpPr>
          <p:cNvPr id="11" name="Text 8"/>
          <p:cNvSpPr txBox="1"/>
          <p:nvPr/>
        </p:nvSpPr>
        <p:spPr>
          <a:xfrm>
            <a:off x="10332720" y="6446520"/>
            <a:ext cx="1371600" cy="228600"/>
          </a:xfrm>
          <a:prstGeom prst="rect">
            <a:avLst/>
          </a:prstGeom>
          <a:noFill/>
          <a:ln/>
        </p:spPr>
        <p:txBody>
          <a:bodyPr wrap="square" lIns="0" tIns="0" rIns="0" bIns="0" rtlCol="0" anchor="ctr"/>
          <a:lstStyle/>
          <a:p>
            <a:pPr algn="r" indent="0" marL="0">
              <a:buNone/>
            </a:pPr>
            <a:r>
              <a:rPr lang="en-US" sz="900" dirty="0">
                <a:solidFill>
                  <a:srgbClr val="6F84A6"/>
                </a:solidFill>
                <a:latin typeface="Calibri" pitchFamily="34" charset="0"/>
                <a:ea typeface="Calibri" pitchFamily="34" charset="-122"/>
                <a:cs typeface="Calibri" pitchFamily="34" charset="-120"/>
              </a:rPr>
              <a:t>DMIS ·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274320"/>
          </a:xfrm>
          <a:prstGeom prst="rect">
            <a:avLst/>
          </a:prstGeom>
          <a:noFill/>
          <a:ln/>
        </p:spPr>
        <p:txBody>
          <a:bodyPr wrap="square" lIns="0" tIns="0" rIns="0" bIns="0" rtlCol="0" anchor="ctr"/>
          <a:lstStyle/>
          <a:p>
            <a:pPr indent="0" marL="0">
              <a:buNone/>
            </a:pPr>
            <a:r>
              <a:rPr lang="en-US" sz="1100" b="1" spc="300" kern="0" dirty="0">
                <a:solidFill>
                  <a:srgbClr val="38D6FF"/>
                </a:solidFill>
                <a:latin typeface="Calibri" pitchFamily="34" charset="0"/>
                <a:ea typeface="Calibri" pitchFamily="34" charset="-122"/>
                <a:cs typeface="Calibri" pitchFamily="34" charset="-120"/>
              </a:rPr>
              <a:t>MODULE · INTELLIGENCE</a:t>
            </a:r>
            <a:endParaRPr lang="en-US" sz="1100" dirty="0"/>
          </a:p>
        </p:txBody>
      </p:sp>
      <p:sp>
        <p:nvSpPr>
          <p:cNvPr id="3" name="Text 1"/>
          <p:cNvSpPr txBox="1"/>
          <p:nvPr/>
        </p:nvSpPr>
        <p:spPr>
          <a:xfrm>
            <a:off x="548640" y="685800"/>
            <a:ext cx="11064240" cy="685800"/>
          </a:xfrm>
          <a:prstGeom prst="rect">
            <a:avLst/>
          </a:prstGeom>
          <a:noFill/>
          <a:ln/>
        </p:spPr>
        <p:txBody>
          <a:bodyPr wrap="square" lIns="0" tIns="0" rIns="0" bIns="0" rtlCol="0" anchor="ctr"/>
          <a:lstStyle/>
          <a:p>
            <a:pPr indent="0" marL="0">
              <a:buNone/>
            </a:pPr>
            <a:r>
              <a:rPr lang="en-US" sz="3200" b="1" dirty="0">
                <a:solidFill>
                  <a:srgbClr val="E6EEFB"/>
                </a:solidFill>
                <a:latin typeface="Cambria" pitchFamily="34" charset="0"/>
                <a:ea typeface="Cambria" pitchFamily="34" charset="-122"/>
                <a:cs typeface="Cambria" pitchFamily="34" charset="-120"/>
              </a:rPr>
              <a:t>Inside a sub-category</a:t>
            </a:r>
            <a:endParaRPr lang="en-US" sz="3200" dirty="0"/>
          </a:p>
        </p:txBody>
      </p:sp>
      <p:sp>
        <p:nvSpPr>
          <p:cNvPr id="4" name="Shape 2"/>
          <p:cNvSpPr/>
          <p:nvPr/>
        </p:nvSpPr>
        <p:spPr>
          <a:xfrm>
            <a:off x="493776" y="1545336"/>
            <a:ext cx="7013448" cy="4624914"/>
          </a:xfrm>
          <a:prstGeom prst="roundRect">
            <a:avLst>
              <a:gd name="adj" fmla="val 1582"/>
            </a:avLst>
          </a:prstGeom>
          <a:solidFill>
            <a:srgbClr val="1F3150"/>
          </a:solidFill>
          <a:ln w="12700">
            <a:solidFill>
              <a:srgbClr val="1F3150"/>
            </a:solidFill>
            <a:prstDash val="solid"/>
          </a:ln>
          <a:effectLst>
            <a:outerShdw sx="100000" sy="100000" kx="0" ky="0" algn="bl" rotWithShape="0" blurRad="101600" dist="38100" dir="5400000">
              <a:srgbClr val="000000">
                <a:alpha val="25000"/>
              </a:srgbClr>
            </a:outerShdw>
          </a:effectLst>
        </p:spPr>
      </p:sp>
      <p:pic>
        <p:nvPicPr>
          <p:cNvPr id="5" name="Image 0" descr="segment.jpg">    </p:cNvPr>
          <p:cNvPicPr>
            <a:picLocks noChangeAspect="1"/>
          </p:cNvPicPr>
          <p:nvPr/>
        </p:nvPicPr>
        <p:blipFill>
          <a:blip r:embed="rId1"/>
          <a:stretch>
            <a:fillRect/>
          </a:stretch>
        </p:blipFill>
        <p:spPr>
          <a:xfrm>
            <a:off x="548640" y="1600200"/>
            <a:ext cx="6903720" cy="4515186"/>
          </a:xfrm>
          <a:prstGeom prst="rect">
            <a:avLst/>
          </a:prstGeom>
        </p:spPr>
      </p:pic>
      <p:sp>
        <p:nvSpPr>
          <p:cNvPr id="6" name="Text 3"/>
          <p:cNvSpPr txBox="1"/>
          <p:nvPr/>
        </p:nvSpPr>
        <p:spPr>
          <a:xfrm>
            <a:off x="548640" y="6225114"/>
            <a:ext cx="6903720" cy="228600"/>
          </a:xfrm>
          <a:prstGeom prst="rect">
            <a:avLst/>
          </a:prstGeom>
          <a:noFill/>
          <a:ln/>
        </p:spPr>
        <p:txBody>
          <a:bodyPr wrap="square" lIns="0" tIns="0" rIns="0" bIns="0" rtlCol="0" anchor="ctr"/>
          <a:lstStyle/>
          <a:p>
            <a:pPr indent="0" marL="0">
              <a:buNone/>
            </a:pPr>
            <a:r>
              <a:rPr lang="en-US" sz="1000" dirty="0">
                <a:solidFill>
                  <a:srgbClr val="6F84A6"/>
                </a:solidFill>
                <a:latin typeface="Courier New" pitchFamily="34" charset="0"/>
                <a:ea typeface="Courier New" pitchFamily="34" charset="-122"/>
                <a:cs typeface="Courier New" pitchFamily="34" charset="-120"/>
              </a:rPr>
              <a:t>/markets/dental_models → expand a sub-category</a:t>
            </a:r>
            <a:endParaRPr lang="en-US" sz="1000" dirty="0"/>
          </a:p>
        </p:txBody>
      </p:sp>
      <p:sp>
        <p:nvSpPr>
          <p:cNvPr id="7" name="Text 4"/>
          <p:cNvSpPr txBox="1"/>
          <p:nvPr/>
        </p:nvSpPr>
        <p:spPr>
          <a:xfrm>
            <a:off x="7818120" y="1600200"/>
            <a:ext cx="3840480" cy="256032"/>
          </a:xfrm>
          <a:prstGeom prst="rect">
            <a:avLst/>
          </a:prstGeom>
          <a:noFill/>
          <a:ln/>
        </p:spPr>
        <p:txBody>
          <a:bodyPr wrap="square" lIns="0" tIns="0" rIns="0" bIns="0" rtlCol="0" anchor="ctr"/>
          <a:lstStyle/>
          <a:p>
            <a:pPr indent="0" marL="0">
              <a:buNone/>
            </a:pPr>
            <a:r>
              <a:rPr lang="en-US" sz="1050" b="1" spc="200" kern="0" dirty="0">
                <a:solidFill>
                  <a:srgbClr val="38D6FF"/>
                </a:solidFill>
                <a:latin typeface="Calibri" pitchFamily="34" charset="0"/>
                <a:ea typeface="Calibri" pitchFamily="34" charset="-122"/>
                <a:cs typeface="Calibri" pitchFamily="34" charset="-120"/>
              </a:rPr>
              <a:t>HOW IT WORKS</a:t>
            </a:r>
            <a:endParaRPr lang="en-US" sz="1050" dirty="0"/>
          </a:p>
        </p:txBody>
      </p:sp>
      <p:sp>
        <p:nvSpPr>
          <p:cNvPr id="8" name="Text 5"/>
          <p:cNvSpPr txBox="1"/>
          <p:nvPr/>
        </p:nvSpPr>
        <p:spPr>
          <a:xfrm>
            <a:off x="7818120" y="1901952"/>
            <a:ext cx="3840480" cy="214884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A9BAD3"/>
                </a:solidFill>
                <a:latin typeface="Calibri" pitchFamily="34" charset="0"/>
                <a:ea typeface="Calibri" pitchFamily="34" charset="-122"/>
                <a:cs typeface="Calibri" pitchFamily="34" charset="-120"/>
              </a:rPr>
              <a:t>Opportunity components (demand, entry, margin, competition, quality gap, saturation)</a:t>
            </a:r>
            <a:endParaRPr lang="en-US" sz="1250" dirty="0"/>
          </a:p>
          <a:p>
            <a:pPr marL="177800" indent="-177800">
              <a:spcAft>
                <a:spcPts val="500"/>
              </a:spcAft>
              <a:buSzPct val="100000"/>
              <a:buChar char="•"/>
            </a:pPr>
            <a:r>
              <a:rPr lang="en-US" sz="1250" dirty="0">
                <a:solidFill>
                  <a:srgbClr val="A9BAD3"/>
                </a:solidFill>
                <a:latin typeface="Calibri" pitchFamily="34" charset="0"/>
                <a:ea typeface="Calibri" pitchFamily="34" charset="-122"/>
                <a:cs typeface="Calibri" pitchFamily="34" charset="-120"/>
              </a:rPr>
              <a:t>Every segment metric with interval, n and basis</a:t>
            </a:r>
            <a:endParaRPr lang="en-US" sz="1250" dirty="0"/>
          </a:p>
          <a:p>
            <a:pPr marL="177800" indent="-177800">
              <a:spcAft>
                <a:spcPts val="500"/>
              </a:spcAft>
              <a:buSzPct val="100000"/>
              <a:buChar char="•"/>
            </a:pPr>
            <a:r>
              <a:rPr lang="en-US" sz="1250" dirty="0">
                <a:solidFill>
                  <a:srgbClr val="A9BAD3"/>
                </a:solidFill>
                <a:latin typeface="Calibri" pitchFamily="34" charset="0"/>
                <a:ea typeface="Calibri" pitchFamily="34" charset="-122"/>
                <a:cs typeface="Calibri" pitchFamily="34" charset="-120"/>
              </a:rPr>
              <a:t>Brands with share interval and P(#1); demand per listing by price band; launch momentum</a:t>
            </a:r>
            <a:endParaRPr lang="en-US" sz="1250" dirty="0"/>
          </a:p>
        </p:txBody>
      </p:sp>
      <p:sp>
        <p:nvSpPr>
          <p:cNvPr id="9" name="Text 6"/>
          <p:cNvSpPr txBox="1"/>
          <p:nvPr/>
        </p:nvSpPr>
        <p:spPr>
          <a:xfrm>
            <a:off x="7818120" y="4114800"/>
            <a:ext cx="3840480" cy="256032"/>
          </a:xfrm>
          <a:prstGeom prst="rect">
            <a:avLst/>
          </a:prstGeom>
          <a:noFill/>
          <a:ln/>
        </p:spPr>
        <p:txBody>
          <a:bodyPr wrap="square" lIns="0" tIns="0" rIns="0" bIns="0" rtlCol="0" anchor="ctr"/>
          <a:lstStyle/>
          <a:p>
            <a:pPr indent="0" marL="0">
              <a:buNone/>
            </a:pPr>
            <a:r>
              <a:rPr lang="en-US" sz="1050" b="1" spc="200" kern="0" dirty="0">
                <a:solidFill>
                  <a:srgbClr val="F5B942"/>
                </a:solidFill>
                <a:latin typeface="Calibri" pitchFamily="34" charset="0"/>
                <a:ea typeface="Calibri" pitchFamily="34" charset="-122"/>
                <a:cs typeface="Calibri" pitchFamily="34" charset="-120"/>
              </a:rPr>
              <a:t>IN DEPTH</a:t>
            </a:r>
            <a:endParaRPr lang="en-US" sz="1050" dirty="0"/>
          </a:p>
        </p:txBody>
      </p:sp>
      <p:sp>
        <p:nvSpPr>
          <p:cNvPr id="10" name="Text 7"/>
          <p:cNvSpPr txBox="1"/>
          <p:nvPr/>
        </p:nvSpPr>
        <p:spPr>
          <a:xfrm>
            <a:off x="7818120" y="4416552"/>
            <a:ext cx="3840480" cy="1920240"/>
          </a:xfrm>
          <a:prstGeom prst="rect">
            <a:avLst/>
          </a:prstGeom>
          <a:noFill/>
          <a:ln/>
        </p:spPr>
        <p:txBody>
          <a:bodyPr wrap="square" lIns="0" tIns="0" rIns="0" bIns="0" rtlCol="0" anchor="t"/>
          <a:lstStyle/>
          <a:p>
            <a:pPr marL="177800" indent="-177800">
              <a:buSzPct val="100000"/>
              <a:buChar char="•"/>
            </a:pPr>
            <a:r>
              <a:rPr lang="en-US" sz="1150" b="1" dirty="0">
                <a:solidFill>
                  <a:srgbClr val="E6EEFB"/>
                </a:solidFill>
                <a:latin typeface="Calibri" pitchFamily="34" charset="0"/>
                <a:ea typeface="Calibri" pitchFamily="34" charset="-122"/>
                <a:cs typeface="Calibri" pitchFamily="34" charset="-120"/>
              </a:rPr>
              <a:t>P(#1): </a:t>
            </a:r>
            <a:pPr indent="0" marL="0">
              <a:spcAft>
                <a:spcPts val="500"/>
              </a:spcAft>
              <a:buNone/>
            </a:pPr>
            <a:r>
              <a:rPr lang="en-US" sz="1150" dirty="0">
                <a:solidFill>
                  <a:srgbClr val="A9BAD3"/>
                </a:solidFill>
                <a:latin typeface="Calibri" pitchFamily="34" charset="0"/>
                <a:ea typeface="Calibri" pitchFamily="34" charset="-122"/>
                <a:cs typeface="Calibri" pitchFamily="34" charset="-120"/>
              </a:rPr>
              <a:t>share of 400 simulations in which the brand ranks first</a:t>
            </a:r>
            <a:endParaRPr lang="en-US" sz="1150" dirty="0"/>
          </a:p>
          <a:p>
            <a:pPr marL="177800" indent="-177800">
              <a:buSzPct val="100000"/>
              <a:buChar char="•"/>
            </a:pPr>
            <a:r>
              <a:rPr lang="en-US" sz="1150" b="1" dirty="0">
                <a:solidFill>
                  <a:srgbClr val="E6EEFB"/>
                </a:solidFill>
                <a:latin typeface="Calibri" pitchFamily="34" charset="0"/>
                <a:ea typeface="Calibri" pitchFamily="34" charset="-122"/>
                <a:cs typeface="Calibri" pitchFamily="34" charset="-120"/>
              </a:rPr>
              <a:t>Price bands: </a:t>
            </a:r>
            <a:pPr indent="0" marL="0">
              <a:spcAft>
                <a:spcPts val="500"/>
              </a:spcAft>
              <a:buNone/>
            </a:pPr>
            <a:r>
              <a:rPr lang="en-US" sz="1150" dirty="0">
                <a:solidFill>
                  <a:srgbClr val="A9BAD3"/>
                </a:solidFill>
                <a:latin typeface="Calibri" pitchFamily="34" charset="0"/>
                <a:ea typeface="Calibri" pitchFamily="34" charset="-122"/>
                <a:cs typeface="Calibri" pitchFamily="34" charset="-120"/>
              </a:rPr>
              <a:t>4 within-segment price quantiles, 2,000-sample bootstrap, fixed seed</a:t>
            </a:r>
            <a:endParaRPr lang="en-US" sz="1150" dirty="0"/>
          </a:p>
          <a:p>
            <a:pPr marL="177800" indent="-177800">
              <a:buSzPct val="100000"/>
              <a:buChar char="•"/>
            </a:pPr>
            <a:r>
              <a:rPr lang="en-US" sz="1150" b="1" dirty="0">
                <a:solidFill>
                  <a:srgbClr val="E6EEFB"/>
                </a:solidFill>
                <a:latin typeface="Calibri" pitchFamily="34" charset="0"/>
                <a:ea typeface="Calibri" pitchFamily="34" charset="-122"/>
                <a:cs typeface="Calibri" pitchFamily="34" charset="-120"/>
              </a:rPr>
              <a:t>Momentum: </a:t>
            </a:r>
            <a:pPr indent="0" marL="0">
              <a:spcAft>
                <a:spcPts val="500"/>
              </a:spcAft>
              <a:buNone/>
            </a:pPr>
            <a:r>
              <a:rPr lang="en-US" sz="1150" dirty="0">
                <a:solidFill>
                  <a:srgbClr val="A9BAD3"/>
                </a:solidFill>
                <a:latin typeface="Calibri" pitchFamily="34" charset="0"/>
                <a:ea typeface="Calibri" pitchFamily="34" charset="-122"/>
                <a:cs typeface="Calibri" pitchFamily="34" charset="-120"/>
              </a:rPr>
              <a:t>exact binomial test, last 12 months vs the year before, BH-adjusted</a:t>
            </a:r>
            <a:endParaRPr lang="en-US" sz="1150" dirty="0"/>
          </a:p>
        </p:txBody>
      </p:sp>
      <p:sp>
        <p:nvSpPr>
          <p:cNvPr id="11" name="Text 8"/>
          <p:cNvSpPr txBox="1"/>
          <p:nvPr/>
        </p:nvSpPr>
        <p:spPr>
          <a:xfrm>
            <a:off x="10332720" y="6446520"/>
            <a:ext cx="1371600" cy="228600"/>
          </a:xfrm>
          <a:prstGeom prst="rect">
            <a:avLst/>
          </a:prstGeom>
          <a:noFill/>
          <a:ln/>
        </p:spPr>
        <p:txBody>
          <a:bodyPr wrap="square" lIns="0" tIns="0" rIns="0" bIns="0" rtlCol="0" anchor="ctr"/>
          <a:lstStyle/>
          <a:p>
            <a:pPr algn="r" indent="0" marL="0">
              <a:buNone/>
            </a:pPr>
            <a:r>
              <a:rPr lang="en-US" sz="900" dirty="0">
                <a:solidFill>
                  <a:srgbClr val="6F84A6"/>
                </a:solidFill>
                <a:latin typeface="Calibri" pitchFamily="34" charset="0"/>
                <a:ea typeface="Calibri" pitchFamily="34" charset="-122"/>
                <a:cs typeface="Calibri" pitchFamily="34" charset="-120"/>
              </a:rPr>
              <a:t>DMIS · 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274320"/>
          </a:xfrm>
          <a:prstGeom prst="rect">
            <a:avLst/>
          </a:prstGeom>
          <a:noFill/>
          <a:ln/>
        </p:spPr>
        <p:txBody>
          <a:bodyPr wrap="square" lIns="0" tIns="0" rIns="0" bIns="0" rtlCol="0" anchor="ctr"/>
          <a:lstStyle/>
          <a:p>
            <a:pPr indent="0" marL="0">
              <a:buNone/>
            </a:pPr>
            <a:r>
              <a:rPr lang="en-US" sz="1100" b="1" spc="300" kern="0" dirty="0">
                <a:solidFill>
                  <a:srgbClr val="38D6FF"/>
                </a:solidFill>
                <a:latin typeface="Calibri" pitchFamily="34" charset="0"/>
                <a:ea typeface="Calibri" pitchFamily="34" charset="-122"/>
                <a:cs typeface="Calibri" pitchFamily="34" charset="-120"/>
              </a:rPr>
              <a:t>MODULE · INTELLIGENCE</a:t>
            </a:r>
            <a:endParaRPr lang="en-US" sz="1100" dirty="0"/>
          </a:p>
        </p:txBody>
      </p:sp>
      <p:sp>
        <p:nvSpPr>
          <p:cNvPr id="3" name="Text 1"/>
          <p:cNvSpPr txBox="1"/>
          <p:nvPr/>
        </p:nvSpPr>
        <p:spPr>
          <a:xfrm>
            <a:off x="548640" y="685800"/>
            <a:ext cx="11064240" cy="685800"/>
          </a:xfrm>
          <a:prstGeom prst="rect">
            <a:avLst/>
          </a:prstGeom>
          <a:noFill/>
          <a:ln/>
        </p:spPr>
        <p:txBody>
          <a:bodyPr wrap="square" lIns="0" tIns="0" rIns="0" bIns="0" rtlCol="0" anchor="ctr"/>
          <a:lstStyle/>
          <a:p>
            <a:pPr indent="0" marL="0">
              <a:buNone/>
            </a:pPr>
            <a:r>
              <a:rPr lang="en-US" sz="3200" b="1" dirty="0">
                <a:solidFill>
                  <a:srgbClr val="E6EEFB"/>
                </a:solidFill>
                <a:latin typeface="Cambria" pitchFamily="34" charset="0"/>
                <a:ea typeface="Cambria" pitchFamily="34" charset="-122"/>
                <a:cs typeface="Cambria" pitchFamily="34" charset="-120"/>
              </a:rPr>
              <a:t>Price × demand map</a:t>
            </a:r>
            <a:endParaRPr lang="en-US" sz="3200" dirty="0"/>
          </a:p>
        </p:txBody>
      </p:sp>
      <p:sp>
        <p:nvSpPr>
          <p:cNvPr id="4" name="Shape 2"/>
          <p:cNvSpPr/>
          <p:nvPr/>
        </p:nvSpPr>
        <p:spPr>
          <a:xfrm>
            <a:off x="493776" y="1545336"/>
            <a:ext cx="7013448" cy="4624914"/>
          </a:xfrm>
          <a:prstGeom prst="roundRect">
            <a:avLst>
              <a:gd name="adj" fmla="val 1582"/>
            </a:avLst>
          </a:prstGeom>
          <a:solidFill>
            <a:srgbClr val="1F3150"/>
          </a:solidFill>
          <a:ln w="12700">
            <a:solidFill>
              <a:srgbClr val="1F3150"/>
            </a:solidFill>
            <a:prstDash val="solid"/>
          </a:ln>
          <a:effectLst>
            <a:outerShdw sx="100000" sy="100000" kx="0" ky="0" algn="bl" rotWithShape="0" blurRad="101600" dist="38100" dir="5400000">
              <a:srgbClr val="000000">
                <a:alpha val="25000"/>
              </a:srgbClr>
            </a:outerShdw>
          </a:effectLst>
        </p:spPr>
      </p:sp>
      <p:pic>
        <p:nvPicPr>
          <p:cNvPr id="5" name="Image 0" descr="matrix.jpg">    </p:cNvPr>
          <p:cNvPicPr>
            <a:picLocks noChangeAspect="1"/>
          </p:cNvPicPr>
          <p:nvPr/>
        </p:nvPicPr>
        <p:blipFill>
          <a:blip r:embed="rId1"/>
          <a:stretch>
            <a:fillRect/>
          </a:stretch>
        </p:blipFill>
        <p:spPr>
          <a:xfrm>
            <a:off x="548640" y="1600200"/>
            <a:ext cx="6903720" cy="4515186"/>
          </a:xfrm>
          <a:prstGeom prst="rect">
            <a:avLst/>
          </a:prstGeom>
        </p:spPr>
      </p:pic>
      <p:sp>
        <p:nvSpPr>
          <p:cNvPr id="6" name="Text 3"/>
          <p:cNvSpPr txBox="1"/>
          <p:nvPr/>
        </p:nvSpPr>
        <p:spPr>
          <a:xfrm>
            <a:off x="548640" y="6225114"/>
            <a:ext cx="6903720" cy="228600"/>
          </a:xfrm>
          <a:prstGeom prst="rect">
            <a:avLst/>
          </a:prstGeom>
          <a:noFill/>
          <a:ln/>
        </p:spPr>
        <p:txBody>
          <a:bodyPr wrap="square" lIns="0" tIns="0" rIns="0" bIns="0" rtlCol="0" anchor="ctr"/>
          <a:lstStyle/>
          <a:p>
            <a:pPr indent="0" marL="0">
              <a:buNone/>
            </a:pPr>
            <a:r>
              <a:rPr lang="en-US" sz="1000" dirty="0">
                <a:solidFill>
                  <a:srgbClr val="6F84A6"/>
                </a:solidFill>
                <a:latin typeface="Courier New" pitchFamily="34" charset="0"/>
                <a:ea typeface="Courier New" pitchFamily="34" charset="-122"/>
                <a:cs typeface="Courier New" pitchFamily="34" charset="-120"/>
              </a:rPr>
              <a:t>/markets/dental_models</a:t>
            </a:r>
            <a:endParaRPr lang="en-US" sz="1000" dirty="0"/>
          </a:p>
        </p:txBody>
      </p:sp>
      <p:sp>
        <p:nvSpPr>
          <p:cNvPr id="7" name="Text 4"/>
          <p:cNvSpPr txBox="1"/>
          <p:nvPr/>
        </p:nvSpPr>
        <p:spPr>
          <a:xfrm>
            <a:off x="7818120" y="1600200"/>
            <a:ext cx="3840480" cy="256032"/>
          </a:xfrm>
          <a:prstGeom prst="rect">
            <a:avLst/>
          </a:prstGeom>
          <a:noFill/>
          <a:ln/>
        </p:spPr>
        <p:txBody>
          <a:bodyPr wrap="square" lIns="0" tIns="0" rIns="0" bIns="0" rtlCol="0" anchor="ctr"/>
          <a:lstStyle/>
          <a:p>
            <a:pPr indent="0" marL="0">
              <a:buNone/>
            </a:pPr>
            <a:r>
              <a:rPr lang="en-US" sz="1050" b="1" spc="200" kern="0" dirty="0">
                <a:solidFill>
                  <a:srgbClr val="38D6FF"/>
                </a:solidFill>
                <a:latin typeface="Calibri" pitchFamily="34" charset="0"/>
                <a:ea typeface="Calibri" pitchFamily="34" charset="-122"/>
                <a:cs typeface="Calibri" pitchFamily="34" charset="-120"/>
              </a:rPr>
              <a:t>HOW IT WORKS</a:t>
            </a:r>
            <a:endParaRPr lang="en-US" sz="1050" dirty="0"/>
          </a:p>
        </p:txBody>
      </p:sp>
      <p:sp>
        <p:nvSpPr>
          <p:cNvPr id="8" name="Text 5"/>
          <p:cNvSpPr txBox="1"/>
          <p:nvPr/>
        </p:nvSpPr>
        <p:spPr>
          <a:xfrm>
            <a:off x="7818120" y="1901952"/>
            <a:ext cx="3840480" cy="214884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A9BAD3"/>
                </a:solidFill>
                <a:latin typeface="Calibri" pitchFamily="34" charset="0"/>
                <a:ea typeface="Calibri" pitchFamily="34" charset="-122"/>
                <a:cs typeface="Calibri" pitchFamily="34" charset="-120"/>
              </a:rPr>
              <a:t>Each point is a product: x = price, y = estimated units / month, size = estimated revenue</a:t>
            </a:r>
            <a:endParaRPr lang="en-US" sz="1250" dirty="0"/>
          </a:p>
          <a:p>
            <a:pPr marL="177800" indent="-177800">
              <a:spcAft>
                <a:spcPts val="500"/>
              </a:spcAft>
              <a:buSzPct val="100000"/>
              <a:buChar char="•"/>
            </a:pPr>
            <a:r>
              <a:rPr lang="en-US" sz="1250" dirty="0">
                <a:solidFill>
                  <a:srgbClr val="A9BAD3"/>
                </a:solidFill>
                <a:latin typeface="Calibri" pitchFamily="34" charset="0"/>
                <a:ea typeface="Calibri" pitchFamily="34" charset="-122"/>
                <a:cs typeface="Calibri" pitchFamily="34" charset="-120"/>
              </a:rPr>
              <a:t>Colour by sub-category, opportunity, or entrant vs established</a:t>
            </a:r>
            <a:endParaRPr lang="en-US" sz="1250" dirty="0"/>
          </a:p>
          <a:p>
            <a:pPr marL="177800" indent="-177800">
              <a:spcAft>
                <a:spcPts val="500"/>
              </a:spcAft>
              <a:buSzPct val="100000"/>
              <a:buChar char="•"/>
            </a:pPr>
            <a:r>
              <a:rPr lang="en-US" sz="1250" dirty="0">
                <a:solidFill>
                  <a:srgbClr val="A9BAD3"/>
                </a:solidFill>
                <a:latin typeface="Calibri" pitchFamily="34" charset="0"/>
                <a:ea typeface="Calibri" pitchFamily="34" charset="-122"/>
                <a:cs typeface="Calibri" pitchFamily="34" charset="-120"/>
              </a:rPr>
              <a:t>Snapshot selector shows earlier uploads; click a point to open the product</a:t>
            </a:r>
            <a:endParaRPr lang="en-US" sz="1250" dirty="0"/>
          </a:p>
        </p:txBody>
      </p:sp>
      <p:sp>
        <p:nvSpPr>
          <p:cNvPr id="9" name="Text 6"/>
          <p:cNvSpPr txBox="1"/>
          <p:nvPr/>
        </p:nvSpPr>
        <p:spPr>
          <a:xfrm>
            <a:off x="7818120" y="4114800"/>
            <a:ext cx="3840480" cy="256032"/>
          </a:xfrm>
          <a:prstGeom prst="rect">
            <a:avLst/>
          </a:prstGeom>
          <a:noFill/>
          <a:ln/>
        </p:spPr>
        <p:txBody>
          <a:bodyPr wrap="square" lIns="0" tIns="0" rIns="0" bIns="0" rtlCol="0" anchor="ctr"/>
          <a:lstStyle/>
          <a:p>
            <a:pPr indent="0" marL="0">
              <a:buNone/>
            </a:pPr>
            <a:r>
              <a:rPr lang="en-US" sz="1050" b="1" spc="200" kern="0" dirty="0">
                <a:solidFill>
                  <a:srgbClr val="F5B942"/>
                </a:solidFill>
                <a:latin typeface="Calibri" pitchFamily="34" charset="0"/>
                <a:ea typeface="Calibri" pitchFamily="34" charset="-122"/>
                <a:cs typeface="Calibri" pitchFamily="34" charset="-120"/>
              </a:rPr>
              <a:t>IN DEPTH</a:t>
            </a:r>
            <a:endParaRPr lang="en-US" sz="1050" dirty="0"/>
          </a:p>
        </p:txBody>
      </p:sp>
      <p:sp>
        <p:nvSpPr>
          <p:cNvPr id="10" name="Text 7"/>
          <p:cNvSpPr txBox="1"/>
          <p:nvPr/>
        </p:nvSpPr>
        <p:spPr>
          <a:xfrm>
            <a:off x="7818120" y="4416552"/>
            <a:ext cx="3840480" cy="1920240"/>
          </a:xfrm>
          <a:prstGeom prst="rect">
            <a:avLst/>
          </a:prstGeom>
          <a:noFill/>
          <a:ln/>
        </p:spPr>
        <p:txBody>
          <a:bodyPr wrap="square" lIns="0" tIns="0" rIns="0" bIns="0" rtlCol="0" anchor="t"/>
          <a:lstStyle/>
          <a:p>
            <a:pPr marL="177800" indent="-177800">
              <a:buSzPct val="100000"/>
              <a:buChar char="•"/>
            </a:pPr>
            <a:r>
              <a:rPr lang="en-US" sz="1150" b="1" dirty="0">
                <a:solidFill>
                  <a:srgbClr val="E6EEFB"/>
                </a:solidFill>
                <a:latin typeface="Calibri" pitchFamily="34" charset="0"/>
                <a:ea typeface="Calibri" pitchFamily="34" charset="-122"/>
                <a:cs typeface="Calibri" pitchFamily="34" charset="-120"/>
              </a:rPr>
              <a:t>Hover: </a:t>
            </a:r>
            <a:pPr indent="0" marL="0">
              <a:spcAft>
                <a:spcPts val="500"/>
              </a:spcAft>
              <a:buNone/>
            </a:pPr>
            <a:r>
              <a:rPr lang="en-US" sz="1150" dirty="0">
                <a:solidFill>
                  <a:srgbClr val="A9BAD3"/>
                </a:solidFill>
                <a:latin typeface="Calibri" pitchFamily="34" charset="0"/>
                <a:ea typeface="Calibri" pitchFamily="34" charset="-122"/>
                <a:cs typeface="Calibri" pitchFamily="34" charset="-120"/>
              </a:rPr>
              <a:t>the product's 95% interval and opportunity score</a:t>
            </a:r>
            <a:endParaRPr lang="en-US" sz="1150" dirty="0"/>
          </a:p>
          <a:p>
            <a:pPr marL="177800" indent="-177800">
              <a:buSzPct val="100000"/>
              <a:buChar char="•"/>
            </a:pPr>
            <a:r>
              <a:rPr lang="en-US" sz="1150" b="1" dirty="0">
                <a:solidFill>
                  <a:srgbClr val="E6EEFB"/>
                </a:solidFill>
                <a:latin typeface="Calibri" pitchFamily="34" charset="0"/>
                <a:ea typeface="Calibri" pitchFamily="34" charset="-122"/>
                <a:cs typeface="Calibri" pitchFamily="34" charset="-120"/>
              </a:rPr>
              <a:t>Log scales: </a:t>
            </a:r>
            <a:pPr indent="0" marL="0">
              <a:spcAft>
                <a:spcPts val="500"/>
              </a:spcAft>
              <a:buNone/>
            </a:pPr>
            <a:r>
              <a:rPr lang="en-US" sz="1150" dirty="0">
                <a:solidFill>
                  <a:srgbClr val="A9BAD3"/>
                </a:solidFill>
                <a:latin typeface="Calibri" pitchFamily="34" charset="0"/>
                <a:ea typeface="Calibri" pitchFamily="34" charset="-122"/>
                <a:cs typeface="Calibri" pitchFamily="34" charset="-120"/>
              </a:rPr>
              <a:t>prices and sales span orders of magnitude</a:t>
            </a:r>
            <a:endParaRPr lang="en-US" sz="1150" dirty="0"/>
          </a:p>
          <a:p>
            <a:pPr marL="177800" indent="-177800">
              <a:buSzPct val="100000"/>
              <a:buChar char="•"/>
            </a:pPr>
            <a:r>
              <a:rPr lang="en-US" sz="1150" b="1" dirty="0">
                <a:solidFill>
                  <a:srgbClr val="E6EEFB"/>
                </a:solidFill>
                <a:latin typeface="Calibri" pitchFamily="34" charset="0"/>
                <a:ea typeface="Calibri" pitchFamily="34" charset="-122"/>
                <a:cs typeface="Calibri" pitchFamily="34" charset="-120"/>
              </a:rPr>
              <a:t>Colours: </a:t>
            </a:r>
            <a:pPr indent="0" marL="0">
              <a:spcAft>
                <a:spcPts val="500"/>
              </a:spcAft>
              <a:buNone/>
            </a:pPr>
            <a:r>
              <a:rPr lang="en-US" sz="1150" dirty="0">
                <a:solidFill>
                  <a:srgbClr val="A9BAD3"/>
                </a:solidFill>
                <a:latin typeface="Calibri" pitchFamily="34" charset="0"/>
                <a:ea typeface="Calibri" pitchFamily="34" charset="-122"/>
                <a:cs typeface="Calibri" pitchFamily="34" charset="-120"/>
              </a:rPr>
              <a:t>a validated colour-blind-safe palette; &gt;7 groups fold into “Other”</a:t>
            </a:r>
            <a:endParaRPr lang="en-US" sz="1150" dirty="0"/>
          </a:p>
        </p:txBody>
      </p:sp>
      <p:sp>
        <p:nvSpPr>
          <p:cNvPr id="11" name="Text 8"/>
          <p:cNvSpPr txBox="1"/>
          <p:nvPr/>
        </p:nvSpPr>
        <p:spPr>
          <a:xfrm>
            <a:off x="10332720" y="6446520"/>
            <a:ext cx="1371600" cy="228600"/>
          </a:xfrm>
          <a:prstGeom prst="rect">
            <a:avLst/>
          </a:prstGeom>
          <a:noFill/>
          <a:ln/>
        </p:spPr>
        <p:txBody>
          <a:bodyPr wrap="square" lIns="0" tIns="0" rIns="0" bIns="0" rtlCol="0" anchor="ctr"/>
          <a:lstStyle/>
          <a:p>
            <a:pPr algn="r" indent="0" marL="0">
              <a:buNone/>
            </a:pPr>
            <a:r>
              <a:rPr lang="en-US" sz="900" dirty="0">
                <a:solidFill>
                  <a:srgbClr val="6F84A6"/>
                </a:solidFill>
                <a:latin typeface="Calibri" pitchFamily="34" charset="0"/>
                <a:ea typeface="Calibri" pitchFamily="34" charset="-122"/>
                <a:cs typeface="Calibri" pitchFamily="34" charset="-120"/>
              </a:rPr>
              <a:t>DMIS · 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6FA"/>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274320"/>
          </a:xfrm>
          <a:prstGeom prst="rect">
            <a:avLst/>
          </a:prstGeom>
          <a:noFill/>
          <a:ln/>
        </p:spPr>
        <p:txBody>
          <a:bodyPr wrap="square" lIns="0" tIns="0" rIns="0" bIns="0" rtlCol="0" anchor="ctr"/>
          <a:lstStyle/>
          <a:p>
            <a:pPr indent="0" marL="0">
              <a:buNone/>
            </a:pPr>
            <a:r>
              <a:rPr lang="en-US" sz="1100" b="1" spc="300" kern="0" dirty="0">
                <a:solidFill>
                  <a:srgbClr val="0B7FA3"/>
                </a:solidFill>
                <a:latin typeface="Calibri" pitchFamily="34" charset="0"/>
                <a:ea typeface="Calibri" pitchFamily="34" charset="-122"/>
                <a:cs typeface="Calibri" pitchFamily="34" charset="-120"/>
              </a:rPr>
              <a:t>HOW OPPORTUNITY IS SCORED</a:t>
            </a:r>
            <a:endParaRPr lang="en-US" sz="1100" dirty="0"/>
          </a:p>
        </p:txBody>
      </p:sp>
      <p:sp>
        <p:nvSpPr>
          <p:cNvPr id="3" name="Text 1"/>
          <p:cNvSpPr txBox="1"/>
          <p:nvPr/>
        </p:nvSpPr>
        <p:spPr>
          <a:xfrm>
            <a:off x="548640" y="685800"/>
            <a:ext cx="11064240" cy="685800"/>
          </a:xfrm>
          <a:prstGeom prst="rect">
            <a:avLst/>
          </a:prstGeom>
          <a:noFill/>
          <a:ln/>
        </p:spPr>
        <p:txBody>
          <a:bodyPr wrap="square" lIns="0" tIns="0" rIns="0" bIns="0" rtlCol="0" anchor="ctr"/>
          <a:lstStyle/>
          <a:p>
            <a:pPr indent="0" marL="0">
              <a:buNone/>
            </a:pPr>
            <a:r>
              <a:rPr lang="en-US" sz="3200" b="1" dirty="0">
                <a:solidFill>
                  <a:srgbClr val="0F1B2D"/>
                </a:solidFill>
                <a:latin typeface="Cambria" pitchFamily="34" charset="0"/>
                <a:ea typeface="Cambria" pitchFamily="34" charset="-122"/>
                <a:cs typeface="Cambria" pitchFamily="34" charset="-120"/>
              </a:rPr>
              <a:t>Opportunity index (0–100)</a:t>
            </a:r>
            <a:endParaRPr lang="en-US" sz="3200" dirty="0"/>
          </a:p>
        </p:txBody>
      </p:sp>
      <p:graphicFrame>
        <p:nvGraphicFramePr>
          <p:cNvPr id="4" name="Chart 0" descr=""/>
          <p:cNvGraphicFramePr/>
          <p:nvPr/>
        </p:nvGraphicFramePr>
        <p:xfrm>
          <a:off x="548640" y="1554480"/>
          <a:ext cx="5669280" cy="42062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6583680" y="1600200"/>
            <a:ext cx="5120640" cy="457200"/>
          </a:xfrm>
          <a:prstGeom prst="rect">
            <a:avLst/>
          </a:prstGeom>
          <a:noFill/>
          <a:ln/>
        </p:spPr>
        <p:txBody>
          <a:bodyPr wrap="square" lIns="0" tIns="0" rIns="0" bIns="0" rtlCol="0" anchor="ctr"/>
          <a:lstStyle/>
          <a:p>
            <a:pPr indent="0" marL="0">
              <a:buNone/>
            </a:pPr>
            <a:r>
              <a:rPr lang="en-US" sz="1250" b="1" dirty="0">
                <a:solidFill>
                  <a:srgbClr val="0F1B2D"/>
                </a:solidFill>
                <a:latin typeface="Calibri" pitchFamily="34" charset="0"/>
                <a:ea typeface="Calibri" pitchFamily="34" charset="-122"/>
                <a:cs typeface="Calibri" pitchFamily="34" charset="-120"/>
              </a:rPr>
              <a:t>Demand  </a:t>
            </a:r>
            <a:pPr indent="0" marL="0">
              <a:buNone/>
            </a:pPr>
            <a:r>
              <a:rPr lang="en-US" sz="1250" dirty="0">
                <a:solidFill>
                  <a:srgbClr val="44546B"/>
                </a:solidFill>
                <a:latin typeface="Calibri" pitchFamily="34" charset="0"/>
                <a:ea typeface="Calibri" pitchFamily="34" charset="-122"/>
                <a:cs typeface="Calibri" pitchFamily="34" charset="-120"/>
              </a:rPr>
              <a:t>segment revenue, log scale: $1k → 0, $1M/mo → 1</a:t>
            </a:r>
            <a:endParaRPr lang="en-US" sz="1250" dirty="0"/>
          </a:p>
        </p:txBody>
      </p:sp>
      <p:sp>
        <p:nvSpPr>
          <p:cNvPr id="6" name="Text 3"/>
          <p:cNvSpPr txBox="1"/>
          <p:nvPr/>
        </p:nvSpPr>
        <p:spPr>
          <a:xfrm>
            <a:off x="6583680" y="2148840"/>
            <a:ext cx="5120640" cy="457200"/>
          </a:xfrm>
          <a:prstGeom prst="rect">
            <a:avLst/>
          </a:prstGeom>
          <a:noFill/>
          <a:ln/>
        </p:spPr>
        <p:txBody>
          <a:bodyPr wrap="square" lIns="0" tIns="0" rIns="0" bIns="0" rtlCol="0" anchor="ctr"/>
          <a:lstStyle/>
          <a:p>
            <a:pPr indent="0" marL="0">
              <a:buNone/>
            </a:pPr>
            <a:r>
              <a:rPr lang="en-US" sz="1250" b="1" dirty="0">
                <a:solidFill>
                  <a:srgbClr val="0F1B2D"/>
                </a:solidFill>
                <a:latin typeface="Calibri" pitchFamily="34" charset="0"/>
                <a:ea typeface="Calibri" pitchFamily="34" charset="-122"/>
                <a:cs typeface="Calibri" pitchFamily="34" charset="-120"/>
              </a:rPr>
              <a:t>Entry  </a:t>
            </a:r>
            <a:pPr indent="0" marL="0">
              <a:buNone/>
            </a:pPr>
            <a:r>
              <a:rPr lang="en-US" sz="1250" dirty="0">
                <a:solidFill>
                  <a:srgbClr val="44546B"/>
                </a:solidFill>
                <a:latin typeface="Calibri" pitchFamily="34" charset="0"/>
                <a:ea typeface="Calibri" pitchFamily="34" charset="-122"/>
                <a:cs typeface="Calibri" pitchFamily="34" charset="-120"/>
              </a:rPr>
              <a:t>entrant success 0% → 0, 60% → 1 (shrunk to market)</a:t>
            </a:r>
            <a:endParaRPr lang="en-US" sz="1250" dirty="0"/>
          </a:p>
        </p:txBody>
      </p:sp>
      <p:sp>
        <p:nvSpPr>
          <p:cNvPr id="7" name="Text 4"/>
          <p:cNvSpPr txBox="1"/>
          <p:nvPr/>
        </p:nvSpPr>
        <p:spPr>
          <a:xfrm>
            <a:off x="6583680" y="2697480"/>
            <a:ext cx="5120640" cy="457200"/>
          </a:xfrm>
          <a:prstGeom prst="rect">
            <a:avLst/>
          </a:prstGeom>
          <a:noFill/>
          <a:ln/>
        </p:spPr>
        <p:txBody>
          <a:bodyPr wrap="square" lIns="0" tIns="0" rIns="0" bIns="0" rtlCol="0" anchor="ctr"/>
          <a:lstStyle/>
          <a:p>
            <a:pPr indent="0" marL="0">
              <a:buNone/>
            </a:pPr>
            <a:r>
              <a:rPr lang="en-US" sz="1250" b="1" dirty="0">
                <a:solidFill>
                  <a:srgbClr val="0F1B2D"/>
                </a:solidFill>
                <a:latin typeface="Calibri" pitchFamily="34" charset="0"/>
                <a:ea typeface="Calibri" pitchFamily="34" charset="-122"/>
                <a:cs typeface="Calibri" pitchFamily="34" charset="-120"/>
              </a:rPr>
              <a:t>Margin  </a:t>
            </a:r>
            <a:pPr indent="0" marL="0">
              <a:buNone/>
            </a:pPr>
            <a:r>
              <a:rPr lang="en-US" sz="1250" dirty="0">
                <a:solidFill>
                  <a:srgbClr val="44546B"/>
                </a:solidFill>
                <a:latin typeface="Calibri" pitchFamily="34" charset="0"/>
                <a:ea typeface="Calibri" pitchFamily="34" charset="-122"/>
                <a:cs typeface="Calibri" pitchFamily="34" charset="-120"/>
              </a:rPr>
              <a:t>median margin 0% → 0, 40% → 1 (genuine costs only)</a:t>
            </a:r>
            <a:endParaRPr lang="en-US" sz="1250" dirty="0"/>
          </a:p>
        </p:txBody>
      </p:sp>
      <p:sp>
        <p:nvSpPr>
          <p:cNvPr id="8" name="Text 5"/>
          <p:cNvSpPr txBox="1"/>
          <p:nvPr/>
        </p:nvSpPr>
        <p:spPr>
          <a:xfrm>
            <a:off x="6583680" y="3246120"/>
            <a:ext cx="5120640" cy="457200"/>
          </a:xfrm>
          <a:prstGeom prst="rect">
            <a:avLst/>
          </a:prstGeom>
          <a:noFill/>
          <a:ln/>
        </p:spPr>
        <p:txBody>
          <a:bodyPr wrap="square" lIns="0" tIns="0" rIns="0" bIns="0" rtlCol="0" anchor="ctr"/>
          <a:lstStyle/>
          <a:p>
            <a:pPr indent="0" marL="0">
              <a:buNone/>
            </a:pPr>
            <a:r>
              <a:rPr lang="en-US" sz="1250" b="1" dirty="0">
                <a:solidFill>
                  <a:srgbClr val="0F1B2D"/>
                </a:solidFill>
                <a:latin typeface="Calibri" pitchFamily="34" charset="0"/>
                <a:ea typeface="Calibri" pitchFamily="34" charset="-122"/>
                <a:cs typeface="Calibri" pitchFamily="34" charset="-120"/>
              </a:rPr>
              <a:t>Competition  </a:t>
            </a:r>
            <a:pPr indent="0" marL="0">
              <a:buNone/>
            </a:pPr>
            <a:r>
              <a:rPr lang="en-US" sz="1250" dirty="0">
                <a:solidFill>
                  <a:srgbClr val="44546B"/>
                </a:solidFill>
                <a:latin typeface="Calibri" pitchFamily="34" charset="0"/>
                <a:ea typeface="Calibri" pitchFamily="34" charset="-122"/>
                <a:cs typeface="Calibri" pitchFamily="34" charset="-120"/>
              </a:rPr>
              <a:t>HHI 5,000 → 0, 1,000 → 1</a:t>
            </a:r>
            <a:endParaRPr lang="en-US" sz="1250" dirty="0"/>
          </a:p>
        </p:txBody>
      </p:sp>
      <p:sp>
        <p:nvSpPr>
          <p:cNvPr id="9" name="Text 6"/>
          <p:cNvSpPr txBox="1"/>
          <p:nvPr/>
        </p:nvSpPr>
        <p:spPr>
          <a:xfrm>
            <a:off x="6583680" y="3794760"/>
            <a:ext cx="5120640" cy="457200"/>
          </a:xfrm>
          <a:prstGeom prst="rect">
            <a:avLst/>
          </a:prstGeom>
          <a:noFill/>
          <a:ln/>
        </p:spPr>
        <p:txBody>
          <a:bodyPr wrap="square" lIns="0" tIns="0" rIns="0" bIns="0" rtlCol="0" anchor="ctr"/>
          <a:lstStyle/>
          <a:p>
            <a:pPr indent="0" marL="0">
              <a:buNone/>
            </a:pPr>
            <a:r>
              <a:rPr lang="en-US" sz="1250" b="1" dirty="0">
                <a:solidFill>
                  <a:srgbClr val="0F1B2D"/>
                </a:solidFill>
                <a:latin typeface="Calibri" pitchFamily="34" charset="0"/>
                <a:ea typeface="Calibri" pitchFamily="34" charset="-122"/>
                <a:cs typeface="Calibri" pitchFamily="34" charset="-120"/>
              </a:rPr>
              <a:t>Quality gap  </a:t>
            </a:r>
            <a:pPr indent="0" marL="0">
              <a:buNone/>
            </a:pPr>
            <a:r>
              <a:rPr lang="en-US" sz="1250" dirty="0">
                <a:solidFill>
                  <a:srgbClr val="44546B"/>
                </a:solidFill>
                <a:latin typeface="Calibri" pitchFamily="34" charset="0"/>
                <a:ea typeface="Calibri" pitchFamily="34" charset="-122"/>
                <a:cs typeface="Calibri" pitchFamily="34" charset="-120"/>
              </a:rPr>
              <a:t>demand on products rated &lt; 4.0; upside only</a:t>
            </a:r>
            <a:endParaRPr lang="en-US" sz="1250" dirty="0"/>
          </a:p>
        </p:txBody>
      </p:sp>
      <p:sp>
        <p:nvSpPr>
          <p:cNvPr id="10" name="Text 7"/>
          <p:cNvSpPr txBox="1"/>
          <p:nvPr/>
        </p:nvSpPr>
        <p:spPr>
          <a:xfrm>
            <a:off x="6583680" y="4343400"/>
            <a:ext cx="5120640" cy="457200"/>
          </a:xfrm>
          <a:prstGeom prst="rect">
            <a:avLst/>
          </a:prstGeom>
          <a:noFill/>
          <a:ln/>
        </p:spPr>
        <p:txBody>
          <a:bodyPr wrap="square" lIns="0" tIns="0" rIns="0" bIns="0" rtlCol="0" anchor="ctr"/>
          <a:lstStyle/>
          <a:p>
            <a:pPr indent="0" marL="0">
              <a:buNone/>
            </a:pPr>
            <a:r>
              <a:rPr lang="en-US" sz="1250" b="1" dirty="0">
                <a:solidFill>
                  <a:srgbClr val="0F1B2D"/>
                </a:solidFill>
                <a:latin typeface="Calibri" pitchFamily="34" charset="0"/>
                <a:ea typeface="Calibri" pitchFamily="34" charset="-122"/>
                <a:cs typeface="Calibri" pitchFamily="34" charset="-120"/>
              </a:rPr>
              <a:t>Saturation  </a:t>
            </a:r>
            <a:pPr indent="0" marL="0">
              <a:buNone/>
            </a:pPr>
            <a:r>
              <a:rPr lang="en-US" sz="1250" dirty="0">
                <a:solidFill>
                  <a:srgbClr val="44546B"/>
                </a:solidFill>
                <a:latin typeface="Calibri" pitchFamily="34" charset="0"/>
                <a:ea typeface="Calibri" pitchFamily="34" charset="-122"/>
                <a:cs typeface="Calibri" pitchFamily="34" charset="-120"/>
              </a:rPr>
              <a:t>share of listings below the first badge</a:t>
            </a:r>
            <a:endParaRPr lang="en-US" sz="1250" dirty="0"/>
          </a:p>
        </p:txBody>
      </p:sp>
      <p:sp>
        <p:nvSpPr>
          <p:cNvPr id="11" name="Shape 8"/>
          <p:cNvSpPr/>
          <p:nvPr/>
        </p:nvSpPr>
        <p:spPr>
          <a:xfrm>
            <a:off x="6583680" y="5029200"/>
            <a:ext cx="5120640" cy="1143000"/>
          </a:xfrm>
          <a:prstGeom prst="roundRect">
            <a:avLst>
              <a:gd name="adj" fmla="val 6400"/>
            </a:avLst>
          </a:prstGeom>
          <a:solidFill>
            <a:srgbClr val="D9F3FB"/>
          </a:solidFill>
          <a:ln w="12700">
            <a:solidFill>
              <a:srgbClr val="8FDCF2"/>
            </a:solidFill>
            <a:prstDash val="solid"/>
          </a:ln>
        </p:spPr>
      </p:sp>
      <p:sp>
        <p:nvSpPr>
          <p:cNvPr id="12" name="Text 9"/>
          <p:cNvSpPr txBox="1"/>
          <p:nvPr/>
        </p:nvSpPr>
        <p:spPr>
          <a:xfrm>
            <a:off x="6766560" y="5074920"/>
            <a:ext cx="4800600" cy="1051560"/>
          </a:xfrm>
          <a:prstGeom prst="rect">
            <a:avLst/>
          </a:prstGeom>
          <a:noFill/>
          <a:ln/>
        </p:spPr>
        <p:txBody>
          <a:bodyPr wrap="square" lIns="0" tIns="0" rIns="0" bIns="0" rtlCol="0" anchor="ctr"/>
          <a:lstStyle/>
          <a:p>
            <a:pPr indent="0" marL="0">
              <a:buNone/>
            </a:pPr>
            <a:r>
              <a:rPr lang="en-US" sz="1200" b="1" dirty="0">
                <a:solidFill>
                  <a:srgbClr val="0F1B2D"/>
                </a:solidFill>
                <a:latin typeface="Calibri" pitchFamily="34" charset="0"/>
                <a:ea typeface="Calibri" pitchFamily="34" charset="-122"/>
                <a:cs typeface="Calibri" pitchFamily="34" charset="-120"/>
              </a:rPr>
              <a:t>Weighted geometric mean. </a:t>
            </a:r>
            <a:pPr indent="0" marL="0">
              <a:buNone/>
            </a:pPr>
            <a:r>
              <a:rPr lang="en-US" sz="1200" dirty="0">
                <a:solidFill>
                  <a:srgbClr val="33445C"/>
                </a:solidFill>
                <a:latin typeface="Calibri" pitchFamily="34" charset="0"/>
                <a:ea typeface="Calibri" pitchFamily="34" charset="-122"/>
                <a:cs typeface="Calibri" pitchFamily="34" charset="-120"/>
              </a:rPr>
              <a:t>One fatal weakness (e.g. impossible entry) drags the index down instead of being averaged away. Absolute scales make markets comparable; missing components are left out and coverage is shown.</a:t>
            </a:r>
            <a:endParaRPr lang="en-US" sz="1200" dirty="0"/>
          </a:p>
        </p:txBody>
      </p:sp>
      <p:sp>
        <p:nvSpPr>
          <p:cNvPr id="13" name="Text 10"/>
          <p:cNvSpPr txBox="1"/>
          <p:nvPr/>
        </p:nvSpPr>
        <p:spPr>
          <a:xfrm>
            <a:off x="10332720" y="6446520"/>
            <a:ext cx="1371600" cy="228600"/>
          </a:xfrm>
          <a:prstGeom prst="rect">
            <a:avLst/>
          </a:prstGeom>
          <a:noFill/>
          <a:ln/>
        </p:spPr>
        <p:txBody>
          <a:bodyPr wrap="square" lIns="0" tIns="0" rIns="0" bIns="0" rtlCol="0" anchor="ctr"/>
          <a:lstStyle/>
          <a:p>
            <a:pPr algn="r" indent="0" marL="0">
              <a:buNone/>
            </a:pPr>
            <a:r>
              <a:rPr lang="en-US" sz="900" dirty="0">
                <a:solidFill>
                  <a:srgbClr val="8A98AD"/>
                </a:solidFill>
                <a:latin typeface="Calibri" pitchFamily="34" charset="0"/>
                <a:ea typeface="Calibri" pitchFamily="34" charset="-122"/>
                <a:cs typeface="Calibri" pitchFamily="34" charset="-120"/>
              </a:rPr>
              <a:t>DMIS · 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274320"/>
          </a:xfrm>
          <a:prstGeom prst="rect">
            <a:avLst/>
          </a:prstGeom>
          <a:noFill/>
          <a:ln/>
        </p:spPr>
        <p:txBody>
          <a:bodyPr wrap="square" lIns="0" tIns="0" rIns="0" bIns="0" rtlCol="0" anchor="ctr"/>
          <a:lstStyle/>
          <a:p>
            <a:pPr indent="0" marL="0">
              <a:buNone/>
            </a:pPr>
            <a:r>
              <a:rPr lang="en-US" sz="1100" b="1" spc="300" kern="0" dirty="0">
                <a:solidFill>
                  <a:srgbClr val="38D6FF"/>
                </a:solidFill>
                <a:latin typeface="Calibri" pitchFamily="34" charset="0"/>
                <a:ea typeface="Calibri" pitchFamily="34" charset="-122"/>
                <a:cs typeface="Calibri" pitchFamily="34" charset="-120"/>
              </a:rPr>
              <a:t>DEMAND GAPS → RECOMMENDED PRODUCT</a:t>
            </a:r>
            <a:endParaRPr lang="en-US" sz="1100" dirty="0"/>
          </a:p>
        </p:txBody>
      </p:sp>
      <p:sp>
        <p:nvSpPr>
          <p:cNvPr id="3" name="Text 1"/>
          <p:cNvSpPr txBox="1"/>
          <p:nvPr/>
        </p:nvSpPr>
        <p:spPr>
          <a:xfrm>
            <a:off x="548640" y="685800"/>
            <a:ext cx="11064240" cy="685800"/>
          </a:xfrm>
          <a:prstGeom prst="rect">
            <a:avLst/>
          </a:prstGeom>
          <a:noFill/>
          <a:ln/>
        </p:spPr>
        <p:txBody>
          <a:bodyPr wrap="square" lIns="0" tIns="0" rIns="0" bIns="0" rtlCol="0" anchor="ctr"/>
          <a:lstStyle/>
          <a:p>
            <a:pPr indent="0" marL="0">
              <a:buNone/>
            </a:pPr>
            <a:r>
              <a:rPr lang="en-US" sz="3200" b="1" dirty="0">
                <a:solidFill>
                  <a:srgbClr val="E6EEFB"/>
                </a:solidFill>
                <a:latin typeface="Cambria" pitchFamily="34" charset="0"/>
                <a:ea typeface="Cambria" pitchFamily="34" charset="-122"/>
                <a:cs typeface="Cambria" pitchFamily="34" charset="-120"/>
              </a:rPr>
              <a:t>Which features does demand reward?</a:t>
            </a:r>
            <a:endParaRPr lang="en-US" sz="3200" dirty="0"/>
          </a:p>
        </p:txBody>
      </p:sp>
      <p:sp>
        <p:nvSpPr>
          <p:cNvPr id="4" name="Shape 2"/>
          <p:cNvSpPr/>
          <p:nvPr/>
        </p:nvSpPr>
        <p:spPr>
          <a:xfrm>
            <a:off x="548640" y="1737360"/>
            <a:ext cx="2103120" cy="2651760"/>
          </a:xfrm>
          <a:prstGeom prst="roundRect">
            <a:avLst>
              <a:gd name="adj" fmla="val 3478"/>
            </a:avLst>
          </a:prstGeom>
          <a:solidFill>
            <a:srgbClr val="111C2E"/>
          </a:solidFill>
          <a:ln w="12700">
            <a:solidFill>
              <a:srgbClr val="1F3150"/>
            </a:solidFill>
            <a:prstDash val="solid"/>
          </a:ln>
        </p:spPr>
      </p:sp>
      <p:sp>
        <p:nvSpPr>
          <p:cNvPr id="5" name="Text 3"/>
          <p:cNvSpPr txBox="1"/>
          <p:nvPr/>
        </p:nvSpPr>
        <p:spPr>
          <a:xfrm>
            <a:off x="713232" y="1874520"/>
            <a:ext cx="1828800" cy="411480"/>
          </a:xfrm>
          <a:prstGeom prst="rect">
            <a:avLst/>
          </a:prstGeom>
          <a:noFill/>
          <a:ln/>
        </p:spPr>
        <p:txBody>
          <a:bodyPr wrap="square" lIns="0" tIns="0" rIns="0" bIns="0" rtlCol="0" anchor="ctr"/>
          <a:lstStyle/>
          <a:p>
            <a:pPr indent="0" marL="0">
              <a:buNone/>
            </a:pPr>
            <a:r>
              <a:rPr lang="en-US" sz="1600" b="1" dirty="0">
                <a:solidFill>
                  <a:srgbClr val="38D6FF"/>
                </a:solidFill>
                <a:latin typeface="Cambria" pitchFamily="34" charset="0"/>
                <a:ea typeface="Cambria" pitchFamily="34" charset="-122"/>
                <a:cs typeface="Cambria" pitchFamily="34" charset="-120"/>
              </a:rPr>
              <a:t>Candidates</a:t>
            </a:r>
            <a:endParaRPr lang="en-US" sz="1600" dirty="0"/>
          </a:p>
        </p:txBody>
      </p:sp>
      <p:sp>
        <p:nvSpPr>
          <p:cNvPr id="6" name="Text 4"/>
          <p:cNvSpPr txBox="1"/>
          <p:nvPr/>
        </p:nvSpPr>
        <p:spPr>
          <a:xfrm>
            <a:off x="713232" y="2331720"/>
            <a:ext cx="1810512" cy="1965960"/>
          </a:xfrm>
          <a:prstGeom prst="rect">
            <a:avLst/>
          </a:prstGeom>
          <a:noFill/>
          <a:ln/>
        </p:spPr>
        <p:txBody>
          <a:bodyPr wrap="square" lIns="0" tIns="0" rIns="0" bIns="0" rtlCol="0" anchor="t"/>
          <a:lstStyle/>
          <a:p>
            <a:pPr indent="0" marL="0">
              <a:buNone/>
            </a:pPr>
            <a:r>
              <a:rPr lang="en-US" sz="1200" dirty="0">
                <a:solidFill>
                  <a:srgbClr val="A9BAD3"/>
                </a:solidFill>
                <a:latin typeface="Calibri" pitchFamily="34" charset="0"/>
                <a:ea typeface="Calibri" pitchFamily="34" charset="-122"/>
                <a:cs typeface="Calibri" pitchFamily="34" charset="-120"/>
              </a:rPr>
              <a:t>title terms (e.g. “teaching”), bucketed specs (e.g. rpm 40k–60k), price bands — in every sub-category with ≥ 8 listings</a:t>
            </a:r>
            <a:endParaRPr lang="en-US" sz="1200" dirty="0"/>
          </a:p>
        </p:txBody>
      </p:sp>
      <p:sp>
        <p:nvSpPr>
          <p:cNvPr id="7" name="Text 5"/>
          <p:cNvSpPr txBox="1"/>
          <p:nvPr/>
        </p:nvSpPr>
        <p:spPr>
          <a:xfrm>
            <a:off x="2624328" y="2788920"/>
            <a:ext cx="237744" cy="457200"/>
          </a:xfrm>
          <a:prstGeom prst="rect">
            <a:avLst/>
          </a:prstGeom>
          <a:noFill/>
          <a:ln/>
        </p:spPr>
        <p:txBody>
          <a:bodyPr wrap="square" lIns="0" tIns="0" rIns="0" bIns="0" rtlCol="0" anchor="ctr"/>
          <a:lstStyle/>
          <a:p>
            <a:pPr algn="ctr" indent="0" marL="0">
              <a:buNone/>
            </a:pPr>
            <a:r>
              <a:rPr lang="en-US" sz="2600" dirty="0">
                <a:solidFill>
                  <a:srgbClr val="6F84A6"/>
                </a:solidFill>
                <a:latin typeface="Calibri" pitchFamily="34" charset="0"/>
                <a:ea typeface="Calibri" pitchFamily="34" charset="-122"/>
                <a:cs typeface="Calibri" pitchFamily="34" charset="-120"/>
              </a:rPr>
              <a:t>›</a:t>
            </a:r>
            <a:endParaRPr lang="en-US" sz="2600" dirty="0"/>
          </a:p>
        </p:txBody>
      </p:sp>
      <p:sp>
        <p:nvSpPr>
          <p:cNvPr id="8" name="Shape 6"/>
          <p:cNvSpPr/>
          <p:nvPr/>
        </p:nvSpPr>
        <p:spPr>
          <a:xfrm>
            <a:off x="2834640" y="1737360"/>
            <a:ext cx="2103120" cy="2651760"/>
          </a:xfrm>
          <a:prstGeom prst="roundRect">
            <a:avLst>
              <a:gd name="adj" fmla="val 3478"/>
            </a:avLst>
          </a:prstGeom>
          <a:solidFill>
            <a:srgbClr val="111C2E"/>
          </a:solidFill>
          <a:ln w="12700">
            <a:solidFill>
              <a:srgbClr val="1F3150"/>
            </a:solidFill>
            <a:prstDash val="solid"/>
          </a:ln>
        </p:spPr>
      </p:sp>
      <p:sp>
        <p:nvSpPr>
          <p:cNvPr id="9" name="Text 7"/>
          <p:cNvSpPr txBox="1"/>
          <p:nvPr/>
        </p:nvSpPr>
        <p:spPr>
          <a:xfrm>
            <a:off x="2999232" y="1874520"/>
            <a:ext cx="1828800" cy="411480"/>
          </a:xfrm>
          <a:prstGeom prst="rect">
            <a:avLst/>
          </a:prstGeom>
          <a:noFill/>
          <a:ln/>
        </p:spPr>
        <p:txBody>
          <a:bodyPr wrap="square" lIns="0" tIns="0" rIns="0" bIns="0" rtlCol="0" anchor="ctr"/>
          <a:lstStyle/>
          <a:p>
            <a:pPr indent="0" marL="0">
              <a:buNone/>
            </a:pPr>
            <a:r>
              <a:rPr lang="en-US" sz="1600" b="1" dirty="0">
                <a:solidFill>
                  <a:srgbClr val="38D6FF"/>
                </a:solidFill>
                <a:latin typeface="Cambria" pitchFamily="34" charset="0"/>
                <a:ea typeface="Cambria" pitchFamily="34" charset="-122"/>
                <a:cs typeface="Cambria" pitchFamily="34" charset="-120"/>
              </a:rPr>
              <a:t>Lift</a:t>
            </a:r>
            <a:endParaRPr lang="en-US" sz="1600" dirty="0"/>
          </a:p>
        </p:txBody>
      </p:sp>
      <p:sp>
        <p:nvSpPr>
          <p:cNvPr id="10" name="Text 8"/>
          <p:cNvSpPr txBox="1"/>
          <p:nvPr/>
        </p:nvSpPr>
        <p:spPr>
          <a:xfrm>
            <a:off x="2999232" y="2331720"/>
            <a:ext cx="1810512" cy="1965960"/>
          </a:xfrm>
          <a:prstGeom prst="rect">
            <a:avLst/>
          </a:prstGeom>
          <a:noFill/>
          <a:ln/>
        </p:spPr>
        <p:txBody>
          <a:bodyPr wrap="square" lIns="0" tIns="0" rIns="0" bIns="0" rtlCol="0" anchor="t"/>
          <a:lstStyle/>
          <a:p>
            <a:pPr indent="0" marL="0">
              <a:buNone/>
            </a:pPr>
            <a:r>
              <a:rPr lang="en-US" sz="1200" dirty="0">
                <a:solidFill>
                  <a:srgbClr val="A9BAD3"/>
                </a:solidFill>
                <a:latin typeface="Calibri" pitchFamily="34" charset="0"/>
                <a:ea typeface="Calibri" pitchFamily="34" charset="-122"/>
                <a:cs typeface="Calibri" pitchFamily="34" charset="-120"/>
              </a:rPr>
              <a:t>units per listing WITH the feature ÷ WITHOUT it; 400-sample bootstrap interval; ≥ 5 listings on each side</a:t>
            </a:r>
            <a:endParaRPr lang="en-US" sz="1200" dirty="0"/>
          </a:p>
        </p:txBody>
      </p:sp>
      <p:sp>
        <p:nvSpPr>
          <p:cNvPr id="11" name="Text 9"/>
          <p:cNvSpPr txBox="1"/>
          <p:nvPr/>
        </p:nvSpPr>
        <p:spPr>
          <a:xfrm>
            <a:off x="4910328" y="2788920"/>
            <a:ext cx="237744" cy="457200"/>
          </a:xfrm>
          <a:prstGeom prst="rect">
            <a:avLst/>
          </a:prstGeom>
          <a:noFill/>
          <a:ln/>
        </p:spPr>
        <p:txBody>
          <a:bodyPr wrap="square" lIns="0" tIns="0" rIns="0" bIns="0" rtlCol="0" anchor="ctr"/>
          <a:lstStyle/>
          <a:p>
            <a:pPr algn="ctr" indent="0" marL="0">
              <a:buNone/>
            </a:pPr>
            <a:r>
              <a:rPr lang="en-US" sz="2600" dirty="0">
                <a:solidFill>
                  <a:srgbClr val="6F84A6"/>
                </a:solidFill>
                <a:latin typeface="Calibri" pitchFamily="34" charset="0"/>
                <a:ea typeface="Calibri" pitchFamily="34" charset="-122"/>
                <a:cs typeface="Calibri" pitchFamily="34" charset="-120"/>
              </a:rPr>
              <a:t>›</a:t>
            </a:r>
            <a:endParaRPr lang="en-US" sz="2600" dirty="0"/>
          </a:p>
        </p:txBody>
      </p:sp>
      <p:sp>
        <p:nvSpPr>
          <p:cNvPr id="12" name="Shape 10"/>
          <p:cNvSpPr/>
          <p:nvPr/>
        </p:nvSpPr>
        <p:spPr>
          <a:xfrm>
            <a:off x="5120640" y="1737360"/>
            <a:ext cx="2103120" cy="2651760"/>
          </a:xfrm>
          <a:prstGeom prst="roundRect">
            <a:avLst>
              <a:gd name="adj" fmla="val 3478"/>
            </a:avLst>
          </a:prstGeom>
          <a:solidFill>
            <a:srgbClr val="111C2E"/>
          </a:solidFill>
          <a:ln w="12700">
            <a:solidFill>
              <a:srgbClr val="1F3150"/>
            </a:solidFill>
            <a:prstDash val="solid"/>
          </a:ln>
        </p:spPr>
      </p:sp>
      <p:sp>
        <p:nvSpPr>
          <p:cNvPr id="13" name="Text 11"/>
          <p:cNvSpPr txBox="1"/>
          <p:nvPr/>
        </p:nvSpPr>
        <p:spPr>
          <a:xfrm>
            <a:off x="5285232" y="1874520"/>
            <a:ext cx="1828800" cy="411480"/>
          </a:xfrm>
          <a:prstGeom prst="rect">
            <a:avLst/>
          </a:prstGeom>
          <a:noFill/>
          <a:ln/>
        </p:spPr>
        <p:txBody>
          <a:bodyPr wrap="square" lIns="0" tIns="0" rIns="0" bIns="0" rtlCol="0" anchor="ctr"/>
          <a:lstStyle/>
          <a:p>
            <a:pPr indent="0" marL="0">
              <a:buNone/>
            </a:pPr>
            <a:r>
              <a:rPr lang="en-US" sz="1600" b="1" dirty="0">
                <a:solidFill>
                  <a:srgbClr val="38D6FF"/>
                </a:solidFill>
                <a:latin typeface="Cambria" pitchFamily="34" charset="0"/>
                <a:ea typeface="Cambria" pitchFamily="34" charset="-122"/>
                <a:cs typeface="Cambria" pitchFamily="34" charset="-120"/>
              </a:rPr>
              <a:t>Test</a:t>
            </a:r>
            <a:endParaRPr lang="en-US" sz="1600" dirty="0"/>
          </a:p>
        </p:txBody>
      </p:sp>
      <p:sp>
        <p:nvSpPr>
          <p:cNvPr id="14" name="Text 12"/>
          <p:cNvSpPr txBox="1"/>
          <p:nvPr/>
        </p:nvSpPr>
        <p:spPr>
          <a:xfrm>
            <a:off x="5285232" y="2331720"/>
            <a:ext cx="1810512" cy="1965960"/>
          </a:xfrm>
          <a:prstGeom prst="rect">
            <a:avLst/>
          </a:prstGeom>
          <a:noFill/>
          <a:ln/>
        </p:spPr>
        <p:txBody>
          <a:bodyPr wrap="square" lIns="0" tIns="0" rIns="0" bIns="0" rtlCol="0" anchor="t"/>
          <a:lstStyle/>
          <a:p>
            <a:pPr indent="0" marL="0">
              <a:buNone/>
            </a:pPr>
            <a:r>
              <a:rPr lang="en-US" sz="1200" dirty="0">
                <a:solidFill>
                  <a:srgbClr val="A9BAD3"/>
                </a:solidFill>
                <a:latin typeface="Calibri" pitchFamily="34" charset="0"/>
                <a:ea typeface="Calibri" pitchFamily="34" charset="-122"/>
                <a:cs typeface="Calibri" pitchFamily="34" charset="-120"/>
              </a:rPr>
              <a:t>Benjamini–Hochberg false-discovery control at 10% across all tested features</a:t>
            </a:r>
            <a:endParaRPr lang="en-US" sz="1200" dirty="0"/>
          </a:p>
        </p:txBody>
      </p:sp>
      <p:sp>
        <p:nvSpPr>
          <p:cNvPr id="15" name="Text 13"/>
          <p:cNvSpPr txBox="1"/>
          <p:nvPr/>
        </p:nvSpPr>
        <p:spPr>
          <a:xfrm>
            <a:off x="7196328" y="2788920"/>
            <a:ext cx="237744" cy="457200"/>
          </a:xfrm>
          <a:prstGeom prst="rect">
            <a:avLst/>
          </a:prstGeom>
          <a:noFill/>
          <a:ln/>
        </p:spPr>
        <p:txBody>
          <a:bodyPr wrap="square" lIns="0" tIns="0" rIns="0" bIns="0" rtlCol="0" anchor="ctr"/>
          <a:lstStyle/>
          <a:p>
            <a:pPr algn="ctr" indent="0" marL="0">
              <a:buNone/>
            </a:pPr>
            <a:r>
              <a:rPr lang="en-US" sz="2600" dirty="0">
                <a:solidFill>
                  <a:srgbClr val="6F84A6"/>
                </a:solidFill>
                <a:latin typeface="Calibri" pitchFamily="34" charset="0"/>
                <a:ea typeface="Calibri" pitchFamily="34" charset="-122"/>
                <a:cs typeface="Calibri" pitchFamily="34" charset="-120"/>
              </a:rPr>
              <a:t>›</a:t>
            </a:r>
            <a:endParaRPr lang="en-US" sz="2600" dirty="0"/>
          </a:p>
        </p:txBody>
      </p:sp>
      <p:sp>
        <p:nvSpPr>
          <p:cNvPr id="16" name="Shape 14"/>
          <p:cNvSpPr/>
          <p:nvPr/>
        </p:nvSpPr>
        <p:spPr>
          <a:xfrm>
            <a:off x="7406640" y="1737360"/>
            <a:ext cx="2103120" cy="2651760"/>
          </a:xfrm>
          <a:prstGeom prst="roundRect">
            <a:avLst>
              <a:gd name="adj" fmla="val 3478"/>
            </a:avLst>
          </a:prstGeom>
          <a:solidFill>
            <a:srgbClr val="111C2E"/>
          </a:solidFill>
          <a:ln w="12700">
            <a:solidFill>
              <a:srgbClr val="1F3150"/>
            </a:solidFill>
            <a:prstDash val="solid"/>
          </a:ln>
        </p:spPr>
      </p:sp>
      <p:sp>
        <p:nvSpPr>
          <p:cNvPr id="17" name="Text 15"/>
          <p:cNvSpPr txBox="1"/>
          <p:nvPr/>
        </p:nvSpPr>
        <p:spPr>
          <a:xfrm>
            <a:off x="7571232" y="1874520"/>
            <a:ext cx="1828800" cy="411480"/>
          </a:xfrm>
          <a:prstGeom prst="rect">
            <a:avLst/>
          </a:prstGeom>
          <a:noFill/>
          <a:ln/>
        </p:spPr>
        <p:txBody>
          <a:bodyPr wrap="square" lIns="0" tIns="0" rIns="0" bIns="0" rtlCol="0" anchor="ctr"/>
          <a:lstStyle/>
          <a:p>
            <a:pPr indent="0" marL="0">
              <a:buNone/>
            </a:pPr>
            <a:r>
              <a:rPr lang="en-US" sz="1600" b="1" dirty="0">
                <a:solidFill>
                  <a:srgbClr val="38D6FF"/>
                </a:solidFill>
                <a:latin typeface="Cambria" pitchFamily="34" charset="0"/>
                <a:ea typeface="Cambria" pitchFamily="34" charset="-122"/>
                <a:cs typeface="Cambria" pitchFamily="34" charset="-120"/>
              </a:rPr>
              <a:t>Gap</a:t>
            </a:r>
            <a:endParaRPr lang="en-US" sz="1600" dirty="0"/>
          </a:p>
        </p:txBody>
      </p:sp>
      <p:sp>
        <p:nvSpPr>
          <p:cNvPr id="18" name="Text 16"/>
          <p:cNvSpPr txBox="1"/>
          <p:nvPr/>
        </p:nvSpPr>
        <p:spPr>
          <a:xfrm>
            <a:off x="7571232" y="2331720"/>
            <a:ext cx="1810512" cy="1965960"/>
          </a:xfrm>
          <a:prstGeom prst="rect">
            <a:avLst/>
          </a:prstGeom>
          <a:noFill/>
          <a:ln/>
        </p:spPr>
        <p:txBody>
          <a:bodyPr wrap="square" lIns="0" tIns="0" rIns="0" bIns="0" rtlCol="0" anchor="t"/>
          <a:lstStyle/>
          <a:p>
            <a:pPr indent="0" marL="0">
              <a:buNone/>
            </a:pPr>
            <a:r>
              <a:rPr lang="en-US" sz="1200" dirty="0">
                <a:solidFill>
                  <a:srgbClr val="A9BAD3"/>
                </a:solidFill>
                <a:latin typeface="Calibri" pitchFamily="34" charset="0"/>
                <a:ea typeface="Calibri" pitchFamily="34" charset="-122"/>
                <a:cs typeface="Calibri" pitchFamily="34" charset="-120"/>
              </a:rPr>
              <a:t>significant lift AND under-supplied (demand share &gt; supply share)</a:t>
            </a:r>
            <a:endParaRPr lang="en-US" sz="1200" dirty="0"/>
          </a:p>
        </p:txBody>
      </p:sp>
      <p:sp>
        <p:nvSpPr>
          <p:cNvPr id="19" name="Text 17"/>
          <p:cNvSpPr txBox="1"/>
          <p:nvPr/>
        </p:nvSpPr>
        <p:spPr>
          <a:xfrm>
            <a:off x="9482328" y="2788920"/>
            <a:ext cx="237744" cy="457200"/>
          </a:xfrm>
          <a:prstGeom prst="rect">
            <a:avLst/>
          </a:prstGeom>
          <a:noFill/>
          <a:ln/>
        </p:spPr>
        <p:txBody>
          <a:bodyPr wrap="square" lIns="0" tIns="0" rIns="0" bIns="0" rtlCol="0" anchor="ctr"/>
          <a:lstStyle/>
          <a:p>
            <a:pPr algn="ctr" indent="0" marL="0">
              <a:buNone/>
            </a:pPr>
            <a:r>
              <a:rPr lang="en-US" sz="2600" dirty="0">
                <a:solidFill>
                  <a:srgbClr val="6F84A6"/>
                </a:solidFill>
                <a:latin typeface="Calibri" pitchFamily="34" charset="0"/>
                <a:ea typeface="Calibri" pitchFamily="34" charset="-122"/>
                <a:cs typeface="Calibri" pitchFamily="34" charset="-120"/>
              </a:rPr>
              <a:t>›</a:t>
            </a:r>
            <a:endParaRPr lang="en-US" sz="2600" dirty="0"/>
          </a:p>
        </p:txBody>
      </p:sp>
      <p:sp>
        <p:nvSpPr>
          <p:cNvPr id="20" name="Shape 18"/>
          <p:cNvSpPr/>
          <p:nvPr/>
        </p:nvSpPr>
        <p:spPr>
          <a:xfrm>
            <a:off x="9692640" y="1737360"/>
            <a:ext cx="2103120" cy="2651760"/>
          </a:xfrm>
          <a:prstGeom prst="roundRect">
            <a:avLst>
              <a:gd name="adj" fmla="val 3478"/>
            </a:avLst>
          </a:prstGeom>
          <a:solidFill>
            <a:srgbClr val="111C2E"/>
          </a:solidFill>
          <a:ln w="12700">
            <a:solidFill>
              <a:srgbClr val="1F3150"/>
            </a:solidFill>
            <a:prstDash val="solid"/>
          </a:ln>
        </p:spPr>
      </p:sp>
      <p:sp>
        <p:nvSpPr>
          <p:cNvPr id="21" name="Text 19"/>
          <p:cNvSpPr txBox="1"/>
          <p:nvPr/>
        </p:nvSpPr>
        <p:spPr>
          <a:xfrm>
            <a:off x="9857232" y="1874520"/>
            <a:ext cx="1828800" cy="411480"/>
          </a:xfrm>
          <a:prstGeom prst="rect">
            <a:avLst/>
          </a:prstGeom>
          <a:noFill/>
          <a:ln/>
        </p:spPr>
        <p:txBody>
          <a:bodyPr wrap="square" lIns="0" tIns="0" rIns="0" bIns="0" rtlCol="0" anchor="ctr"/>
          <a:lstStyle/>
          <a:p>
            <a:pPr indent="0" marL="0">
              <a:buNone/>
            </a:pPr>
            <a:r>
              <a:rPr lang="en-US" sz="1600" b="1" dirty="0">
                <a:solidFill>
                  <a:srgbClr val="2ECC8F"/>
                </a:solidFill>
                <a:latin typeface="Cambria" pitchFamily="34" charset="0"/>
                <a:ea typeface="Cambria" pitchFamily="34" charset="-122"/>
                <a:cs typeface="Cambria" pitchFamily="34" charset="-120"/>
              </a:rPr>
              <a:t>Recommend</a:t>
            </a:r>
            <a:endParaRPr lang="en-US" sz="1600" dirty="0"/>
          </a:p>
        </p:txBody>
      </p:sp>
      <p:sp>
        <p:nvSpPr>
          <p:cNvPr id="22" name="Text 20"/>
          <p:cNvSpPr txBox="1"/>
          <p:nvPr/>
        </p:nvSpPr>
        <p:spPr>
          <a:xfrm>
            <a:off x="9857232" y="2331720"/>
            <a:ext cx="1810512" cy="1965960"/>
          </a:xfrm>
          <a:prstGeom prst="rect">
            <a:avLst/>
          </a:prstGeom>
          <a:noFill/>
          <a:ln/>
        </p:spPr>
        <p:txBody>
          <a:bodyPr wrap="square" lIns="0" tIns="0" rIns="0" bIns="0" rtlCol="0" anchor="t"/>
          <a:lstStyle/>
          <a:p>
            <a:pPr indent="0" marL="0">
              <a:buNone/>
            </a:pPr>
            <a:r>
              <a:rPr lang="en-US" sz="1200" dirty="0">
                <a:solidFill>
                  <a:srgbClr val="A9BAD3"/>
                </a:solidFill>
                <a:latin typeface="Calibri" pitchFamily="34" charset="0"/>
                <a:ea typeface="Calibri" pitchFamily="34" charset="-122"/>
                <a:cs typeface="Calibri" pitchFamily="34" charset="-120"/>
              </a:rPr>
              <a:t>up to 3 co-occurring gaps + the best price band; otherwise “best price band” (stated)</a:t>
            </a:r>
            <a:endParaRPr lang="en-US" sz="1200" dirty="0"/>
          </a:p>
        </p:txBody>
      </p:sp>
      <p:sp>
        <p:nvSpPr>
          <p:cNvPr id="23" name="Shape 21"/>
          <p:cNvSpPr/>
          <p:nvPr/>
        </p:nvSpPr>
        <p:spPr>
          <a:xfrm>
            <a:off x="548640" y="4709160"/>
            <a:ext cx="11064240" cy="1417320"/>
          </a:xfrm>
          <a:prstGeom prst="roundRect">
            <a:avLst>
              <a:gd name="adj" fmla="val 5161"/>
            </a:avLst>
          </a:prstGeom>
          <a:solidFill>
            <a:srgbClr val="0E2A33"/>
          </a:solidFill>
          <a:ln w="12700">
            <a:solidFill>
              <a:srgbClr val="1C5566"/>
            </a:solidFill>
            <a:prstDash val="solid"/>
          </a:ln>
        </p:spPr>
      </p:sp>
      <p:sp>
        <p:nvSpPr>
          <p:cNvPr id="24" name="Text 22"/>
          <p:cNvSpPr txBox="1"/>
          <p:nvPr/>
        </p:nvSpPr>
        <p:spPr>
          <a:xfrm>
            <a:off x="777240" y="4754880"/>
            <a:ext cx="10607040" cy="1325880"/>
          </a:xfrm>
          <a:prstGeom prst="rect">
            <a:avLst/>
          </a:prstGeom>
          <a:noFill/>
          <a:ln/>
        </p:spPr>
        <p:txBody>
          <a:bodyPr wrap="square" lIns="0" tIns="0" rIns="0" bIns="0" rtlCol="0" anchor="ctr"/>
          <a:lstStyle/>
          <a:p>
            <a:pPr indent="0" marL="0">
              <a:buNone/>
            </a:pPr>
            <a:r>
              <a:rPr lang="en-US" sz="1350" b="1" dirty="0">
                <a:solidFill>
                  <a:srgbClr val="E6EEFB"/>
                </a:solidFill>
                <a:latin typeface="Calibri" pitchFamily="34" charset="0"/>
                <a:ea typeface="Calibri" pitchFamily="34" charset="-122"/>
                <a:cs typeface="Calibri" pitchFamily="34" charset="-120"/>
              </a:rPr>
              <a:t>Real result — dental_models: </a:t>
            </a:r>
            <a:pPr indent="0" marL="0">
              <a:buNone/>
            </a:pPr>
            <a:r>
              <a:rPr lang="en-US" sz="1350" dirty="0">
                <a:solidFill>
                  <a:srgbClr val="A9BAD3"/>
                </a:solidFill>
                <a:latin typeface="Calibri" pitchFamily="34" charset="0"/>
                <a:ea typeface="Calibri" pitchFamily="34" charset="-122"/>
                <a:cs typeface="Calibri" pitchFamily="34" charset="-120"/>
              </a:rPr>
              <a:t>“teaching” demonstration models — lift 3.0× (95% interval 1.43–5.11), q = 0.097, supply 72% → demand 89%; recommended price $4.99–$16.99, about 31 units/month expected. </a:t>
            </a:r>
            <a:pPr indent="0" marL="0">
              <a:buNone/>
            </a:pPr>
            <a:r>
              <a:rPr lang="en-US" sz="1350" i="1" dirty="0">
                <a:solidFill>
                  <a:srgbClr val="6F84A6"/>
                </a:solidFill>
                <a:latin typeface="Calibri" pitchFamily="34" charset="0"/>
                <a:ea typeface="Calibri" pitchFamily="34" charset="-122"/>
                <a:cs typeface="Calibri" pitchFamily="34" charset="-120"/>
              </a:rPr>
              <a:t>Why FDR, not Bonferroni: we test hundreds of features — Bonferroni would hide real gaps.</a:t>
            </a:r>
            <a:endParaRPr lang="en-US" sz="1350" dirty="0"/>
          </a:p>
        </p:txBody>
      </p:sp>
      <p:sp>
        <p:nvSpPr>
          <p:cNvPr id="25" name="Text 23"/>
          <p:cNvSpPr txBox="1"/>
          <p:nvPr/>
        </p:nvSpPr>
        <p:spPr>
          <a:xfrm>
            <a:off x="10332720" y="6446520"/>
            <a:ext cx="1371600" cy="228600"/>
          </a:xfrm>
          <a:prstGeom prst="rect">
            <a:avLst/>
          </a:prstGeom>
          <a:noFill/>
          <a:ln/>
        </p:spPr>
        <p:txBody>
          <a:bodyPr wrap="square" lIns="0" tIns="0" rIns="0" bIns="0" rtlCol="0" anchor="ctr"/>
          <a:lstStyle/>
          <a:p>
            <a:pPr algn="r" indent="0" marL="0">
              <a:buNone/>
            </a:pPr>
            <a:r>
              <a:rPr lang="en-US" sz="900" dirty="0">
                <a:solidFill>
                  <a:srgbClr val="6F84A6"/>
                </a:solidFill>
                <a:latin typeface="Calibri" pitchFamily="34" charset="0"/>
                <a:ea typeface="Calibri" pitchFamily="34" charset="-122"/>
                <a:cs typeface="Calibri" pitchFamily="34" charset="-120"/>
              </a:rPr>
              <a:t>DMIS · 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274320"/>
          </a:xfrm>
          <a:prstGeom prst="rect">
            <a:avLst/>
          </a:prstGeom>
          <a:noFill/>
          <a:ln/>
        </p:spPr>
        <p:txBody>
          <a:bodyPr wrap="square" lIns="0" tIns="0" rIns="0" bIns="0" rtlCol="0" anchor="ctr"/>
          <a:lstStyle/>
          <a:p>
            <a:pPr indent="0" marL="0">
              <a:buNone/>
            </a:pPr>
            <a:r>
              <a:rPr lang="en-US" sz="1100" b="1" spc="300" kern="0" dirty="0">
                <a:solidFill>
                  <a:srgbClr val="38D6FF"/>
                </a:solidFill>
                <a:latin typeface="Calibri" pitchFamily="34" charset="0"/>
                <a:ea typeface="Calibri" pitchFamily="34" charset="-122"/>
                <a:cs typeface="Calibri" pitchFamily="34" charset="-120"/>
              </a:rPr>
              <a:t>MODULE · DECISIONS</a:t>
            </a:r>
            <a:endParaRPr lang="en-US" sz="1100" dirty="0"/>
          </a:p>
        </p:txBody>
      </p:sp>
      <p:sp>
        <p:nvSpPr>
          <p:cNvPr id="3" name="Text 1"/>
          <p:cNvSpPr txBox="1"/>
          <p:nvPr/>
        </p:nvSpPr>
        <p:spPr>
          <a:xfrm>
            <a:off x="548640" y="685800"/>
            <a:ext cx="11064240" cy="685800"/>
          </a:xfrm>
          <a:prstGeom prst="rect">
            <a:avLst/>
          </a:prstGeom>
          <a:noFill/>
          <a:ln/>
        </p:spPr>
        <p:txBody>
          <a:bodyPr wrap="square" lIns="0" tIns="0" rIns="0" bIns="0" rtlCol="0" anchor="ctr"/>
          <a:lstStyle/>
          <a:p>
            <a:pPr indent="0" marL="0">
              <a:buNone/>
            </a:pPr>
            <a:r>
              <a:rPr lang="en-US" sz="3200" b="1" dirty="0">
                <a:solidFill>
                  <a:srgbClr val="E6EEFB"/>
                </a:solidFill>
                <a:latin typeface="Cambria" pitchFamily="34" charset="0"/>
                <a:ea typeface="Cambria" pitchFamily="34" charset="-122"/>
                <a:cs typeface="Cambria" pitchFamily="34" charset="-120"/>
              </a:rPr>
              <a:t>Opportunity Board — what to sell</a:t>
            </a:r>
            <a:endParaRPr lang="en-US" sz="3200" dirty="0"/>
          </a:p>
        </p:txBody>
      </p:sp>
      <p:sp>
        <p:nvSpPr>
          <p:cNvPr id="4" name="Shape 2"/>
          <p:cNvSpPr/>
          <p:nvPr/>
        </p:nvSpPr>
        <p:spPr>
          <a:xfrm>
            <a:off x="493776" y="1545336"/>
            <a:ext cx="7013448" cy="4624914"/>
          </a:xfrm>
          <a:prstGeom prst="roundRect">
            <a:avLst>
              <a:gd name="adj" fmla="val 1582"/>
            </a:avLst>
          </a:prstGeom>
          <a:solidFill>
            <a:srgbClr val="1F3150"/>
          </a:solidFill>
          <a:ln w="12700">
            <a:solidFill>
              <a:srgbClr val="1F3150"/>
            </a:solidFill>
            <a:prstDash val="solid"/>
          </a:ln>
          <a:effectLst>
            <a:outerShdw sx="100000" sy="100000" kx="0" ky="0" algn="bl" rotWithShape="0" blurRad="101600" dist="38100" dir="5400000">
              <a:srgbClr val="000000">
                <a:alpha val="25000"/>
              </a:srgbClr>
            </a:outerShdw>
          </a:effectLst>
        </p:spPr>
      </p:sp>
      <p:pic>
        <p:nvPicPr>
          <p:cNvPr id="5" name="Image 0" descr="board.jpg">    </p:cNvPr>
          <p:cNvPicPr>
            <a:picLocks noChangeAspect="1"/>
          </p:cNvPicPr>
          <p:nvPr/>
        </p:nvPicPr>
        <p:blipFill>
          <a:blip r:embed="rId1"/>
          <a:stretch>
            <a:fillRect/>
          </a:stretch>
        </p:blipFill>
        <p:spPr>
          <a:xfrm>
            <a:off x="548640" y="1600200"/>
            <a:ext cx="6903720" cy="4515186"/>
          </a:xfrm>
          <a:prstGeom prst="rect">
            <a:avLst/>
          </a:prstGeom>
        </p:spPr>
      </p:pic>
      <p:sp>
        <p:nvSpPr>
          <p:cNvPr id="6" name="Text 3"/>
          <p:cNvSpPr txBox="1"/>
          <p:nvPr/>
        </p:nvSpPr>
        <p:spPr>
          <a:xfrm>
            <a:off x="548640" y="6225114"/>
            <a:ext cx="6903720" cy="228600"/>
          </a:xfrm>
          <a:prstGeom prst="rect">
            <a:avLst/>
          </a:prstGeom>
          <a:noFill/>
          <a:ln/>
        </p:spPr>
        <p:txBody>
          <a:bodyPr wrap="square" lIns="0" tIns="0" rIns="0" bIns="0" rtlCol="0" anchor="ctr"/>
          <a:lstStyle/>
          <a:p>
            <a:pPr indent="0" marL="0">
              <a:buNone/>
            </a:pPr>
            <a:r>
              <a:rPr lang="en-US" sz="1000" dirty="0">
                <a:solidFill>
                  <a:srgbClr val="6F84A6"/>
                </a:solidFill>
                <a:latin typeface="Courier New" pitchFamily="34" charset="0"/>
                <a:ea typeface="Courier New" pitchFamily="34" charset="-122"/>
                <a:cs typeface="Courier New" pitchFamily="34" charset="-120"/>
              </a:rPr>
              <a:t>/opportunities</a:t>
            </a:r>
            <a:endParaRPr lang="en-US" sz="1000" dirty="0"/>
          </a:p>
        </p:txBody>
      </p:sp>
      <p:sp>
        <p:nvSpPr>
          <p:cNvPr id="7" name="Text 4"/>
          <p:cNvSpPr txBox="1"/>
          <p:nvPr/>
        </p:nvSpPr>
        <p:spPr>
          <a:xfrm>
            <a:off x="7818120" y="1600200"/>
            <a:ext cx="3840480" cy="256032"/>
          </a:xfrm>
          <a:prstGeom prst="rect">
            <a:avLst/>
          </a:prstGeom>
          <a:noFill/>
          <a:ln/>
        </p:spPr>
        <p:txBody>
          <a:bodyPr wrap="square" lIns="0" tIns="0" rIns="0" bIns="0" rtlCol="0" anchor="ctr"/>
          <a:lstStyle/>
          <a:p>
            <a:pPr indent="0" marL="0">
              <a:buNone/>
            </a:pPr>
            <a:r>
              <a:rPr lang="en-US" sz="1050" b="1" spc="200" kern="0" dirty="0">
                <a:solidFill>
                  <a:srgbClr val="38D6FF"/>
                </a:solidFill>
                <a:latin typeface="Calibri" pitchFamily="34" charset="0"/>
                <a:ea typeface="Calibri" pitchFamily="34" charset="-122"/>
                <a:cs typeface="Calibri" pitchFamily="34" charset="-120"/>
              </a:rPr>
              <a:t>HOW IT WORKS</a:t>
            </a:r>
            <a:endParaRPr lang="en-US" sz="1050" dirty="0"/>
          </a:p>
        </p:txBody>
      </p:sp>
      <p:sp>
        <p:nvSpPr>
          <p:cNvPr id="8" name="Text 5"/>
          <p:cNvSpPr txBox="1"/>
          <p:nvPr/>
        </p:nvSpPr>
        <p:spPr>
          <a:xfrm>
            <a:off x="7818120" y="1901952"/>
            <a:ext cx="3840480" cy="214884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A9BAD3"/>
                </a:solidFill>
                <a:latin typeface="Calibri" pitchFamily="34" charset="0"/>
                <a:ea typeface="Calibri" pitchFamily="34" charset="-122"/>
                <a:cs typeface="Calibri" pitchFamily="34" charset="-120"/>
              </a:rPr>
              <a:t>Every market's top 8 sub-categories, each as a product concept (features + price)</a:t>
            </a:r>
            <a:endParaRPr lang="en-US" sz="1250" dirty="0"/>
          </a:p>
          <a:p>
            <a:pPr marL="177800" indent="-177800">
              <a:spcAft>
                <a:spcPts val="500"/>
              </a:spcAft>
              <a:buSzPct val="100000"/>
              <a:buChar char="•"/>
            </a:pPr>
            <a:r>
              <a:rPr lang="en-US" sz="1250" dirty="0">
                <a:solidFill>
                  <a:srgbClr val="A9BAD3"/>
                </a:solidFill>
                <a:latin typeface="Calibri" pitchFamily="34" charset="0"/>
                <a:ea typeface="Calibri" pitchFamily="34" charset="-122"/>
                <a:cs typeface="Calibri" pitchFamily="34" charset="-120"/>
              </a:rPr>
              <a:t>Next to it: simulated launch, P(revenue ≥ $5k), growth, leading brand, entrant success, risks</a:t>
            </a:r>
            <a:endParaRPr lang="en-US" sz="1250" dirty="0"/>
          </a:p>
          <a:p>
            <a:pPr marL="177800" indent="-177800">
              <a:spcAft>
                <a:spcPts val="500"/>
              </a:spcAft>
              <a:buSzPct val="100000"/>
              <a:buChar char="•"/>
            </a:pPr>
            <a:r>
              <a:rPr lang="en-US" sz="1250" dirty="0">
                <a:solidFill>
                  <a:srgbClr val="A9BAD3"/>
                </a:solidFill>
                <a:latin typeface="Calibri" pitchFamily="34" charset="0"/>
                <a:ea typeface="Calibri" pitchFamily="34" charset="-122"/>
                <a:cs typeface="Calibri" pitchFamily="34" charset="-120"/>
              </a:rPr>
              <a:t>Sort by any column; expand a row for “why this concept” and one-click simulation</a:t>
            </a:r>
            <a:endParaRPr lang="en-US" sz="1250" dirty="0"/>
          </a:p>
        </p:txBody>
      </p:sp>
      <p:sp>
        <p:nvSpPr>
          <p:cNvPr id="9" name="Text 6"/>
          <p:cNvSpPr txBox="1"/>
          <p:nvPr/>
        </p:nvSpPr>
        <p:spPr>
          <a:xfrm>
            <a:off x="7818120" y="4114800"/>
            <a:ext cx="3840480" cy="256032"/>
          </a:xfrm>
          <a:prstGeom prst="rect">
            <a:avLst/>
          </a:prstGeom>
          <a:noFill/>
          <a:ln/>
        </p:spPr>
        <p:txBody>
          <a:bodyPr wrap="square" lIns="0" tIns="0" rIns="0" bIns="0" rtlCol="0" anchor="ctr"/>
          <a:lstStyle/>
          <a:p>
            <a:pPr indent="0" marL="0">
              <a:buNone/>
            </a:pPr>
            <a:r>
              <a:rPr lang="en-US" sz="1050" b="1" spc="200" kern="0" dirty="0">
                <a:solidFill>
                  <a:srgbClr val="F5B942"/>
                </a:solidFill>
                <a:latin typeface="Calibri" pitchFamily="34" charset="0"/>
                <a:ea typeface="Calibri" pitchFamily="34" charset="-122"/>
                <a:cs typeface="Calibri" pitchFamily="34" charset="-120"/>
              </a:rPr>
              <a:t>IN DEPTH</a:t>
            </a:r>
            <a:endParaRPr lang="en-US" sz="1050" dirty="0"/>
          </a:p>
        </p:txBody>
      </p:sp>
      <p:sp>
        <p:nvSpPr>
          <p:cNvPr id="10" name="Text 7"/>
          <p:cNvSpPr txBox="1"/>
          <p:nvPr/>
        </p:nvSpPr>
        <p:spPr>
          <a:xfrm>
            <a:off x="7818120" y="4416552"/>
            <a:ext cx="3840480" cy="1920240"/>
          </a:xfrm>
          <a:prstGeom prst="rect">
            <a:avLst/>
          </a:prstGeom>
          <a:noFill/>
          <a:ln/>
        </p:spPr>
        <p:txBody>
          <a:bodyPr wrap="square" lIns="0" tIns="0" rIns="0" bIns="0" rtlCol="0" anchor="t"/>
          <a:lstStyle/>
          <a:p>
            <a:pPr marL="177800" indent="-177800">
              <a:buSzPct val="100000"/>
              <a:buChar char="•"/>
            </a:pPr>
            <a:r>
              <a:rPr lang="en-US" sz="1150" b="1" dirty="0">
                <a:solidFill>
                  <a:srgbClr val="E6EEFB"/>
                </a:solidFill>
                <a:latin typeface="Calibri" pitchFamily="34" charset="0"/>
                <a:ea typeface="Calibri" pitchFamily="34" charset="-122"/>
                <a:cs typeface="Calibri" pitchFamily="34" charset="-120"/>
              </a:rPr>
              <a:t>Concept: </a:t>
            </a:r>
            <a:pPr indent="0" marL="0">
              <a:spcAft>
                <a:spcPts val="500"/>
              </a:spcAft>
              <a:buNone/>
            </a:pPr>
            <a:r>
              <a:rPr lang="en-US" sz="1150" dirty="0">
                <a:solidFill>
                  <a:srgbClr val="A9BAD3"/>
                </a:solidFill>
                <a:latin typeface="Calibri" pitchFamily="34" charset="0"/>
                <a:ea typeface="Calibri" pitchFamily="34" charset="-122"/>
                <a:cs typeface="Calibri" pitchFamily="34" charset="-120"/>
              </a:rPr>
              <a:t>gap recommendation at the geometric middle of its price range; small segments → typical product at median price (stated)</a:t>
            </a:r>
            <a:endParaRPr lang="en-US" sz="1150" dirty="0"/>
          </a:p>
          <a:p>
            <a:pPr marL="177800" indent="-177800">
              <a:buSzPct val="100000"/>
              <a:buChar char="•"/>
            </a:pPr>
            <a:r>
              <a:rPr lang="en-US" sz="1150" b="1" dirty="0">
                <a:solidFill>
                  <a:srgbClr val="E6EEFB"/>
                </a:solidFill>
                <a:latin typeface="Calibri" pitchFamily="34" charset="0"/>
                <a:ea typeface="Calibri" pitchFamily="34" charset="-122"/>
                <a:cs typeface="Calibri" pitchFamily="34" charset="-120"/>
              </a:rPr>
              <a:t>No re-scoring: </a:t>
            </a:r>
            <a:pPr indent="0" marL="0">
              <a:spcAft>
                <a:spcPts val="500"/>
              </a:spcAft>
              <a:buNone/>
            </a:pPr>
            <a:r>
              <a:rPr lang="en-US" sz="1150" dirty="0">
                <a:solidFill>
                  <a:srgbClr val="A9BAD3"/>
                </a:solidFill>
                <a:latin typeface="Calibri" pitchFamily="34" charset="0"/>
                <a:ea typeface="Calibri" pitchFamily="34" charset="-122"/>
                <a:cs typeface="Calibri" pitchFamily="34" charset="-120"/>
              </a:rPr>
              <a:t>same numbers as the other pages</a:t>
            </a:r>
            <a:endParaRPr lang="en-US" sz="1150" dirty="0"/>
          </a:p>
          <a:p>
            <a:pPr marL="177800" indent="-177800">
              <a:buSzPct val="100000"/>
              <a:buChar char="•"/>
            </a:pPr>
            <a:r>
              <a:rPr lang="en-US" sz="1150" b="1" dirty="0">
                <a:solidFill>
                  <a:srgbClr val="E6EEFB"/>
                </a:solidFill>
                <a:latin typeface="Calibri" pitchFamily="34" charset="0"/>
                <a:ea typeface="Calibri" pitchFamily="34" charset="-122"/>
                <a:cs typeface="Calibri" pitchFamily="34" charset="-120"/>
              </a:rPr>
              <a:t>Cache: </a:t>
            </a:r>
            <a:pPr indent="0" marL="0">
              <a:spcAft>
                <a:spcPts val="500"/>
              </a:spcAft>
              <a:buNone/>
            </a:pPr>
            <a:r>
              <a:rPr lang="en-US" sz="1150" dirty="0">
                <a:solidFill>
                  <a:srgbClr val="A9BAD3"/>
                </a:solidFill>
                <a:latin typeface="Calibri" pitchFamily="34" charset="0"/>
                <a:ea typeface="Calibri" pitchFamily="34" charset="-122"/>
                <a:cs typeface="Calibri" pitchFamily="34" charset="-120"/>
              </a:rPr>
              <a:t>per market run; about 3 s cold, instant after</a:t>
            </a:r>
            <a:endParaRPr lang="en-US" sz="1150" dirty="0"/>
          </a:p>
        </p:txBody>
      </p:sp>
      <p:sp>
        <p:nvSpPr>
          <p:cNvPr id="11" name="Text 8"/>
          <p:cNvSpPr txBox="1"/>
          <p:nvPr/>
        </p:nvSpPr>
        <p:spPr>
          <a:xfrm>
            <a:off x="10332720" y="6446520"/>
            <a:ext cx="1371600" cy="228600"/>
          </a:xfrm>
          <a:prstGeom prst="rect">
            <a:avLst/>
          </a:prstGeom>
          <a:noFill/>
          <a:ln/>
        </p:spPr>
        <p:txBody>
          <a:bodyPr wrap="square" lIns="0" tIns="0" rIns="0" bIns="0" rtlCol="0" anchor="ctr"/>
          <a:lstStyle/>
          <a:p>
            <a:pPr algn="r" indent="0" marL="0">
              <a:buNone/>
            </a:pPr>
            <a:r>
              <a:rPr lang="en-US" sz="900" dirty="0">
                <a:solidFill>
                  <a:srgbClr val="6F84A6"/>
                </a:solidFill>
                <a:latin typeface="Calibri" pitchFamily="34" charset="0"/>
                <a:ea typeface="Calibri" pitchFamily="34" charset="-122"/>
                <a:cs typeface="Calibri" pitchFamily="34" charset="-120"/>
              </a:rPr>
              <a:t>DMIS · 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274320"/>
          </a:xfrm>
          <a:prstGeom prst="rect">
            <a:avLst/>
          </a:prstGeom>
          <a:noFill/>
          <a:ln/>
        </p:spPr>
        <p:txBody>
          <a:bodyPr wrap="square" lIns="0" tIns="0" rIns="0" bIns="0" rtlCol="0" anchor="ctr"/>
          <a:lstStyle/>
          <a:p>
            <a:pPr indent="0" marL="0">
              <a:buNone/>
            </a:pPr>
            <a:r>
              <a:rPr lang="en-US" sz="1100" b="1" spc="300" kern="0" dirty="0">
                <a:solidFill>
                  <a:srgbClr val="38D6FF"/>
                </a:solidFill>
                <a:latin typeface="Calibri" pitchFamily="34" charset="0"/>
                <a:ea typeface="Calibri" pitchFamily="34" charset="-122"/>
                <a:cs typeface="Calibri" pitchFamily="34" charset="-120"/>
              </a:rPr>
              <a:t>MODULE · DECISIONS</a:t>
            </a:r>
            <a:endParaRPr lang="en-US" sz="1100" dirty="0"/>
          </a:p>
        </p:txBody>
      </p:sp>
      <p:sp>
        <p:nvSpPr>
          <p:cNvPr id="3" name="Text 1"/>
          <p:cNvSpPr txBox="1"/>
          <p:nvPr/>
        </p:nvSpPr>
        <p:spPr>
          <a:xfrm>
            <a:off x="548640" y="685800"/>
            <a:ext cx="11064240" cy="685800"/>
          </a:xfrm>
          <a:prstGeom prst="rect">
            <a:avLst/>
          </a:prstGeom>
          <a:noFill/>
          <a:ln/>
        </p:spPr>
        <p:txBody>
          <a:bodyPr wrap="square" lIns="0" tIns="0" rIns="0" bIns="0" rtlCol="0" anchor="ctr"/>
          <a:lstStyle/>
          <a:p>
            <a:pPr indent="0" marL="0">
              <a:buNone/>
            </a:pPr>
            <a:r>
              <a:rPr lang="en-US" sz="3200" b="1" dirty="0">
                <a:solidFill>
                  <a:srgbClr val="E6EEFB"/>
                </a:solidFill>
                <a:latin typeface="Cambria" pitchFamily="34" charset="0"/>
                <a:ea typeface="Cambria" pitchFamily="34" charset="-122"/>
                <a:cs typeface="Cambria" pitchFamily="34" charset="-120"/>
              </a:rPr>
              <a:t>Launch Simulator — what if we launch X at $Y?</a:t>
            </a:r>
            <a:endParaRPr lang="en-US" sz="3200" dirty="0"/>
          </a:p>
        </p:txBody>
      </p:sp>
      <p:sp>
        <p:nvSpPr>
          <p:cNvPr id="4" name="Shape 2"/>
          <p:cNvSpPr/>
          <p:nvPr/>
        </p:nvSpPr>
        <p:spPr>
          <a:xfrm>
            <a:off x="493776" y="1545336"/>
            <a:ext cx="7013448" cy="4624914"/>
          </a:xfrm>
          <a:prstGeom prst="roundRect">
            <a:avLst>
              <a:gd name="adj" fmla="val 1582"/>
            </a:avLst>
          </a:prstGeom>
          <a:solidFill>
            <a:srgbClr val="1F3150"/>
          </a:solidFill>
          <a:ln w="12700">
            <a:solidFill>
              <a:srgbClr val="1F3150"/>
            </a:solidFill>
            <a:prstDash val="solid"/>
          </a:ln>
          <a:effectLst>
            <a:outerShdw sx="100000" sy="100000" kx="0" ky="0" algn="bl" rotWithShape="0" blurRad="101600" dist="38100" dir="5400000">
              <a:srgbClr val="000000">
                <a:alpha val="25000"/>
              </a:srgbClr>
            </a:outerShdw>
          </a:effectLst>
        </p:spPr>
      </p:sp>
      <p:pic>
        <p:nvPicPr>
          <p:cNvPr id="5" name="Image 0" descr="launch.jpg">    </p:cNvPr>
          <p:cNvPicPr>
            <a:picLocks noChangeAspect="1"/>
          </p:cNvPicPr>
          <p:nvPr/>
        </p:nvPicPr>
        <p:blipFill>
          <a:blip r:embed="rId1"/>
          <a:stretch>
            <a:fillRect/>
          </a:stretch>
        </p:blipFill>
        <p:spPr>
          <a:xfrm>
            <a:off x="548640" y="1600200"/>
            <a:ext cx="6903720" cy="4515186"/>
          </a:xfrm>
          <a:prstGeom prst="rect">
            <a:avLst/>
          </a:prstGeom>
        </p:spPr>
      </p:pic>
      <p:sp>
        <p:nvSpPr>
          <p:cNvPr id="6" name="Text 3"/>
          <p:cNvSpPr txBox="1"/>
          <p:nvPr/>
        </p:nvSpPr>
        <p:spPr>
          <a:xfrm>
            <a:off x="548640" y="6225114"/>
            <a:ext cx="6903720" cy="228600"/>
          </a:xfrm>
          <a:prstGeom prst="rect">
            <a:avLst/>
          </a:prstGeom>
          <a:noFill/>
          <a:ln/>
        </p:spPr>
        <p:txBody>
          <a:bodyPr wrap="square" lIns="0" tIns="0" rIns="0" bIns="0" rtlCol="0" anchor="ctr"/>
          <a:lstStyle/>
          <a:p>
            <a:pPr indent="0" marL="0">
              <a:buNone/>
            </a:pPr>
            <a:r>
              <a:rPr lang="en-US" sz="1000" dirty="0">
                <a:solidFill>
                  <a:srgbClr val="6F84A6"/>
                </a:solidFill>
                <a:latin typeface="Courier New" pitchFamily="34" charset="0"/>
                <a:ea typeface="Courier New" pitchFamily="34" charset="-122"/>
                <a:cs typeface="Courier New" pitchFamily="34" charset="-120"/>
              </a:rPr>
              <a:t>/launch</a:t>
            </a:r>
            <a:endParaRPr lang="en-US" sz="1000" dirty="0"/>
          </a:p>
        </p:txBody>
      </p:sp>
      <p:sp>
        <p:nvSpPr>
          <p:cNvPr id="7" name="Text 4"/>
          <p:cNvSpPr txBox="1"/>
          <p:nvPr/>
        </p:nvSpPr>
        <p:spPr>
          <a:xfrm>
            <a:off x="7818120" y="1600200"/>
            <a:ext cx="3840480" cy="256032"/>
          </a:xfrm>
          <a:prstGeom prst="rect">
            <a:avLst/>
          </a:prstGeom>
          <a:noFill/>
          <a:ln/>
        </p:spPr>
        <p:txBody>
          <a:bodyPr wrap="square" lIns="0" tIns="0" rIns="0" bIns="0" rtlCol="0" anchor="ctr"/>
          <a:lstStyle/>
          <a:p>
            <a:pPr indent="0" marL="0">
              <a:buNone/>
            </a:pPr>
            <a:r>
              <a:rPr lang="en-US" sz="1050" b="1" spc="200" kern="0" dirty="0">
                <a:solidFill>
                  <a:srgbClr val="38D6FF"/>
                </a:solidFill>
                <a:latin typeface="Calibri" pitchFamily="34" charset="0"/>
                <a:ea typeface="Calibri" pitchFamily="34" charset="-122"/>
                <a:cs typeface="Calibri" pitchFamily="34" charset="-120"/>
              </a:rPr>
              <a:t>HOW IT WORKS</a:t>
            </a:r>
            <a:endParaRPr lang="en-US" sz="1050" dirty="0"/>
          </a:p>
        </p:txBody>
      </p:sp>
      <p:sp>
        <p:nvSpPr>
          <p:cNvPr id="8" name="Text 5"/>
          <p:cNvSpPr txBox="1"/>
          <p:nvPr/>
        </p:nvSpPr>
        <p:spPr>
          <a:xfrm>
            <a:off x="7818120" y="1901952"/>
            <a:ext cx="3840480" cy="214884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A9BAD3"/>
                </a:solidFill>
                <a:latin typeface="Calibri" pitchFamily="34" charset="0"/>
                <a:ea typeface="Calibri" pitchFamily="34" charset="-122"/>
                <a:cs typeface="Calibri" pitchFamily="34" charset="-120"/>
              </a:rPr>
              <a:t>Describe the idea, price and your unit cost</a:t>
            </a:r>
            <a:endParaRPr lang="en-US" sz="1250" dirty="0"/>
          </a:p>
          <a:p>
            <a:pPr marL="177800" indent="-177800">
              <a:spcAft>
                <a:spcPts val="500"/>
              </a:spcAft>
              <a:buSzPct val="100000"/>
              <a:buChar char="•"/>
            </a:pPr>
            <a:r>
              <a:rPr lang="en-US" sz="1250" dirty="0">
                <a:solidFill>
                  <a:srgbClr val="A9BAD3"/>
                </a:solidFill>
                <a:latin typeface="Calibri" pitchFamily="34" charset="0"/>
                <a:ea typeface="Calibri" pitchFamily="34" charset="-122"/>
                <a:cs typeface="Calibri" pitchFamily="34" charset="-120"/>
              </a:rPr>
              <a:t>Get units, revenue and profit as distributions (median, p10–p90), P(profit &gt; 0), break-even, payback</a:t>
            </a:r>
            <a:endParaRPr lang="en-US" sz="1250" dirty="0"/>
          </a:p>
          <a:p>
            <a:pPr marL="177800" indent="-177800">
              <a:spcAft>
                <a:spcPts val="500"/>
              </a:spcAft>
              <a:buSzPct val="100000"/>
              <a:buChar char="•"/>
            </a:pPr>
            <a:r>
              <a:rPr lang="en-US" sz="1250" dirty="0">
                <a:solidFill>
                  <a:srgbClr val="A9BAD3"/>
                </a:solidFill>
                <a:latin typeface="Calibri" pitchFamily="34" charset="0"/>
                <a:ea typeface="Calibri" pitchFamily="34" charset="-122"/>
                <a:cs typeface="Calibri" pitchFamily="34" charset="-120"/>
              </a:rPr>
              <a:t>Expected profit at every price in the segment's range; gaps covered; risks; what real entrants sell</a:t>
            </a:r>
            <a:endParaRPr lang="en-US" sz="1250" dirty="0"/>
          </a:p>
        </p:txBody>
      </p:sp>
      <p:sp>
        <p:nvSpPr>
          <p:cNvPr id="9" name="Text 6"/>
          <p:cNvSpPr txBox="1"/>
          <p:nvPr/>
        </p:nvSpPr>
        <p:spPr>
          <a:xfrm>
            <a:off x="7818120" y="4114800"/>
            <a:ext cx="3840480" cy="256032"/>
          </a:xfrm>
          <a:prstGeom prst="rect">
            <a:avLst/>
          </a:prstGeom>
          <a:noFill/>
          <a:ln/>
        </p:spPr>
        <p:txBody>
          <a:bodyPr wrap="square" lIns="0" tIns="0" rIns="0" bIns="0" rtlCol="0" anchor="ctr"/>
          <a:lstStyle/>
          <a:p>
            <a:pPr indent="0" marL="0">
              <a:buNone/>
            </a:pPr>
            <a:r>
              <a:rPr lang="en-US" sz="1050" b="1" spc="200" kern="0" dirty="0">
                <a:solidFill>
                  <a:srgbClr val="F5B942"/>
                </a:solidFill>
                <a:latin typeface="Calibri" pitchFamily="34" charset="0"/>
                <a:ea typeface="Calibri" pitchFamily="34" charset="-122"/>
                <a:cs typeface="Calibri" pitchFamily="34" charset="-120"/>
              </a:rPr>
              <a:t>IN DEPTH</a:t>
            </a:r>
            <a:endParaRPr lang="en-US" sz="1050" dirty="0"/>
          </a:p>
        </p:txBody>
      </p:sp>
      <p:sp>
        <p:nvSpPr>
          <p:cNvPr id="10" name="Text 7"/>
          <p:cNvSpPr txBox="1"/>
          <p:nvPr/>
        </p:nvSpPr>
        <p:spPr>
          <a:xfrm>
            <a:off x="7818120" y="4416552"/>
            <a:ext cx="3840480" cy="1920240"/>
          </a:xfrm>
          <a:prstGeom prst="rect">
            <a:avLst/>
          </a:prstGeom>
          <a:noFill/>
          <a:ln/>
        </p:spPr>
        <p:txBody>
          <a:bodyPr wrap="square" lIns="0" tIns="0" rIns="0" bIns="0" rtlCol="0" anchor="t"/>
          <a:lstStyle/>
          <a:p>
            <a:pPr marL="177800" indent="-177800">
              <a:buSzPct val="100000"/>
              <a:buChar char="•"/>
            </a:pPr>
            <a:r>
              <a:rPr lang="en-US" sz="1150" b="1" dirty="0">
                <a:solidFill>
                  <a:srgbClr val="E6EEFB"/>
                </a:solidFill>
                <a:latin typeface="Calibri" pitchFamily="34" charset="0"/>
                <a:ea typeface="Calibri" pitchFamily="34" charset="-122"/>
                <a:cs typeface="Calibri" pitchFamily="34" charset="-120"/>
              </a:rPr>
              <a:t>Model card: </a:t>
            </a:r>
            <a:pPr indent="0" marL="0">
              <a:spcAft>
                <a:spcPts val="500"/>
              </a:spcAft>
              <a:buNone/>
            </a:pPr>
            <a:r>
              <a:rPr lang="en-US" sz="1150" dirty="0">
                <a:solidFill>
                  <a:srgbClr val="A9BAD3"/>
                </a:solidFill>
                <a:latin typeface="Calibri" pitchFamily="34" charset="0"/>
                <a:ea typeface="Calibri" pitchFamily="34" charset="-122"/>
                <a:cs typeface="Calibri" pitchFamily="34" charset="-120"/>
              </a:rPr>
              <a:t>stored fitted model; idea placed in nearest segment by text similarity + shrunk segment offset</a:t>
            </a:r>
            <a:endParaRPr lang="en-US" sz="1150" dirty="0"/>
          </a:p>
          <a:p>
            <a:pPr marL="177800" indent="-177800">
              <a:buSzPct val="100000"/>
              <a:buChar char="•"/>
            </a:pPr>
            <a:r>
              <a:rPr lang="en-US" sz="1150" b="1" dirty="0">
                <a:solidFill>
                  <a:srgbClr val="E6EEFB"/>
                </a:solidFill>
                <a:latin typeface="Calibri" pitchFamily="34" charset="0"/>
                <a:ea typeface="Calibri" pitchFamily="34" charset="-122"/>
                <a:cs typeface="Calibri" pitchFamily="34" charset="-120"/>
              </a:rPr>
              <a:t>Posterior predictive: </a:t>
            </a:r>
            <a:pPr indent="0" marL="0">
              <a:spcAft>
                <a:spcPts val="500"/>
              </a:spcAft>
              <a:buNone/>
            </a:pPr>
            <a:r>
              <a:rPr lang="en-US" sz="1150" dirty="0">
                <a:solidFill>
                  <a:srgbClr val="A9BAD3"/>
                </a:solidFill>
                <a:latin typeface="Calibri" pitchFamily="34" charset="0"/>
                <a:ea typeface="Calibri" pitchFamily="34" charset="-122"/>
                <a:cs typeface="Calibri" pitchFamily="34" charset="-120"/>
              </a:rPr>
              <a:t>400 draws incl. parameter uncertainty, truncated at the top rung</a:t>
            </a:r>
            <a:endParaRPr lang="en-US" sz="1150" dirty="0"/>
          </a:p>
          <a:p>
            <a:pPr marL="177800" indent="-177800">
              <a:buSzPct val="100000"/>
              <a:buChar char="•"/>
            </a:pPr>
            <a:r>
              <a:rPr lang="en-US" sz="1150" b="1" dirty="0">
                <a:solidFill>
                  <a:srgbClr val="E6EEFB"/>
                </a:solidFill>
                <a:latin typeface="Calibri" pitchFamily="34" charset="0"/>
                <a:ea typeface="Calibri" pitchFamily="34" charset="-122"/>
                <a:cs typeface="Calibri" pitchFamily="34" charset="-120"/>
              </a:rPr>
              <a:t>Fair comparisons: </a:t>
            </a:r>
            <a:pPr indent="0" marL="0">
              <a:spcAft>
                <a:spcPts val="500"/>
              </a:spcAft>
              <a:buNone/>
            </a:pPr>
            <a:r>
              <a:rPr lang="en-US" sz="1150" dirty="0">
                <a:solidFill>
                  <a:srgbClr val="A9BAD3"/>
                </a:solidFill>
                <a:latin typeface="Calibri" pitchFamily="34" charset="0"/>
                <a:ea typeface="Calibri" pitchFamily="34" charset="-122"/>
                <a:cs typeface="Calibri" pitchFamily="34" charset="-120"/>
              </a:rPr>
              <a:t>common random numbers across scenarios; price effect is associational, not causal</a:t>
            </a:r>
            <a:endParaRPr lang="en-US" sz="1150" dirty="0"/>
          </a:p>
        </p:txBody>
      </p:sp>
      <p:sp>
        <p:nvSpPr>
          <p:cNvPr id="11" name="Text 8"/>
          <p:cNvSpPr txBox="1"/>
          <p:nvPr/>
        </p:nvSpPr>
        <p:spPr>
          <a:xfrm>
            <a:off x="10332720" y="6446520"/>
            <a:ext cx="1371600" cy="228600"/>
          </a:xfrm>
          <a:prstGeom prst="rect">
            <a:avLst/>
          </a:prstGeom>
          <a:noFill/>
          <a:ln/>
        </p:spPr>
        <p:txBody>
          <a:bodyPr wrap="square" lIns="0" tIns="0" rIns="0" bIns="0" rtlCol="0" anchor="ctr"/>
          <a:lstStyle/>
          <a:p>
            <a:pPr algn="r" indent="0" marL="0">
              <a:buNone/>
            </a:pPr>
            <a:r>
              <a:rPr lang="en-US" sz="900" dirty="0">
                <a:solidFill>
                  <a:srgbClr val="6F84A6"/>
                </a:solidFill>
                <a:latin typeface="Calibri" pitchFamily="34" charset="0"/>
                <a:ea typeface="Calibri" pitchFamily="34" charset="-122"/>
                <a:cs typeface="Calibri" pitchFamily="34" charset="-120"/>
              </a:rPr>
              <a:t>DMIS · 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274320"/>
          </a:xfrm>
          <a:prstGeom prst="rect">
            <a:avLst/>
          </a:prstGeom>
          <a:noFill/>
          <a:ln/>
        </p:spPr>
        <p:txBody>
          <a:bodyPr wrap="square" lIns="0" tIns="0" rIns="0" bIns="0" rtlCol="0" anchor="ctr"/>
          <a:lstStyle/>
          <a:p>
            <a:pPr indent="0" marL="0">
              <a:buNone/>
            </a:pPr>
            <a:r>
              <a:rPr lang="en-US" sz="1100" b="1" spc="300" kern="0" dirty="0">
                <a:solidFill>
                  <a:srgbClr val="38D6FF"/>
                </a:solidFill>
                <a:latin typeface="Calibri" pitchFamily="34" charset="0"/>
                <a:ea typeface="Calibri" pitchFamily="34" charset="-122"/>
                <a:cs typeface="Calibri" pitchFamily="34" charset="-120"/>
              </a:rPr>
              <a:t>MODULE · DECISIONS</a:t>
            </a:r>
            <a:endParaRPr lang="en-US" sz="1100" dirty="0"/>
          </a:p>
        </p:txBody>
      </p:sp>
      <p:sp>
        <p:nvSpPr>
          <p:cNvPr id="3" name="Text 1"/>
          <p:cNvSpPr txBox="1"/>
          <p:nvPr/>
        </p:nvSpPr>
        <p:spPr>
          <a:xfrm>
            <a:off x="548640" y="685800"/>
            <a:ext cx="11064240" cy="685800"/>
          </a:xfrm>
          <a:prstGeom prst="rect">
            <a:avLst/>
          </a:prstGeom>
          <a:noFill/>
          <a:ln/>
        </p:spPr>
        <p:txBody>
          <a:bodyPr wrap="square" lIns="0" tIns="0" rIns="0" bIns="0" rtlCol="0" anchor="ctr"/>
          <a:lstStyle/>
          <a:p>
            <a:pPr indent="0" marL="0">
              <a:buNone/>
            </a:pPr>
            <a:r>
              <a:rPr lang="en-US" sz="3200" b="1" dirty="0">
                <a:solidFill>
                  <a:srgbClr val="E6EEFB"/>
                </a:solidFill>
                <a:latin typeface="Cambria" pitchFamily="34" charset="0"/>
                <a:ea typeface="Cambria" pitchFamily="34" charset="-122"/>
                <a:cs typeface="Cambria" pitchFamily="34" charset="-120"/>
              </a:rPr>
              <a:t>Competitors &amp; Trends — who leads</a:t>
            </a:r>
            <a:endParaRPr lang="en-US" sz="3200" dirty="0"/>
          </a:p>
        </p:txBody>
      </p:sp>
      <p:sp>
        <p:nvSpPr>
          <p:cNvPr id="4" name="Shape 2"/>
          <p:cNvSpPr/>
          <p:nvPr/>
        </p:nvSpPr>
        <p:spPr>
          <a:xfrm>
            <a:off x="493776" y="1545336"/>
            <a:ext cx="7013448" cy="4624914"/>
          </a:xfrm>
          <a:prstGeom prst="roundRect">
            <a:avLst>
              <a:gd name="adj" fmla="val 1582"/>
            </a:avLst>
          </a:prstGeom>
          <a:solidFill>
            <a:srgbClr val="1F3150"/>
          </a:solidFill>
          <a:ln w="12700">
            <a:solidFill>
              <a:srgbClr val="1F3150"/>
            </a:solidFill>
            <a:prstDash val="solid"/>
          </a:ln>
          <a:effectLst>
            <a:outerShdw sx="100000" sy="100000" kx="0" ky="0" algn="bl" rotWithShape="0" blurRad="101600" dist="38100" dir="5400000">
              <a:srgbClr val="000000">
                <a:alpha val="25000"/>
              </a:srgbClr>
            </a:outerShdw>
          </a:effectLst>
        </p:spPr>
      </p:sp>
      <p:pic>
        <p:nvPicPr>
          <p:cNvPr id="5" name="Image 0" descr="competitors.jpg">    </p:cNvPr>
          <p:cNvPicPr>
            <a:picLocks noChangeAspect="1"/>
          </p:cNvPicPr>
          <p:nvPr/>
        </p:nvPicPr>
        <p:blipFill>
          <a:blip r:embed="rId1"/>
          <a:stretch>
            <a:fillRect/>
          </a:stretch>
        </p:blipFill>
        <p:spPr>
          <a:xfrm>
            <a:off x="548640" y="1600200"/>
            <a:ext cx="6903720" cy="4515186"/>
          </a:xfrm>
          <a:prstGeom prst="rect">
            <a:avLst/>
          </a:prstGeom>
        </p:spPr>
      </p:pic>
      <p:sp>
        <p:nvSpPr>
          <p:cNvPr id="6" name="Text 3"/>
          <p:cNvSpPr txBox="1"/>
          <p:nvPr/>
        </p:nvSpPr>
        <p:spPr>
          <a:xfrm>
            <a:off x="548640" y="6225114"/>
            <a:ext cx="6903720" cy="228600"/>
          </a:xfrm>
          <a:prstGeom prst="rect">
            <a:avLst/>
          </a:prstGeom>
          <a:noFill/>
          <a:ln/>
        </p:spPr>
        <p:txBody>
          <a:bodyPr wrap="square" lIns="0" tIns="0" rIns="0" bIns="0" rtlCol="0" anchor="ctr"/>
          <a:lstStyle/>
          <a:p>
            <a:pPr indent="0" marL="0">
              <a:buNone/>
            </a:pPr>
            <a:r>
              <a:rPr lang="en-US" sz="1000" dirty="0">
                <a:solidFill>
                  <a:srgbClr val="6F84A6"/>
                </a:solidFill>
                <a:latin typeface="Courier New" pitchFamily="34" charset="0"/>
                <a:ea typeface="Courier New" pitchFamily="34" charset="-122"/>
                <a:cs typeface="Courier New" pitchFamily="34" charset="-120"/>
              </a:rPr>
              <a:t>/competitors</a:t>
            </a:r>
            <a:endParaRPr lang="en-US" sz="1000" dirty="0"/>
          </a:p>
        </p:txBody>
      </p:sp>
      <p:sp>
        <p:nvSpPr>
          <p:cNvPr id="7" name="Text 4"/>
          <p:cNvSpPr txBox="1"/>
          <p:nvPr/>
        </p:nvSpPr>
        <p:spPr>
          <a:xfrm>
            <a:off x="7818120" y="1600200"/>
            <a:ext cx="3840480" cy="256032"/>
          </a:xfrm>
          <a:prstGeom prst="rect">
            <a:avLst/>
          </a:prstGeom>
          <a:noFill/>
          <a:ln/>
        </p:spPr>
        <p:txBody>
          <a:bodyPr wrap="square" lIns="0" tIns="0" rIns="0" bIns="0" rtlCol="0" anchor="ctr"/>
          <a:lstStyle/>
          <a:p>
            <a:pPr indent="0" marL="0">
              <a:buNone/>
            </a:pPr>
            <a:r>
              <a:rPr lang="en-US" sz="1050" b="1" spc="200" kern="0" dirty="0">
                <a:solidFill>
                  <a:srgbClr val="38D6FF"/>
                </a:solidFill>
                <a:latin typeface="Calibri" pitchFamily="34" charset="0"/>
                <a:ea typeface="Calibri" pitchFamily="34" charset="-122"/>
                <a:cs typeface="Calibri" pitchFamily="34" charset="-120"/>
              </a:rPr>
              <a:t>HOW IT WORKS</a:t>
            </a:r>
            <a:endParaRPr lang="en-US" sz="1050" dirty="0"/>
          </a:p>
        </p:txBody>
      </p:sp>
      <p:sp>
        <p:nvSpPr>
          <p:cNvPr id="8" name="Text 5"/>
          <p:cNvSpPr txBox="1"/>
          <p:nvPr/>
        </p:nvSpPr>
        <p:spPr>
          <a:xfrm>
            <a:off x="7818120" y="1901952"/>
            <a:ext cx="3840480" cy="214884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A9BAD3"/>
                </a:solidFill>
                <a:latin typeface="Calibri" pitchFamily="34" charset="0"/>
                <a:ea typeface="Calibri" pitchFamily="34" charset="-122"/>
                <a:cs typeface="Calibri" pitchFamily="34" charset="-120"/>
              </a:rPr>
              <a:t>HHI with interval, effective competitors, equal-share benchmark, launch momentum</a:t>
            </a:r>
            <a:endParaRPr lang="en-US" sz="1250" dirty="0"/>
          </a:p>
          <a:p>
            <a:pPr marL="177800" indent="-177800">
              <a:spcAft>
                <a:spcPts val="500"/>
              </a:spcAft>
              <a:buSzPct val="100000"/>
              <a:buChar char="•"/>
            </a:pPr>
            <a:r>
              <a:rPr lang="en-US" sz="1250" dirty="0">
                <a:solidFill>
                  <a:srgbClr val="A9BAD3"/>
                </a:solidFill>
                <a:latin typeface="Calibri" pitchFamily="34" charset="0"/>
                <a:ea typeface="Calibri" pitchFamily="34" charset="-122"/>
                <a:cs typeface="Calibri" pitchFamily="34" charset="-120"/>
              </a:rPr>
              <a:t>Brand table: revenue share with interval, rank range, P(#1), price index, Bayesian rating</a:t>
            </a:r>
            <a:endParaRPr lang="en-US" sz="1250" dirty="0"/>
          </a:p>
          <a:p>
            <a:pPr marL="177800" indent="-177800">
              <a:spcAft>
                <a:spcPts val="500"/>
              </a:spcAft>
              <a:buSzPct val="100000"/>
              <a:buChar char="•"/>
            </a:pPr>
            <a:r>
              <a:rPr lang="en-US" sz="1250" dirty="0">
                <a:solidFill>
                  <a:srgbClr val="A9BAD3"/>
                </a:solidFill>
                <a:latin typeface="Calibri" pitchFamily="34" charset="0"/>
                <a:ea typeface="Calibri" pitchFamily="34" charset="-122"/>
                <a:cs typeface="Calibri" pitchFamily="34" charset="-120"/>
              </a:rPr>
              <a:t>Strengths and weaknesses with the opening each creates; cohorts; snapshot changes</a:t>
            </a:r>
            <a:endParaRPr lang="en-US" sz="1250" dirty="0"/>
          </a:p>
        </p:txBody>
      </p:sp>
      <p:sp>
        <p:nvSpPr>
          <p:cNvPr id="9" name="Text 6"/>
          <p:cNvSpPr txBox="1"/>
          <p:nvPr/>
        </p:nvSpPr>
        <p:spPr>
          <a:xfrm>
            <a:off x="7818120" y="4114800"/>
            <a:ext cx="3840480" cy="256032"/>
          </a:xfrm>
          <a:prstGeom prst="rect">
            <a:avLst/>
          </a:prstGeom>
          <a:noFill/>
          <a:ln/>
        </p:spPr>
        <p:txBody>
          <a:bodyPr wrap="square" lIns="0" tIns="0" rIns="0" bIns="0" rtlCol="0" anchor="ctr"/>
          <a:lstStyle/>
          <a:p>
            <a:pPr indent="0" marL="0">
              <a:buNone/>
            </a:pPr>
            <a:r>
              <a:rPr lang="en-US" sz="1050" b="1" spc="200" kern="0" dirty="0">
                <a:solidFill>
                  <a:srgbClr val="F5B942"/>
                </a:solidFill>
                <a:latin typeface="Calibri" pitchFamily="34" charset="0"/>
                <a:ea typeface="Calibri" pitchFamily="34" charset="-122"/>
                <a:cs typeface="Calibri" pitchFamily="34" charset="-120"/>
              </a:rPr>
              <a:t>IN DEPTH</a:t>
            </a:r>
            <a:endParaRPr lang="en-US" sz="1050" dirty="0"/>
          </a:p>
        </p:txBody>
      </p:sp>
      <p:sp>
        <p:nvSpPr>
          <p:cNvPr id="10" name="Text 7"/>
          <p:cNvSpPr txBox="1"/>
          <p:nvPr/>
        </p:nvSpPr>
        <p:spPr>
          <a:xfrm>
            <a:off x="7818120" y="4416552"/>
            <a:ext cx="3840480" cy="1920240"/>
          </a:xfrm>
          <a:prstGeom prst="rect">
            <a:avLst/>
          </a:prstGeom>
          <a:noFill/>
          <a:ln/>
        </p:spPr>
        <p:txBody>
          <a:bodyPr wrap="square" lIns="0" tIns="0" rIns="0" bIns="0" rtlCol="0" anchor="t"/>
          <a:lstStyle/>
          <a:p>
            <a:pPr marL="177800" indent="-177800">
              <a:buSzPct val="100000"/>
              <a:buChar char="•"/>
            </a:pPr>
            <a:r>
              <a:rPr lang="en-US" sz="1150" b="1" dirty="0">
                <a:solidFill>
                  <a:srgbClr val="E6EEFB"/>
                </a:solidFill>
                <a:latin typeface="Calibri" pitchFamily="34" charset="0"/>
                <a:ea typeface="Calibri" pitchFamily="34" charset="-122"/>
                <a:cs typeface="Calibri" pitchFamily="34" charset="-120"/>
              </a:rPr>
              <a:t>HHI: </a:t>
            </a:r>
            <a:pPr indent="0" marL="0">
              <a:spcAft>
                <a:spcPts val="500"/>
              </a:spcAft>
              <a:buNone/>
            </a:pPr>
            <a:r>
              <a:rPr lang="en-US" sz="1150" dirty="0">
                <a:solidFill>
                  <a:srgbClr val="A9BAD3"/>
                </a:solidFill>
                <a:latin typeface="Calibri" pitchFamily="34" charset="0"/>
                <a:ea typeface="Calibri" pitchFamily="34" charset="-122"/>
                <a:cs typeface="Calibri" pitchFamily="34" charset="-120"/>
              </a:rPr>
              <a:t>Σ(share×100)², 0–10,000; &gt; 2,500 = concentrated</a:t>
            </a:r>
            <a:endParaRPr lang="en-US" sz="1150" dirty="0"/>
          </a:p>
          <a:p>
            <a:pPr marL="177800" indent="-177800">
              <a:buSzPct val="100000"/>
              <a:buChar char="•"/>
            </a:pPr>
            <a:r>
              <a:rPr lang="en-US" sz="1150" b="1" dirty="0">
                <a:solidFill>
                  <a:srgbClr val="E6EEFB"/>
                </a:solidFill>
                <a:latin typeface="Calibri" pitchFamily="34" charset="0"/>
                <a:ea typeface="Calibri" pitchFamily="34" charset="-122"/>
                <a:cs typeface="Calibri" pitchFamily="34" charset="-120"/>
              </a:rPr>
              <a:t>Leader: </a:t>
            </a:r>
            <a:pPr indent="0" marL="0">
              <a:spcAft>
                <a:spcPts val="500"/>
              </a:spcAft>
              <a:buNone/>
            </a:pPr>
            <a:r>
              <a:rPr lang="en-US" sz="1150" dirty="0">
                <a:solidFill>
                  <a:srgbClr val="A9BAD3"/>
                </a:solidFill>
                <a:latin typeface="Calibri" pitchFamily="34" charset="0"/>
                <a:ea typeface="Calibri" pitchFamily="34" charset="-122"/>
                <a:cs typeface="Calibri" pitchFamily="34" charset="-120"/>
              </a:rPr>
              <a:t>P(#1) ≥ 50%; above/below par only if the whole interval clears 1 ÷ effective competitors</a:t>
            </a:r>
            <a:endParaRPr lang="en-US" sz="1150" dirty="0"/>
          </a:p>
          <a:p>
            <a:pPr marL="177800" indent="-177800">
              <a:buSzPct val="100000"/>
              <a:buChar char="•"/>
            </a:pPr>
            <a:r>
              <a:rPr lang="en-US" sz="1150" b="1" dirty="0">
                <a:solidFill>
                  <a:srgbClr val="E6EEFB"/>
                </a:solidFill>
                <a:latin typeface="Calibri" pitchFamily="34" charset="0"/>
                <a:ea typeface="Calibri" pitchFamily="34" charset="-122"/>
                <a:cs typeface="Calibri" pitchFamily="34" charset="-120"/>
              </a:rPr>
              <a:t>Bayesian rating: </a:t>
            </a:r>
            <a:pPr indent="0" marL="0">
              <a:spcAft>
                <a:spcPts val="500"/>
              </a:spcAft>
              <a:buNone/>
            </a:pPr>
            <a:r>
              <a:rPr lang="en-US" sz="1150" dirty="0">
                <a:solidFill>
                  <a:srgbClr val="A9BAD3"/>
                </a:solidFill>
                <a:latin typeface="Calibri" pitchFamily="34" charset="0"/>
                <a:ea typeface="Calibri" pitchFamily="34" charset="-122"/>
                <a:cs typeface="Calibri" pitchFamily="34" charset="-120"/>
              </a:rPr>
              <a:t>shrunk toward the market mean by review count</a:t>
            </a:r>
            <a:endParaRPr lang="en-US" sz="1150" dirty="0"/>
          </a:p>
        </p:txBody>
      </p:sp>
      <p:sp>
        <p:nvSpPr>
          <p:cNvPr id="11" name="Text 8"/>
          <p:cNvSpPr txBox="1"/>
          <p:nvPr/>
        </p:nvSpPr>
        <p:spPr>
          <a:xfrm>
            <a:off x="10332720" y="6446520"/>
            <a:ext cx="1371600" cy="228600"/>
          </a:xfrm>
          <a:prstGeom prst="rect">
            <a:avLst/>
          </a:prstGeom>
          <a:noFill/>
          <a:ln/>
        </p:spPr>
        <p:txBody>
          <a:bodyPr wrap="square" lIns="0" tIns="0" rIns="0" bIns="0" rtlCol="0" anchor="ctr"/>
          <a:lstStyle/>
          <a:p>
            <a:pPr algn="r" indent="0" marL="0">
              <a:buNone/>
            </a:pPr>
            <a:r>
              <a:rPr lang="en-US" sz="900" dirty="0">
                <a:solidFill>
                  <a:srgbClr val="6F84A6"/>
                </a:solidFill>
                <a:latin typeface="Calibri" pitchFamily="34" charset="0"/>
                <a:ea typeface="Calibri" pitchFamily="34" charset="-122"/>
                <a:cs typeface="Calibri" pitchFamily="34" charset="-120"/>
              </a:rPr>
              <a:t>DMIS · 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274320"/>
          </a:xfrm>
          <a:prstGeom prst="rect">
            <a:avLst/>
          </a:prstGeom>
          <a:noFill/>
          <a:ln/>
        </p:spPr>
        <p:txBody>
          <a:bodyPr wrap="square" lIns="0" tIns="0" rIns="0" bIns="0" rtlCol="0" anchor="ctr"/>
          <a:lstStyle/>
          <a:p>
            <a:pPr indent="0" marL="0">
              <a:buNone/>
            </a:pPr>
            <a:r>
              <a:rPr lang="en-US" sz="1100" b="1" spc="300" kern="0" dirty="0">
                <a:solidFill>
                  <a:srgbClr val="38D6FF"/>
                </a:solidFill>
                <a:latin typeface="Calibri" pitchFamily="34" charset="0"/>
                <a:ea typeface="Calibri" pitchFamily="34" charset="-122"/>
                <a:cs typeface="Calibri" pitchFamily="34" charset="-120"/>
              </a:rPr>
              <a:t>MODULE · DECISIONS</a:t>
            </a:r>
            <a:endParaRPr lang="en-US" sz="1100" dirty="0"/>
          </a:p>
        </p:txBody>
      </p:sp>
      <p:sp>
        <p:nvSpPr>
          <p:cNvPr id="3" name="Text 1"/>
          <p:cNvSpPr txBox="1"/>
          <p:nvPr/>
        </p:nvSpPr>
        <p:spPr>
          <a:xfrm>
            <a:off x="548640" y="685800"/>
            <a:ext cx="11064240" cy="685800"/>
          </a:xfrm>
          <a:prstGeom prst="rect">
            <a:avLst/>
          </a:prstGeom>
          <a:noFill/>
          <a:ln/>
        </p:spPr>
        <p:txBody>
          <a:bodyPr wrap="square" lIns="0" tIns="0" rIns="0" bIns="0" rtlCol="0" anchor="ctr"/>
          <a:lstStyle/>
          <a:p>
            <a:pPr indent="0" marL="0">
              <a:buNone/>
            </a:pPr>
            <a:r>
              <a:rPr lang="en-US" sz="3200" b="1" dirty="0">
                <a:solidFill>
                  <a:srgbClr val="E6EEFB"/>
                </a:solidFill>
                <a:latin typeface="Cambria" pitchFamily="34" charset="0"/>
                <a:ea typeface="Cambria" pitchFamily="34" charset="-122"/>
                <a:cs typeface="Cambria" pitchFamily="34" charset="-120"/>
              </a:rPr>
              <a:t>Market Analyst — ask in English or 中文</a:t>
            </a:r>
            <a:endParaRPr lang="en-US" sz="3200" dirty="0"/>
          </a:p>
        </p:txBody>
      </p:sp>
      <p:sp>
        <p:nvSpPr>
          <p:cNvPr id="4" name="Shape 2"/>
          <p:cNvSpPr/>
          <p:nvPr/>
        </p:nvSpPr>
        <p:spPr>
          <a:xfrm>
            <a:off x="493776" y="1545336"/>
            <a:ext cx="7013448" cy="4624914"/>
          </a:xfrm>
          <a:prstGeom prst="roundRect">
            <a:avLst>
              <a:gd name="adj" fmla="val 1582"/>
            </a:avLst>
          </a:prstGeom>
          <a:solidFill>
            <a:srgbClr val="1F3150"/>
          </a:solidFill>
          <a:ln w="12700">
            <a:solidFill>
              <a:srgbClr val="1F3150"/>
            </a:solidFill>
            <a:prstDash val="solid"/>
          </a:ln>
          <a:effectLst>
            <a:outerShdw sx="100000" sy="100000" kx="0" ky="0" algn="bl" rotWithShape="0" blurRad="101600" dist="38100" dir="5400000">
              <a:srgbClr val="000000">
                <a:alpha val="25000"/>
              </a:srgbClr>
            </a:outerShdw>
          </a:effectLst>
        </p:spPr>
      </p:sp>
      <p:pic>
        <p:nvPicPr>
          <p:cNvPr id="5" name="Image 0" descr="analyst.jpg">    </p:cNvPr>
          <p:cNvPicPr>
            <a:picLocks noChangeAspect="1"/>
          </p:cNvPicPr>
          <p:nvPr/>
        </p:nvPicPr>
        <p:blipFill>
          <a:blip r:embed="rId1"/>
          <a:stretch>
            <a:fillRect/>
          </a:stretch>
        </p:blipFill>
        <p:spPr>
          <a:xfrm>
            <a:off x="548640" y="1600200"/>
            <a:ext cx="6903720" cy="4515186"/>
          </a:xfrm>
          <a:prstGeom prst="rect">
            <a:avLst/>
          </a:prstGeom>
        </p:spPr>
      </p:pic>
      <p:sp>
        <p:nvSpPr>
          <p:cNvPr id="6" name="Text 3"/>
          <p:cNvSpPr txBox="1"/>
          <p:nvPr/>
        </p:nvSpPr>
        <p:spPr>
          <a:xfrm>
            <a:off x="548640" y="6225114"/>
            <a:ext cx="6903720" cy="228600"/>
          </a:xfrm>
          <a:prstGeom prst="rect">
            <a:avLst/>
          </a:prstGeom>
          <a:noFill/>
          <a:ln/>
        </p:spPr>
        <p:txBody>
          <a:bodyPr wrap="square" lIns="0" tIns="0" rIns="0" bIns="0" rtlCol="0" anchor="ctr"/>
          <a:lstStyle/>
          <a:p>
            <a:pPr indent="0" marL="0">
              <a:buNone/>
            </a:pPr>
            <a:r>
              <a:rPr lang="en-US" sz="1000" dirty="0">
                <a:solidFill>
                  <a:srgbClr val="6F84A6"/>
                </a:solidFill>
                <a:latin typeface="Courier New" pitchFamily="34" charset="0"/>
                <a:ea typeface="Courier New" pitchFamily="34" charset="-122"/>
                <a:cs typeface="Courier New" pitchFamily="34" charset="-120"/>
              </a:rPr>
              <a:t>/analyst</a:t>
            </a:r>
            <a:endParaRPr lang="en-US" sz="1000" dirty="0"/>
          </a:p>
        </p:txBody>
      </p:sp>
      <p:sp>
        <p:nvSpPr>
          <p:cNvPr id="7" name="Text 4"/>
          <p:cNvSpPr txBox="1"/>
          <p:nvPr/>
        </p:nvSpPr>
        <p:spPr>
          <a:xfrm>
            <a:off x="7818120" y="1600200"/>
            <a:ext cx="3840480" cy="256032"/>
          </a:xfrm>
          <a:prstGeom prst="rect">
            <a:avLst/>
          </a:prstGeom>
          <a:noFill/>
          <a:ln/>
        </p:spPr>
        <p:txBody>
          <a:bodyPr wrap="square" lIns="0" tIns="0" rIns="0" bIns="0" rtlCol="0" anchor="ctr"/>
          <a:lstStyle/>
          <a:p>
            <a:pPr indent="0" marL="0">
              <a:buNone/>
            </a:pPr>
            <a:r>
              <a:rPr lang="en-US" sz="1050" b="1" spc="200" kern="0" dirty="0">
                <a:solidFill>
                  <a:srgbClr val="38D6FF"/>
                </a:solidFill>
                <a:latin typeface="Calibri" pitchFamily="34" charset="0"/>
                <a:ea typeface="Calibri" pitchFamily="34" charset="-122"/>
                <a:cs typeface="Calibri" pitchFamily="34" charset="-120"/>
              </a:rPr>
              <a:t>HOW IT WORKS</a:t>
            </a:r>
            <a:endParaRPr lang="en-US" sz="1050" dirty="0"/>
          </a:p>
        </p:txBody>
      </p:sp>
      <p:sp>
        <p:nvSpPr>
          <p:cNvPr id="8" name="Text 5"/>
          <p:cNvSpPr txBox="1"/>
          <p:nvPr/>
        </p:nvSpPr>
        <p:spPr>
          <a:xfrm>
            <a:off x="7818120" y="1901952"/>
            <a:ext cx="3840480" cy="214884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A9BAD3"/>
                </a:solidFill>
                <a:latin typeface="Calibri" pitchFamily="34" charset="0"/>
                <a:ea typeface="Calibri" pitchFamily="34" charset="-122"/>
                <a:cs typeface="Calibri" pitchFamily="34" charset="-120"/>
              </a:rPr>
              <a:t>Detects the intent: size, opportunity, recommend, competitors, entry, economics, growth, launch, why, compare</a:t>
            </a:r>
            <a:endParaRPr lang="en-US" sz="1250" dirty="0"/>
          </a:p>
          <a:p>
            <a:pPr marL="177800" indent="-177800">
              <a:spcAft>
                <a:spcPts val="500"/>
              </a:spcAft>
              <a:buSzPct val="100000"/>
              <a:buChar char="•"/>
            </a:pPr>
            <a:r>
              <a:rPr lang="en-US" sz="1250" dirty="0">
                <a:solidFill>
                  <a:srgbClr val="A9BAD3"/>
                </a:solidFill>
                <a:latin typeface="Calibri" pitchFamily="34" charset="0"/>
                <a:ea typeface="Calibri" pitchFamily="34" charset="-122"/>
                <a:cs typeface="Calibri" pitchFamily="34" charset="-120"/>
              </a:rPr>
              <a:t>Resolves the market, segment or brand named in the question</a:t>
            </a:r>
            <a:endParaRPr lang="en-US" sz="1250" dirty="0"/>
          </a:p>
          <a:p>
            <a:pPr marL="177800" indent="-177800">
              <a:spcAft>
                <a:spcPts val="500"/>
              </a:spcAft>
              <a:buSzPct val="100000"/>
              <a:buChar char="•"/>
            </a:pPr>
            <a:r>
              <a:rPr lang="en-US" sz="1250" dirty="0">
                <a:solidFill>
                  <a:srgbClr val="A9BAD3"/>
                </a:solidFill>
                <a:latin typeface="Calibri" pitchFamily="34" charset="0"/>
                <a:ea typeface="Calibri" pitchFamily="34" charset="-122"/>
                <a:cs typeface="Calibri" pitchFamily="34" charset="-120"/>
              </a:rPr>
              <a:t>Answers with computed facts, each with a verify link to the page that shows the same number</a:t>
            </a:r>
            <a:endParaRPr lang="en-US" sz="1250" dirty="0"/>
          </a:p>
        </p:txBody>
      </p:sp>
      <p:sp>
        <p:nvSpPr>
          <p:cNvPr id="9" name="Text 6"/>
          <p:cNvSpPr txBox="1"/>
          <p:nvPr/>
        </p:nvSpPr>
        <p:spPr>
          <a:xfrm>
            <a:off x="7818120" y="4114800"/>
            <a:ext cx="3840480" cy="256032"/>
          </a:xfrm>
          <a:prstGeom prst="rect">
            <a:avLst/>
          </a:prstGeom>
          <a:noFill/>
          <a:ln/>
        </p:spPr>
        <p:txBody>
          <a:bodyPr wrap="square" lIns="0" tIns="0" rIns="0" bIns="0" rtlCol="0" anchor="ctr"/>
          <a:lstStyle/>
          <a:p>
            <a:pPr indent="0" marL="0">
              <a:buNone/>
            </a:pPr>
            <a:r>
              <a:rPr lang="en-US" sz="1050" b="1" spc="200" kern="0" dirty="0">
                <a:solidFill>
                  <a:srgbClr val="F5B942"/>
                </a:solidFill>
                <a:latin typeface="Calibri" pitchFamily="34" charset="0"/>
                <a:ea typeface="Calibri" pitchFamily="34" charset="-122"/>
                <a:cs typeface="Calibri" pitchFamily="34" charset="-120"/>
              </a:rPr>
              <a:t>IN DEPTH</a:t>
            </a:r>
            <a:endParaRPr lang="en-US" sz="1050" dirty="0"/>
          </a:p>
        </p:txBody>
      </p:sp>
      <p:sp>
        <p:nvSpPr>
          <p:cNvPr id="10" name="Text 7"/>
          <p:cNvSpPr txBox="1"/>
          <p:nvPr/>
        </p:nvSpPr>
        <p:spPr>
          <a:xfrm>
            <a:off x="7818120" y="4416552"/>
            <a:ext cx="3840480" cy="1920240"/>
          </a:xfrm>
          <a:prstGeom prst="rect">
            <a:avLst/>
          </a:prstGeom>
          <a:noFill/>
          <a:ln/>
        </p:spPr>
        <p:txBody>
          <a:bodyPr wrap="square" lIns="0" tIns="0" rIns="0" bIns="0" rtlCol="0" anchor="t"/>
          <a:lstStyle/>
          <a:p>
            <a:pPr marL="177800" indent="-177800">
              <a:buSzPct val="100000"/>
              <a:buChar char="•"/>
            </a:pPr>
            <a:r>
              <a:rPr lang="en-US" sz="1150" b="1" dirty="0">
                <a:solidFill>
                  <a:srgbClr val="E6EEFB"/>
                </a:solidFill>
                <a:latin typeface="Calibri" pitchFamily="34" charset="0"/>
                <a:ea typeface="Calibri" pitchFamily="34" charset="-122"/>
                <a:cs typeface="Calibri" pitchFamily="34" charset="-120"/>
              </a:rPr>
              <a:t>Number guard: </a:t>
            </a:r>
            <a:pPr indent="0" marL="0">
              <a:spcAft>
                <a:spcPts val="500"/>
              </a:spcAft>
              <a:buNone/>
            </a:pPr>
            <a:r>
              <a:rPr lang="en-US" sz="1150" dirty="0">
                <a:solidFill>
                  <a:srgbClr val="A9BAD3"/>
                </a:solidFill>
                <a:latin typeface="Calibri" pitchFamily="34" charset="0"/>
                <a:ea typeface="Calibri" pitchFamily="34" charset="-122"/>
                <a:cs typeface="Calibri" pitchFamily="34" charset="-120"/>
              </a:rPr>
              <a:t>optional Gemini (gemini-2.5-flash) may only rephrase; any number not in the facts → reply rejected</a:t>
            </a:r>
            <a:endParaRPr lang="en-US" sz="1150" dirty="0"/>
          </a:p>
          <a:p>
            <a:pPr marL="177800" indent="-177800">
              <a:buSzPct val="100000"/>
              <a:buChar char="•"/>
            </a:pPr>
            <a:r>
              <a:rPr lang="en-US" sz="1150" b="1" dirty="0">
                <a:solidFill>
                  <a:srgbClr val="E6EEFB"/>
                </a:solidFill>
                <a:latin typeface="Calibri" pitchFamily="34" charset="0"/>
                <a:ea typeface="Calibri" pitchFamily="34" charset="-122"/>
                <a:cs typeface="Calibri" pitchFamily="34" charset="-120"/>
              </a:rPr>
              <a:t>Traceability: </a:t>
            </a:r>
            <a:pPr indent="0" marL="0">
              <a:spcAft>
                <a:spcPts val="500"/>
              </a:spcAft>
              <a:buNone/>
            </a:pPr>
            <a:r>
              <a:rPr lang="en-US" sz="1150" dirty="0">
                <a:solidFill>
                  <a:srgbClr val="A9BAD3"/>
                </a:solidFill>
                <a:latin typeface="Calibri" pitchFamily="34" charset="0"/>
                <a:ea typeface="Calibri" pitchFamily="34" charset="-122"/>
                <a:cs typeface="Calibri" pitchFamily="34" charset="-120"/>
              </a:rPr>
              <a:t>every AI call stored: model, prompt version, input hash, output, status</a:t>
            </a:r>
            <a:endParaRPr lang="en-US" sz="1150" dirty="0"/>
          </a:p>
          <a:p>
            <a:pPr marL="177800" indent="-177800">
              <a:buSzPct val="100000"/>
              <a:buChar char="•"/>
            </a:pPr>
            <a:r>
              <a:rPr lang="en-US" sz="1150" b="1" dirty="0">
                <a:solidFill>
                  <a:srgbClr val="E6EEFB"/>
                </a:solidFill>
                <a:latin typeface="Calibri" pitchFamily="34" charset="0"/>
                <a:ea typeface="Calibri" pitchFamily="34" charset="-122"/>
                <a:cs typeface="Calibri" pitchFamily="34" charset="-120"/>
              </a:rPr>
              <a:t>Bilingual: </a:t>
            </a:r>
            <a:pPr indent="0" marL="0">
              <a:spcAft>
                <a:spcPts val="500"/>
              </a:spcAft>
              <a:buNone/>
            </a:pPr>
            <a:r>
              <a:rPr lang="en-US" sz="1150" dirty="0">
                <a:solidFill>
                  <a:srgbClr val="A9BAD3"/>
                </a:solidFill>
                <a:latin typeface="Calibri" pitchFamily="34" charset="0"/>
                <a:ea typeface="Calibri" pitchFamily="34" charset="-122"/>
                <a:cs typeface="Calibri" pitchFamily="34" charset="-120"/>
              </a:rPr>
              <a:t>each fact written in both languages</a:t>
            </a:r>
            <a:endParaRPr lang="en-US" sz="1150" dirty="0"/>
          </a:p>
        </p:txBody>
      </p:sp>
      <p:sp>
        <p:nvSpPr>
          <p:cNvPr id="11" name="Text 8"/>
          <p:cNvSpPr txBox="1"/>
          <p:nvPr/>
        </p:nvSpPr>
        <p:spPr>
          <a:xfrm>
            <a:off x="10332720" y="6446520"/>
            <a:ext cx="1371600" cy="228600"/>
          </a:xfrm>
          <a:prstGeom prst="rect">
            <a:avLst/>
          </a:prstGeom>
          <a:noFill/>
          <a:ln/>
        </p:spPr>
        <p:txBody>
          <a:bodyPr wrap="square" lIns="0" tIns="0" rIns="0" bIns="0" rtlCol="0" anchor="ctr"/>
          <a:lstStyle/>
          <a:p>
            <a:pPr algn="r" indent="0" marL="0">
              <a:buNone/>
            </a:pPr>
            <a:r>
              <a:rPr lang="en-US" sz="900" dirty="0">
                <a:solidFill>
                  <a:srgbClr val="6F84A6"/>
                </a:solidFill>
                <a:latin typeface="Calibri" pitchFamily="34" charset="0"/>
                <a:ea typeface="Calibri" pitchFamily="34" charset="-122"/>
                <a:cs typeface="Calibri" pitchFamily="34" charset="-120"/>
              </a:rPr>
              <a:t>DMIS · 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274320"/>
          </a:xfrm>
          <a:prstGeom prst="rect">
            <a:avLst/>
          </a:prstGeom>
          <a:noFill/>
          <a:ln/>
        </p:spPr>
        <p:txBody>
          <a:bodyPr wrap="square" lIns="0" tIns="0" rIns="0" bIns="0" rtlCol="0" anchor="ctr"/>
          <a:lstStyle/>
          <a:p>
            <a:pPr indent="0" marL="0">
              <a:buNone/>
            </a:pPr>
            <a:r>
              <a:rPr lang="en-US" sz="1100" b="1" spc="300" kern="0" dirty="0">
                <a:solidFill>
                  <a:srgbClr val="38D6FF"/>
                </a:solidFill>
                <a:latin typeface="Calibri" pitchFamily="34" charset="0"/>
                <a:ea typeface="Calibri" pitchFamily="34" charset="-122"/>
                <a:cs typeface="Calibri" pitchFamily="34" charset="-120"/>
              </a:rPr>
              <a:t>MODULE · INTELLIGENCE</a:t>
            </a:r>
            <a:endParaRPr lang="en-US" sz="1100" dirty="0"/>
          </a:p>
        </p:txBody>
      </p:sp>
      <p:sp>
        <p:nvSpPr>
          <p:cNvPr id="3" name="Text 1"/>
          <p:cNvSpPr txBox="1"/>
          <p:nvPr/>
        </p:nvSpPr>
        <p:spPr>
          <a:xfrm>
            <a:off x="548640" y="685800"/>
            <a:ext cx="11064240" cy="685800"/>
          </a:xfrm>
          <a:prstGeom prst="rect">
            <a:avLst/>
          </a:prstGeom>
          <a:noFill/>
          <a:ln/>
        </p:spPr>
        <p:txBody>
          <a:bodyPr wrap="square" lIns="0" tIns="0" rIns="0" bIns="0" rtlCol="0" anchor="ctr"/>
          <a:lstStyle/>
          <a:p>
            <a:pPr indent="0" marL="0">
              <a:buNone/>
            </a:pPr>
            <a:r>
              <a:rPr lang="en-US" sz="3200" b="1" dirty="0">
                <a:solidFill>
                  <a:srgbClr val="E6EEFB"/>
                </a:solidFill>
                <a:latin typeface="Cambria" pitchFamily="34" charset="0"/>
                <a:ea typeface="Cambria" pitchFamily="34" charset="-122"/>
                <a:cs typeface="Cambria" pitchFamily="34" charset="-120"/>
              </a:rPr>
              <a:t>Knowledge Graph and Product Galaxy</a:t>
            </a:r>
            <a:endParaRPr lang="en-US" sz="3200" dirty="0"/>
          </a:p>
        </p:txBody>
      </p:sp>
      <p:sp>
        <p:nvSpPr>
          <p:cNvPr id="4" name="Shape 2"/>
          <p:cNvSpPr/>
          <p:nvPr/>
        </p:nvSpPr>
        <p:spPr>
          <a:xfrm>
            <a:off x="493776" y="1545336"/>
            <a:ext cx="5550408" cy="3668054"/>
          </a:xfrm>
          <a:prstGeom prst="roundRect">
            <a:avLst>
              <a:gd name="adj" fmla="val 1994"/>
            </a:avLst>
          </a:prstGeom>
          <a:solidFill>
            <a:srgbClr val="1F3150"/>
          </a:solidFill>
          <a:ln w="12700">
            <a:solidFill>
              <a:srgbClr val="1F3150"/>
            </a:solidFill>
            <a:prstDash val="solid"/>
          </a:ln>
          <a:effectLst>
            <a:outerShdw sx="100000" sy="100000" kx="0" ky="0" algn="bl" rotWithShape="0" blurRad="101600" dist="38100" dir="5400000">
              <a:srgbClr val="000000">
                <a:alpha val="25000"/>
              </a:srgbClr>
            </a:outerShdw>
          </a:effectLst>
        </p:spPr>
      </p:sp>
      <p:pic>
        <p:nvPicPr>
          <p:cNvPr id="5" name="Image 0" descr="graph.jpg">    </p:cNvPr>
          <p:cNvPicPr>
            <a:picLocks noChangeAspect="1"/>
          </p:cNvPicPr>
          <p:nvPr/>
        </p:nvPicPr>
        <p:blipFill>
          <a:blip r:embed="rId1"/>
          <a:stretch>
            <a:fillRect/>
          </a:stretch>
        </p:blipFill>
        <p:spPr>
          <a:xfrm>
            <a:off x="548640" y="1600200"/>
            <a:ext cx="5440680" cy="3558326"/>
          </a:xfrm>
          <a:prstGeom prst="rect">
            <a:avLst/>
          </a:prstGeom>
        </p:spPr>
      </p:pic>
      <p:sp>
        <p:nvSpPr>
          <p:cNvPr id="6" name="Shape 3"/>
          <p:cNvSpPr/>
          <p:nvPr/>
        </p:nvSpPr>
        <p:spPr>
          <a:xfrm>
            <a:off x="6144768" y="1545336"/>
            <a:ext cx="5550408" cy="3668054"/>
          </a:xfrm>
          <a:prstGeom prst="roundRect">
            <a:avLst>
              <a:gd name="adj" fmla="val 1994"/>
            </a:avLst>
          </a:prstGeom>
          <a:solidFill>
            <a:srgbClr val="1F3150"/>
          </a:solidFill>
          <a:ln w="12700">
            <a:solidFill>
              <a:srgbClr val="1F3150"/>
            </a:solidFill>
            <a:prstDash val="solid"/>
          </a:ln>
          <a:effectLst>
            <a:outerShdw sx="100000" sy="100000" kx="0" ky="0" algn="bl" rotWithShape="0" blurRad="101600" dist="38100" dir="5400000">
              <a:srgbClr val="000000">
                <a:alpha val="25000"/>
              </a:srgbClr>
            </a:outerShdw>
          </a:effectLst>
        </p:spPr>
      </p:sp>
      <p:pic>
        <p:nvPicPr>
          <p:cNvPr id="7" name="Image 1" descr="galaxy.jpg">    </p:cNvPr>
          <p:cNvPicPr>
            <a:picLocks noChangeAspect="1"/>
          </p:cNvPicPr>
          <p:nvPr/>
        </p:nvPicPr>
        <p:blipFill>
          <a:blip r:embed="rId2"/>
          <a:stretch>
            <a:fillRect/>
          </a:stretch>
        </p:blipFill>
        <p:spPr>
          <a:xfrm>
            <a:off x="6199632" y="1600200"/>
            <a:ext cx="5440680" cy="3558326"/>
          </a:xfrm>
          <a:prstGeom prst="rect">
            <a:avLst/>
          </a:prstGeom>
        </p:spPr>
      </p:pic>
      <p:sp>
        <p:nvSpPr>
          <p:cNvPr id="8" name="Text 4"/>
          <p:cNvSpPr txBox="1"/>
          <p:nvPr/>
        </p:nvSpPr>
        <p:spPr>
          <a:xfrm>
            <a:off x="548640" y="5295686"/>
            <a:ext cx="5440680" cy="1280160"/>
          </a:xfrm>
          <a:prstGeom prst="rect">
            <a:avLst/>
          </a:prstGeom>
          <a:noFill/>
          <a:ln/>
        </p:spPr>
        <p:txBody>
          <a:bodyPr wrap="square" lIns="0" tIns="0" rIns="0" bIns="0" rtlCol="0" anchor="t"/>
          <a:lstStyle/>
          <a:p>
            <a:pPr marL="177800" indent="-177800">
              <a:buSzPct val="100000"/>
              <a:buChar char="•"/>
            </a:pPr>
            <a:r>
              <a:rPr lang="en-US" sz="1150" b="1" dirty="0">
                <a:solidFill>
                  <a:srgbClr val="E6EEFB"/>
                </a:solidFill>
                <a:latin typeface="Calibri" pitchFamily="34" charset="0"/>
                <a:ea typeface="Calibri" pitchFamily="34" charset="-122"/>
                <a:cs typeface="Calibri" pitchFamily="34" charset="-120"/>
              </a:rPr>
              <a:t>Graph: </a:t>
            </a:r>
            <a:pPr indent="0" marL="0">
              <a:spcAft>
                <a:spcPts val="500"/>
              </a:spcAft>
              <a:buNone/>
            </a:pPr>
            <a:r>
              <a:rPr lang="en-US" sz="1150" dirty="0">
                <a:solidFill>
                  <a:srgbClr val="A9BAD3"/>
                </a:solidFill>
                <a:latin typeface="Calibri" pitchFamily="34" charset="0"/>
                <a:ea typeface="Calibri" pitchFamily="34" charset="-122"/>
                <a:cs typeface="Calibri" pitchFamily="34" charset="-120"/>
              </a:rPr>
              <a:t>market → sub-category → segment → product → listing, plus brands, gaps, momentum, suppliers</a:t>
            </a:r>
            <a:endParaRPr lang="en-US" sz="1150" dirty="0"/>
          </a:p>
          <a:p>
            <a:pPr marL="177800" indent="-177800">
              <a:buSzPct val="100000"/>
              <a:buChar char="•"/>
            </a:pPr>
            <a:r>
              <a:rPr lang="en-US" sz="1150" b="1" dirty="0">
                <a:solidFill>
                  <a:srgbClr val="E6EEFB"/>
                </a:solidFill>
                <a:latin typeface="Calibri" pitchFamily="34" charset="0"/>
                <a:ea typeface="Calibri" pitchFamily="34" charset="-122"/>
                <a:cs typeface="Calibri" pitchFamily="34" charset="-120"/>
              </a:rPr>
              <a:t>Evidence on every edge: </a:t>
            </a:r>
            <a:pPr indent="0" marL="0">
              <a:spcAft>
                <a:spcPts val="500"/>
              </a:spcAft>
              <a:buNone/>
            </a:pPr>
            <a:r>
              <a:rPr lang="en-US" sz="1150" dirty="0">
                <a:solidFill>
                  <a:srgbClr val="A9BAD3"/>
                </a:solidFill>
                <a:latin typeface="Calibri" pitchFamily="34" charset="0"/>
                <a:ea typeface="Calibri" pitchFamily="34" charset="-122"/>
                <a:cs typeface="Calibri" pitchFamily="34" charset="-120"/>
              </a:rPr>
              <a:t>basis (fact / estimate / test / similarity) and strength 0–1; click an edge to see why it exists</a:t>
            </a:r>
            <a:endParaRPr lang="en-US" sz="1150" dirty="0"/>
          </a:p>
          <a:p>
            <a:pPr marL="177800" indent="-177800">
              <a:buSzPct val="100000"/>
              <a:buChar char="•"/>
            </a:pPr>
            <a:r>
              <a:rPr lang="en-US" sz="1150" b="1" dirty="0">
                <a:solidFill>
                  <a:srgbClr val="E6EEFB"/>
                </a:solidFill>
                <a:latin typeface="Calibri" pitchFamily="34" charset="0"/>
                <a:ea typeface="Calibri" pitchFamily="34" charset="-122"/>
                <a:cs typeface="Calibri" pitchFamily="34" charset="-120"/>
              </a:rPr>
              <a:t>Path finding: </a:t>
            </a:r>
            <a:pPr indent="0" marL="0">
              <a:spcAft>
                <a:spcPts val="500"/>
              </a:spcAft>
              <a:buNone/>
            </a:pPr>
            <a:r>
              <a:rPr lang="en-US" sz="1150" dirty="0">
                <a:solidFill>
                  <a:srgbClr val="A9BAD3"/>
                </a:solidFill>
                <a:latin typeface="Calibri" pitchFamily="34" charset="0"/>
                <a:ea typeface="Calibri" pitchFamily="34" charset="-122"/>
                <a:cs typeface="Calibri" pitchFamily="34" charset="-120"/>
              </a:rPr>
              <a:t>weights 1 + (1 − strength): the best-evidenced route wins; non-significant edges are never drawn</a:t>
            </a:r>
            <a:endParaRPr lang="en-US" sz="1150" dirty="0"/>
          </a:p>
        </p:txBody>
      </p:sp>
      <p:sp>
        <p:nvSpPr>
          <p:cNvPr id="9" name="Text 5"/>
          <p:cNvSpPr txBox="1"/>
          <p:nvPr/>
        </p:nvSpPr>
        <p:spPr>
          <a:xfrm>
            <a:off x="6199632" y="5295686"/>
            <a:ext cx="5440680" cy="1280160"/>
          </a:xfrm>
          <a:prstGeom prst="rect">
            <a:avLst/>
          </a:prstGeom>
          <a:noFill/>
          <a:ln/>
        </p:spPr>
        <p:txBody>
          <a:bodyPr wrap="square" lIns="0" tIns="0" rIns="0" bIns="0" rtlCol="0" anchor="t"/>
          <a:lstStyle/>
          <a:p>
            <a:pPr marL="177800" indent="-177800">
              <a:buSzPct val="100000"/>
              <a:buChar char="•"/>
            </a:pPr>
            <a:r>
              <a:rPr lang="en-US" sz="1150" b="1" dirty="0">
                <a:solidFill>
                  <a:srgbClr val="E6EEFB"/>
                </a:solidFill>
                <a:latin typeface="Calibri" pitchFamily="34" charset="0"/>
                <a:ea typeface="Calibri" pitchFamily="34" charset="-122"/>
                <a:cs typeface="Calibri" pitchFamily="34" charset="-120"/>
              </a:rPr>
              <a:t>Galaxy: </a:t>
            </a:r>
            <a:pPr indent="0" marL="0">
              <a:spcAft>
                <a:spcPts val="500"/>
              </a:spcAft>
              <a:buNone/>
            </a:pPr>
            <a:r>
              <a:rPr lang="en-US" sz="1150" dirty="0">
                <a:solidFill>
                  <a:srgbClr val="A9BAD3"/>
                </a:solidFill>
                <a:latin typeface="Calibri" pitchFamily="34" charset="0"/>
                <a:ea typeface="Calibri" pitchFamily="34" charset="-122"/>
                <a:cs typeface="Calibri" pitchFamily="34" charset="-120"/>
              </a:rPr>
              <a:t>products as stars, placed by title similarity (SVD of offline hashing embeddings)</a:t>
            </a:r>
            <a:endParaRPr lang="en-US" sz="1150" dirty="0"/>
          </a:p>
          <a:p>
            <a:pPr marL="177800" indent="-177800">
              <a:buSzPct val="100000"/>
              <a:buChar char="•"/>
            </a:pPr>
            <a:r>
              <a:rPr lang="en-US" sz="1150" b="1" dirty="0">
                <a:solidFill>
                  <a:srgbClr val="E6EEFB"/>
                </a:solidFill>
                <a:latin typeface="Calibri" pitchFamily="34" charset="0"/>
                <a:ea typeface="Calibri" pitchFamily="34" charset="-122"/>
                <a:cs typeface="Calibri" pitchFamily="34" charset="-120"/>
              </a:rPr>
              <a:t>Colour &amp; size: </a:t>
            </a:r>
            <a:pPr indent="0" marL="0">
              <a:spcAft>
                <a:spcPts val="500"/>
              </a:spcAft>
              <a:buNone/>
            </a:pPr>
            <a:r>
              <a:rPr lang="en-US" sz="1150" dirty="0">
                <a:solidFill>
                  <a:srgbClr val="A9BAD3"/>
                </a:solidFill>
                <a:latin typeface="Calibri" pitchFamily="34" charset="0"/>
                <a:ea typeface="Calibri" pitchFamily="34" charset="-122"/>
                <a:cs typeface="Calibri" pitchFamily="34" charset="-120"/>
              </a:rPr>
              <a:t>segment, brand, price quartile, opportunity, margin, entrant; size = revenue or units</a:t>
            </a:r>
            <a:endParaRPr lang="en-US" sz="1150" dirty="0"/>
          </a:p>
          <a:p>
            <a:pPr marL="177800" indent="-177800">
              <a:buSzPct val="100000"/>
              <a:buChar char="•"/>
            </a:pPr>
            <a:r>
              <a:rPr lang="en-US" sz="1150" b="1" dirty="0">
                <a:solidFill>
                  <a:srgbClr val="E6EEFB"/>
                </a:solidFill>
                <a:latin typeface="Calibri" pitchFamily="34" charset="0"/>
                <a:ea typeface="Calibri" pitchFamily="34" charset="-122"/>
                <a:cs typeface="Calibri" pitchFamily="34" charset="-120"/>
              </a:rPr>
              <a:t>Scale: </a:t>
            </a:r>
            <a:pPr indent="0" marL="0">
              <a:spcAft>
                <a:spcPts val="500"/>
              </a:spcAft>
              <a:buNone/>
            </a:pPr>
            <a:r>
              <a:rPr lang="en-US" sz="1150" dirty="0">
                <a:solidFill>
                  <a:srgbClr val="A9BAD3"/>
                </a:solidFill>
                <a:latin typeface="Calibri" pitchFamily="34" charset="0"/>
                <a:ea typeface="Calibri" pitchFamily="34" charset="-122"/>
                <a:cs typeface="Calibri" pitchFamily="34" charset="-120"/>
              </a:rPr>
              <a:t>draws the largest 3,000 products and states the share of revenue shown</a:t>
            </a:r>
            <a:endParaRPr lang="en-US" sz="1150" dirty="0"/>
          </a:p>
        </p:txBody>
      </p:sp>
      <p:sp>
        <p:nvSpPr>
          <p:cNvPr id="10" name="Text 6"/>
          <p:cNvSpPr txBox="1"/>
          <p:nvPr/>
        </p:nvSpPr>
        <p:spPr>
          <a:xfrm>
            <a:off x="10332720" y="6446520"/>
            <a:ext cx="1371600" cy="228600"/>
          </a:xfrm>
          <a:prstGeom prst="rect">
            <a:avLst/>
          </a:prstGeom>
          <a:noFill/>
          <a:ln/>
        </p:spPr>
        <p:txBody>
          <a:bodyPr wrap="square" lIns="0" tIns="0" rIns="0" bIns="0" rtlCol="0" anchor="ctr"/>
          <a:lstStyle/>
          <a:p>
            <a:pPr algn="r" indent="0" marL="0">
              <a:buNone/>
            </a:pPr>
            <a:r>
              <a:rPr lang="en-US" sz="900" dirty="0">
                <a:solidFill>
                  <a:srgbClr val="6F84A6"/>
                </a:solidFill>
                <a:latin typeface="Calibri" pitchFamily="34" charset="0"/>
                <a:ea typeface="Calibri" pitchFamily="34" charset="-122"/>
                <a:cs typeface="Calibri" pitchFamily="34" charset="-120"/>
              </a:rPr>
              <a:t>DMIS · 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3F6FA"/>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274320"/>
          </a:xfrm>
          <a:prstGeom prst="rect">
            <a:avLst/>
          </a:prstGeom>
          <a:noFill/>
          <a:ln/>
        </p:spPr>
        <p:txBody>
          <a:bodyPr wrap="square" lIns="0" tIns="0" rIns="0" bIns="0" rtlCol="0" anchor="ctr"/>
          <a:lstStyle/>
          <a:p>
            <a:pPr indent="0" marL="0">
              <a:buNone/>
            </a:pPr>
            <a:r>
              <a:rPr lang="en-US" sz="1100" b="1" spc="300" kern="0" dirty="0">
                <a:solidFill>
                  <a:srgbClr val="0B7FA3"/>
                </a:solidFill>
                <a:latin typeface="Calibri" pitchFamily="34" charset="0"/>
                <a:ea typeface="Calibri" pitchFamily="34" charset="-122"/>
                <a:cs typeface="Calibri" pitchFamily="34" charset="-120"/>
              </a:rPr>
              <a:t>MODULE · INTELLIGENCE</a:t>
            </a:r>
            <a:endParaRPr lang="en-US" sz="1100" dirty="0"/>
          </a:p>
        </p:txBody>
      </p:sp>
      <p:sp>
        <p:nvSpPr>
          <p:cNvPr id="3" name="Text 1"/>
          <p:cNvSpPr txBox="1"/>
          <p:nvPr/>
        </p:nvSpPr>
        <p:spPr>
          <a:xfrm>
            <a:off x="548640" y="685800"/>
            <a:ext cx="11064240" cy="685800"/>
          </a:xfrm>
          <a:prstGeom prst="rect">
            <a:avLst/>
          </a:prstGeom>
          <a:noFill/>
          <a:ln/>
        </p:spPr>
        <p:txBody>
          <a:bodyPr wrap="square" lIns="0" tIns="0" rIns="0" bIns="0" rtlCol="0" anchor="ctr"/>
          <a:lstStyle/>
          <a:p>
            <a:pPr indent="0" marL="0">
              <a:buNone/>
            </a:pPr>
            <a:r>
              <a:rPr lang="en-US" sz="3200" b="1" dirty="0">
                <a:solidFill>
                  <a:srgbClr val="0F1B2D"/>
                </a:solidFill>
                <a:latin typeface="Cambria" pitchFamily="34" charset="0"/>
                <a:ea typeface="Cambria" pitchFamily="34" charset="-122"/>
                <a:cs typeface="Cambria" pitchFamily="34" charset="-120"/>
              </a:rPr>
              <a:t>Growth &amp; forecast</a:t>
            </a:r>
            <a:endParaRPr lang="en-US" sz="3200" dirty="0"/>
          </a:p>
        </p:txBody>
      </p:sp>
      <p:sp>
        <p:nvSpPr>
          <p:cNvPr id="4" name="Shape 2"/>
          <p:cNvSpPr/>
          <p:nvPr/>
        </p:nvSpPr>
        <p:spPr>
          <a:xfrm>
            <a:off x="493776" y="1499616"/>
            <a:ext cx="5230368" cy="4709625"/>
          </a:xfrm>
          <a:prstGeom prst="roundRect">
            <a:avLst>
              <a:gd name="adj" fmla="val 1553"/>
            </a:avLst>
          </a:prstGeom>
          <a:solidFill>
            <a:srgbClr val="D5DEEA"/>
          </a:solidFill>
          <a:ln w="12700">
            <a:solidFill>
              <a:srgbClr val="D5DEEA"/>
            </a:solidFill>
            <a:prstDash val="solid"/>
          </a:ln>
          <a:effectLst>
            <a:outerShdw sx="100000" sy="100000" kx="0" ky="0" algn="bl" rotWithShape="0" blurRad="101600" dist="38100" dir="5400000">
              <a:srgbClr val="000000">
                <a:alpha val="25000"/>
              </a:srgbClr>
            </a:outerShdw>
          </a:effectLst>
        </p:spPr>
      </p:sp>
      <p:pic>
        <p:nvPicPr>
          <p:cNvPr id="5" name="Image 0" descr="forecast.jpg">    </p:cNvPr>
          <p:cNvPicPr>
            <a:picLocks noChangeAspect="1"/>
          </p:cNvPicPr>
          <p:nvPr/>
        </p:nvPicPr>
        <p:blipFill>
          <a:blip r:embed="rId1"/>
          <a:stretch>
            <a:fillRect/>
          </a:stretch>
        </p:blipFill>
        <p:spPr>
          <a:xfrm>
            <a:off x="548640" y="1554480"/>
            <a:ext cx="5120640" cy="4599897"/>
          </a:xfrm>
          <a:prstGeom prst="rect">
            <a:avLst/>
          </a:prstGeom>
        </p:spPr>
      </p:pic>
      <p:sp>
        <p:nvSpPr>
          <p:cNvPr id="6" name="Text 3"/>
          <p:cNvSpPr txBox="1"/>
          <p:nvPr/>
        </p:nvSpPr>
        <p:spPr>
          <a:xfrm>
            <a:off x="548640" y="6291537"/>
            <a:ext cx="5120640" cy="228600"/>
          </a:xfrm>
          <a:prstGeom prst="rect">
            <a:avLst/>
          </a:prstGeom>
          <a:noFill/>
          <a:ln/>
        </p:spPr>
        <p:txBody>
          <a:bodyPr wrap="square" lIns="0" tIns="0" rIns="0" bIns="0" rtlCol="0" anchor="ctr"/>
          <a:lstStyle/>
          <a:p>
            <a:pPr indent="0" marL="0">
              <a:buNone/>
            </a:pPr>
            <a:r>
              <a:rPr lang="en-US" sz="1000" i="1" dirty="0">
                <a:solidFill>
                  <a:srgbClr val="6B7A90"/>
                </a:solidFill>
                <a:latin typeface="Calibri" pitchFamily="34" charset="0"/>
                <a:ea typeface="Calibri" pitchFamily="34" charset="-122"/>
                <a:cs typeface="Calibri" pitchFamily="34" charset="-120"/>
              </a:rPr>
              <a:t>Shown on a demo market with four monthly snapshots</a:t>
            </a:r>
            <a:endParaRPr lang="en-US" sz="1000" dirty="0"/>
          </a:p>
        </p:txBody>
      </p:sp>
      <p:sp>
        <p:nvSpPr>
          <p:cNvPr id="7" name="Text 4"/>
          <p:cNvSpPr txBox="1"/>
          <p:nvPr/>
        </p:nvSpPr>
        <p:spPr>
          <a:xfrm>
            <a:off x="6583680" y="1600200"/>
            <a:ext cx="5029200" cy="256032"/>
          </a:xfrm>
          <a:prstGeom prst="rect">
            <a:avLst/>
          </a:prstGeom>
          <a:noFill/>
          <a:ln/>
        </p:spPr>
        <p:txBody>
          <a:bodyPr wrap="square" lIns="0" tIns="0" rIns="0" bIns="0" rtlCol="0" anchor="ctr"/>
          <a:lstStyle/>
          <a:p>
            <a:pPr indent="0" marL="0">
              <a:buNone/>
            </a:pPr>
            <a:r>
              <a:rPr lang="en-US" sz="1050" b="1" spc="200" kern="0" dirty="0">
                <a:solidFill>
                  <a:srgbClr val="0B7FA3"/>
                </a:solidFill>
                <a:latin typeface="Calibri" pitchFamily="34" charset="0"/>
                <a:ea typeface="Calibri" pitchFamily="34" charset="-122"/>
                <a:cs typeface="Calibri" pitchFamily="34" charset="-120"/>
              </a:rPr>
              <a:t>HOW IT WORKS</a:t>
            </a:r>
            <a:endParaRPr lang="en-US" sz="1050" dirty="0"/>
          </a:p>
        </p:txBody>
      </p:sp>
      <p:sp>
        <p:nvSpPr>
          <p:cNvPr id="8" name="Text 5"/>
          <p:cNvSpPr txBox="1"/>
          <p:nvPr/>
        </p:nvSpPr>
        <p:spPr>
          <a:xfrm>
            <a:off x="6583680" y="1901952"/>
            <a:ext cx="5029200" cy="182880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33445C"/>
                </a:solidFill>
                <a:latin typeface="Calibri" pitchFamily="34" charset="0"/>
                <a:ea typeface="Calibri" pitchFamily="34" charset="-122"/>
                <a:cs typeface="Calibri" pitchFamily="34" charset="-120"/>
              </a:rPr>
              <a:t>Every upload stores the market's and each sub-category's revenue estimate with its interval, per snapshot date</a:t>
            </a:r>
            <a:endParaRPr lang="en-US" sz="1300" dirty="0"/>
          </a:p>
          <a:p>
            <a:pPr marL="177800" indent="-177800">
              <a:spcAft>
                <a:spcPts val="500"/>
              </a:spcAft>
              <a:buSzPct val="100000"/>
              <a:buChar char="•"/>
            </a:pPr>
            <a:r>
              <a:rPr lang="en-US" sz="1300" dirty="0">
                <a:solidFill>
                  <a:srgbClr val="33445C"/>
                </a:solidFill>
                <a:latin typeface="Calibri" pitchFamily="34" charset="0"/>
                <a:ea typeface="Calibri" pitchFamily="34" charset="-122"/>
                <a:cs typeface="Calibri" pitchFamily="34" charset="-120"/>
              </a:rPr>
              <a:t>With ≥ 3 dated snapshots: growth per month with a 95% interval, a trend test, 3/6/12-month forecasts</a:t>
            </a:r>
            <a:endParaRPr lang="en-US" sz="1300" dirty="0"/>
          </a:p>
          <a:p>
            <a:pPr marL="177800" indent="-177800">
              <a:spcAft>
                <a:spcPts val="500"/>
              </a:spcAft>
              <a:buSzPct val="100000"/>
              <a:buChar char="•"/>
            </a:pPr>
            <a:r>
              <a:rPr lang="en-US" sz="1300" dirty="0">
                <a:solidFill>
                  <a:srgbClr val="33445C"/>
                </a:solidFill>
                <a:latin typeface="Calibri" pitchFamily="34" charset="0"/>
                <a:ea typeface="Calibri" pitchFamily="34" charset="-122"/>
                <a:cs typeface="Calibri" pitchFamily="34" charset="-120"/>
              </a:rPr>
              <a:t>Fewer snapshots → the page says so and shows entry momentum instead; no trend is invented</a:t>
            </a:r>
            <a:endParaRPr lang="en-US" sz="1300" dirty="0"/>
          </a:p>
        </p:txBody>
      </p:sp>
      <p:sp>
        <p:nvSpPr>
          <p:cNvPr id="9" name="Text 6"/>
          <p:cNvSpPr txBox="1"/>
          <p:nvPr/>
        </p:nvSpPr>
        <p:spPr>
          <a:xfrm>
            <a:off x="6583680" y="3840480"/>
            <a:ext cx="5029200" cy="256032"/>
          </a:xfrm>
          <a:prstGeom prst="rect">
            <a:avLst/>
          </a:prstGeom>
          <a:noFill/>
          <a:ln/>
        </p:spPr>
        <p:txBody>
          <a:bodyPr wrap="square" lIns="0" tIns="0" rIns="0" bIns="0" rtlCol="0" anchor="ctr"/>
          <a:lstStyle/>
          <a:p>
            <a:pPr indent="0" marL="0">
              <a:buNone/>
            </a:pPr>
            <a:r>
              <a:rPr lang="en-US" sz="1050" b="1" spc="200" kern="0" dirty="0">
                <a:solidFill>
                  <a:srgbClr val="B7791F"/>
                </a:solidFill>
                <a:latin typeface="Calibri" pitchFamily="34" charset="0"/>
                <a:ea typeface="Calibri" pitchFamily="34" charset="-122"/>
                <a:cs typeface="Calibri" pitchFamily="34" charset="-120"/>
              </a:rPr>
              <a:t>IN DEPTH</a:t>
            </a:r>
            <a:endParaRPr lang="en-US" sz="1050" dirty="0"/>
          </a:p>
        </p:txBody>
      </p:sp>
      <p:sp>
        <p:nvSpPr>
          <p:cNvPr id="10" name="Text 7"/>
          <p:cNvSpPr txBox="1"/>
          <p:nvPr/>
        </p:nvSpPr>
        <p:spPr>
          <a:xfrm>
            <a:off x="6583680" y="4114800"/>
            <a:ext cx="5029200" cy="868680"/>
          </a:xfrm>
          <a:prstGeom prst="rect">
            <a:avLst/>
          </a:prstGeom>
          <a:solidFill>
            <a:srgbClr val="E7EDF5"/>
          </a:solidFill>
          <a:ln/>
        </p:spPr>
        <p:txBody>
          <a:bodyPr wrap="square" lIns="76200" tIns="76200" rIns="76200" bIns="76200" rtlCol="0" anchor="ctr"/>
          <a:lstStyle/>
          <a:p>
            <a:pPr indent="0" marL="0">
              <a:buNone/>
            </a:pPr>
            <a:r>
              <a:rPr lang="en-US" sz="1150" dirty="0">
                <a:solidFill>
                  <a:srgbClr val="0F1B2D"/>
                </a:solidFill>
                <a:latin typeface="Courier New" pitchFamily="34" charset="0"/>
                <a:ea typeface="Courier New" pitchFamily="34" charset="-122"/>
                <a:cs typeface="Courier New" pitchFamily="34" charset="-120"/>
              </a:rPr>
              <a:t>log yᵢ = a + b·tᵢ + uᵢ + eᵢ</a:t>
            </a:r>
            <a:endParaRPr lang="en-US" sz="1150" dirty="0"/>
          </a:p>
          <a:p>
            <a:pPr indent="0" marL="0">
              <a:buNone/>
            </a:pPr>
            <a:r>
              <a:rPr lang="en-US" sz="1150" dirty="0">
                <a:solidFill>
                  <a:srgbClr val="0F1B2D"/>
                </a:solidFill>
                <a:latin typeface="Courier New" pitchFamily="34" charset="0"/>
                <a:ea typeface="Courier New" pitchFamily="34" charset="-122"/>
                <a:cs typeface="Courier New" pitchFamily="34" charset="-120"/>
              </a:rPr>
              <a:t>eᵢ ~ N(0, sᵢ²) from each snapshot's interval</a:t>
            </a:r>
            <a:endParaRPr lang="en-US" sz="1150" dirty="0"/>
          </a:p>
          <a:p>
            <a:pPr indent="0" marL="0">
              <a:buNone/>
            </a:pPr>
            <a:r>
              <a:rPr lang="en-US" sz="1150" dirty="0">
                <a:solidFill>
                  <a:srgbClr val="0F1B2D"/>
                </a:solidFill>
                <a:latin typeface="Courier New" pitchFamily="34" charset="0"/>
                <a:ea typeface="Courier New" pitchFamily="34" charset="-122"/>
                <a:cs typeface="Courier New" pitchFamily="34" charset="-120"/>
              </a:rPr>
              <a:t>uᵢ ~ N(0, τ²) real month-to-month variation</a:t>
            </a:r>
            <a:endParaRPr lang="en-US" sz="1150" dirty="0"/>
          </a:p>
        </p:txBody>
      </p:sp>
      <p:sp>
        <p:nvSpPr>
          <p:cNvPr id="11" name="Text 8"/>
          <p:cNvSpPr txBox="1"/>
          <p:nvPr/>
        </p:nvSpPr>
        <p:spPr>
          <a:xfrm>
            <a:off x="6583680" y="5120640"/>
            <a:ext cx="5029200" cy="1280160"/>
          </a:xfrm>
          <a:prstGeom prst="rect">
            <a:avLst/>
          </a:prstGeom>
          <a:noFill/>
          <a:ln/>
        </p:spPr>
        <p:txBody>
          <a:bodyPr wrap="square" lIns="0" tIns="0" rIns="0" bIns="0" rtlCol="0" anchor="t"/>
          <a:lstStyle/>
          <a:p>
            <a:pPr marL="177800" indent="-177800">
              <a:spcAft>
                <a:spcPts val="500"/>
              </a:spcAft>
              <a:buSzPct val="100000"/>
              <a:buChar char="•"/>
            </a:pPr>
            <a:r>
              <a:rPr lang="en-US" sz="1150" dirty="0">
                <a:solidFill>
                  <a:srgbClr val="33445C"/>
                </a:solidFill>
                <a:latin typeface="Calibri" pitchFamily="34" charset="0"/>
                <a:ea typeface="Calibri" pitchFamily="34" charset="-122"/>
                <a:cs typeface="Calibri" pitchFamily="34" charset="-120"/>
              </a:rPr>
              <a:t>τ² by method of moments; weighted least squares with 1/(sᵢ² + τ²); growth = eᵇ − 1 with a t interval</a:t>
            </a:r>
            <a:endParaRPr lang="en-US" sz="1150" dirty="0"/>
          </a:p>
          <a:p>
            <a:pPr marL="177800" indent="-177800">
              <a:spcAft>
                <a:spcPts val="500"/>
              </a:spcAft>
              <a:buSzPct val="100000"/>
              <a:buChar char="•"/>
            </a:pPr>
            <a:r>
              <a:rPr lang="en-US" sz="1150" dirty="0">
                <a:solidFill>
                  <a:srgbClr val="33445C"/>
                </a:solidFill>
                <a:latin typeface="Calibri" pitchFamily="34" charset="0"/>
                <a:ea typeface="Calibri" pitchFamily="34" charset="-122"/>
                <a:cs typeface="Calibri" pitchFamily="34" charset="-120"/>
              </a:rPr>
              <a:t>Prediction intervals include τ²; ⚠ marks horizons beyond the observed history; seasonality needs 24 months</a:t>
            </a:r>
            <a:endParaRPr lang="en-US" sz="1150" dirty="0"/>
          </a:p>
          <a:p>
            <a:pPr marL="177800" indent="-177800">
              <a:spcAft>
                <a:spcPts val="500"/>
              </a:spcAft>
              <a:buSzPct val="100000"/>
              <a:buChar char="•"/>
            </a:pPr>
            <a:r>
              <a:rPr lang="en-US" sz="1150" dirty="0">
                <a:solidFill>
                  <a:srgbClr val="33445C"/>
                </a:solidFill>
                <a:latin typeface="Calibri" pitchFamily="34" charset="0"/>
                <a:ea typeface="Calibri" pitchFamily="34" charset="-122"/>
                <a:cs typeface="Calibri" pitchFamily="34" charset="-120"/>
              </a:rPr>
              <a:t>Validated: intervals covered the truth 96–100% on simulated series</a:t>
            </a:r>
            <a:endParaRPr lang="en-US" sz="1150" dirty="0"/>
          </a:p>
        </p:txBody>
      </p:sp>
      <p:sp>
        <p:nvSpPr>
          <p:cNvPr id="12" name="Text 9"/>
          <p:cNvSpPr txBox="1"/>
          <p:nvPr/>
        </p:nvSpPr>
        <p:spPr>
          <a:xfrm>
            <a:off x="10332720" y="6446520"/>
            <a:ext cx="1371600" cy="228600"/>
          </a:xfrm>
          <a:prstGeom prst="rect">
            <a:avLst/>
          </a:prstGeom>
          <a:noFill/>
          <a:ln/>
        </p:spPr>
        <p:txBody>
          <a:bodyPr wrap="square" lIns="0" tIns="0" rIns="0" bIns="0" rtlCol="0" anchor="ctr"/>
          <a:lstStyle/>
          <a:p>
            <a:pPr algn="r" indent="0" marL="0">
              <a:buNone/>
            </a:pPr>
            <a:r>
              <a:rPr lang="en-US" sz="900" dirty="0">
                <a:solidFill>
                  <a:srgbClr val="8A98AD"/>
                </a:solidFill>
                <a:latin typeface="Calibri" pitchFamily="34" charset="0"/>
                <a:ea typeface="Calibri" pitchFamily="34" charset="-122"/>
                <a:cs typeface="Calibri" pitchFamily="34" charset="-120"/>
              </a:rPr>
              <a:t>DMIS · 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3F6FA"/>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274320"/>
          </a:xfrm>
          <a:prstGeom prst="rect">
            <a:avLst/>
          </a:prstGeom>
          <a:noFill/>
          <a:ln/>
        </p:spPr>
        <p:txBody>
          <a:bodyPr wrap="square" lIns="0" tIns="0" rIns="0" bIns="0" rtlCol="0" anchor="ctr"/>
          <a:lstStyle/>
          <a:p>
            <a:pPr indent="0" marL="0">
              <a:buNone/>
            </a:pPr>
            <a:r>
              <a:rPr lang="en-US" sz="1100" b="1" spc="300" kern="0" dirty="0">
                <a:solidFill>
                  <a:srgbClr val="0B7FA3"/>
                </a:solidFill>
                <a:latin typeface="Calibri" pitchFamily="34" charset="0"/>
                <a:ea typeface="Calibri" pitchFamily="34" charset="-122"/>
                <a:cs typeface="Calibri" pitchFamily="34" charset="-120"/>
              </a:rPr>
              <a:t>MODULE · DECISIONS</a:t>
            </a:r>
            <a:endParaRPr lang="en-US" sz="1100" dirty="0"/>
          </a:p>
        </p:txBody>
      </p:sp>
      <p:sp>
        <p:nvSpPr>
          <p:cNvPr id="3" name="Text 1"/>
          <p:cNvSpPr txBox="1"/>
          <p:nvPr/>
        </p:nvSpPr>
        <p:spPr>
          <a:xfrm>
            <a:off x="548640" y="685800"/>
            <a:ext cx="11064240" cy="685800"/>
          </a:xfrm>
          <a:prstGeom prst="rect">
            <a:avLst/>
          </a:prstGeom>
          <a:noFill/>
          <a:ln/>
        </p:spPr>
        <p:txBody>
          <a:bodyPr wrap="square" lIns="0" tIns="0" rIns="0" bIns="0" rtlCol="0" anchor="ctr"/>
          <a:lstStyle/>
          <a:p>
            <a:pPr indent="0" marL="0">
              <a:buNone/>
            </a:pPr>
            <a:r>
              <a:rPr lang="en-US" sz="3200" b="1" dirty="0">
                <a:solidFill>
                  <a:srgbClr val="0F1B2D"/>
                </a:solidFill>
                <a:latin typeface="Cambria" pitchFamily="34" charset="0"/>
                <a:ea typeface="Cambria" pitchFamily="34" charset="-122"/>
                <a:cs typeface="Cambria" pitchFamily="34" charset="-120"/>
              </a:rPr>
              <a:t>Alerts &amp; Events — only significant changes</a:t>
            </a:r>
            <a:endParaRPr lang="en-US" sz="3200" dirty="0"/>
          </a:p>
        </p:txBody>
      </p:sp>
      <p:sp>
        <p:nvSpPr>
          <p:cNvPr id="4" name="Shape 2"/>
          <p:cNvSpPr/>
          <p:nvPr/>
        </p:nvSpPr>
        <p:spPr>
          <a:xfrm>
            <a:off x="493776" y="1545336"/>
            <a:ext cx="7013448" cy="4624914"/>
          </a:xfrm>
          <a:prstGeom prst="roundRect">
            <a:avLst>
              <a:gd name="adj" fmla="val 1582"/>
            </a:avLst>
          </a:prstGeom>
          <a:solidFill>
            <a:srgbClr val="D5DEEA"/>
          </a:solidFill>
          <a:ln w="12700">
            <a:solidFill>
              <a:srgbClr val="D5DEEA"/>
            </a:solidFill>
            <a:prstDash val="solid"/>
          </a:ln>
          <a:effectLst>
            <a:outerShdw sx="100000" sy="100000" kx="0" ky="0" algn="bl" rotWithShape="0" blurRad="101600" dist="38100" dir="5400000">
              <a:srgbClr val="000000">
                <a:alpha val="25000"/>
              </a:srgbClr>
            </a:outerShdw>
          </a:effectLst>
        </p:spPr>
      </p:sp>
      <p:pic>
        <p:nvPicPr>
          <p:cNvPr id="5" name="Image 0" descr="alerts.jpg">    </p:cNvPr>
          <p:cNvPicPr>
            <a:picLocks noChangeAspect="1"/>
          </p:cNvPicPr>
          <p:nvPr/>
        </p:nvPicPr>
        <p:blipFill>
          <a:blip r:embed="rId1"/>
          <a:stretch>
            <a:fillRect/>
          </a:stretch>
        </p:blipFill>
        <p:spPr>
          <a:xfrm>
            <a:off x="548640" y="1600200"/>
            <a:ext cx="6903720" cy="4515186"/>
          </a:xfrm>
          <a:prstGeom prst="rect">
            <a:avLst/>
          </a:prstGeom>
        </p:spPr>
      </p:pic>
      <p:sp>
        <p:nvSpPr>
          <p:cNvPr id="6" name="Text 3"/>
          <p:cNvSpPr txBox="1"/>
          <p:nvPr/>
        </p:nvSpPr>
        <p:spPr>
          <a:xfrm>
            <a:off x="548640" y="6225114"/>
            <a:ext cx="6903720" cy="228600"/>
          </a:xfrm>
          <a:prstGeom prst="rect">
            <a:avLst/>
          </a:prstGeom>
          <a:noFill/>
          <a:ln/>
        </p:spPr>
        <p:txBody>
          <a:bodyPr wrap="square" lIns="0" tIns="0" rIns="0" bIns="0" rtlCol="0" anchor="ctr"/>
          <a:lstStyle/>
          <a:p>
            <a:pPr indent="0" marL="0">
              <a:buNone/>
            </a:pPr>
            <a:r>
              <a:rPr lang="en-US" sz="1000" dirty="0">
                <a:solidFill>
                  <a:srgbClr val="6B7A90"/>
                </a:solidFill>
                <a:latin typeface="Courier New" pitchFamily="34" charset="0"/>
                <a:ea typeface="Courier New" pitchFamily="34" charset="-122"/>
                <a:cs typeface="Courier New" pitchFamily="34" charset="-120"/>
              </a:rPr>
              <a:t>/alerts</a:t>
            </a:r>
            <a:endParaRPr lang="en-US" sz="1000" dirty="0"/>
          </a:p>
        </p:txBody>
      </p:sp>
      <p:sp>
        <p:nvSpPr>
          <p:cNvPr id="7" name="Text 4"/>
          <p:cNvSpPr txBox="1"/>
          <p:nvPr/>
        </p:nvSpPr>
        <p:spPr>
          <a:xfrm>
            <a:off x="7818120" y="1600200"/>
            <a:ext cx="3840480" cy="256032"/>
          </a:xfrm>
          <a:prstGeom prst="rect">
            <a:avLst/>
          </a:prstGeom>
          <a:noFill/>
          <a:ln/>
        </p:spPr>
        <p:txBody>
          <a:bodyPr wrap="square" lIns="0" tIns="0" rIns="0" bIns="0" rtlCol="0" anchor="ctr"/>
          <a:lstStyle/>
          <a:p>
            <a:pPr indent="0" marL="0">
              <a:buNone/>
            </a:pPr>
            <a:r>
              <a:rPr lang="en-US" sz="1050" b="1" spc="200" kern="0" dirty="0">
                <a:solidFill>
                  <a:srgbClr val="0B7FA3"/>
                </a:solidFill>
                <a:latin typeface="Calibri" pitchFamily="34" charset="0"/>
                <a:ea typeface="Calibri" pitchFamily="34" charset="-122"/>
                <a:cs typeface="Calibri" pitchFamily="34" charset="-120"/>
              </a:rPr>
              <a:t>HOW IT WORKS</a:t>
            </a:r>
            <a:endParaRPr lang="en-US" sz="1050" dirty="0"/>
          </a:p>
        </p:txBody>
      </p:sp>
      <p:sp>
        <p:nvSpPr>
          <p:cNvPr id="8" name="Text 5"/>
          <p:cNvSpPr txBox="1"/>
          <p:nvPr/>
        </p:nvSpPr>
        <p:spPr>
          <a:xfrm>
            <a:off x="7818120" y="1901952"/>
            <a:ext cx="3840480" cy="214884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33445C"/>
                </a:solidFill>
                <a:latin typeface="Calibri" pitchFamily="34" charset="0"/>
                <a:ea typeface="Calibri" pitchFamily="34" charset="-122"/>
                <a:cs typeface="Calibri" pitchFamily="34" charset="-120"/>
              </a:rPr>
              <a:t>Each upload is compared with the market's previous state (size, brand shares, segment demand)</a:t>
            </a:r>
            <a:endParaRPr lang="en-US" sz="1250" dirty="0"/>
          </a:p>
          <a:p>
            <a:pPr marL="177800" indent="-177800">
              <a:spcAft>
                <a:spcPts val="500"/>
              </a:spcAft>
              <a:buSzPct val="100000"/>
              <a:buChar char="•"/>
            </a:pPr>
            <a:r>
              <a:rPr lang="en-US" sz="1250" dirty="0">
                <a:solidFill>
                  <a:srgbClr val="33445C"/>
                </a:solidFill>
                <a:latin typeface="Calibri" pitchFamily="34" charset="0"/>
                <a:ea typeface="Calibri" pitchFamily="34" charset="-122"/>
                <a:cs typeface="Calibri" pitchFamily="34" charset="-120"/>
              </a:rPr>
              <a:t>A change reaches the category owner only when it is statistically significant</a:t>
            </a:r>
            <a:endParaRPr lang="en-US" sz="1250" dirty="0"/>
          </a:p>
          <a:p>
            <a:pPr marL="177800" indent="-177800">
              <a:spcAft>
                <a:spcPts val="500"/>
              </a:spcAft>
              <a:buSzPct val="100000"/>
              <a:buChar char="•"/>
            </a:pPr>
            <a:r>
              <a:rPr lang="en-US" sz="1250" dirty="0">
                <a:solidFill>
                  <a:srgbClr val="33445C"/>
                </a:solidFill>
                <a:latin typeface="Calibri" pitchFamily="34" charset="0"/>
                <a:ea typeface="Calibri" pitchFamily="34" charset="-122"/>
                <a:cs typeface="Calibri" pitchFamily="34" charset="-120"/>
              </a:rPr>
              <a:t>Insignificant changes stay in the log as “info”; each event shows its test</a:t>
            </a:r>
            <a:endParaRPr lang="en-US" sz="1250" dirty="0"/>
          </a:p>
        </p:txBody>
      </p:sp>
      <p:sp>
        <p:nvSpPr>
          <p:cNvPr id="9" name="Text 6"/>
          <p:cNvSpPr txBox="1"/>
          <p:nvPr/>
        </p:nvSpPr>
        <p:spPr>
          <a:xfrm>
            <a:off x="7818120" y="4114800"/>
            <a:ext cx="3840480" cy="256032"/>
          </a:xfrm>
          <a:prstGeom prst="rect">
            <a:avLst/>
          </a:prstGeom>
          <a:noFill/>
          <a:ln/>
        </p:spPr>
        <p:txBody>
          <a:bodyPr wrap="square" lIns="0" tIns="0" rIns="0" bIns="0" rtlCol="0" anchor="ctr"/>
          <a:lstStyle/>
          <a:p>
            <a:pPr indent="0" marL="0">
              <a:buNone/>
            </a:pPr>
            <a:r>
              <a:rPr lang="en-US" sz="1050" b="1" spc="200" kern="0" dirty="0">
                <a:solidFill>
                  <a:srgbClr val="B7791F"/>
                </a:solidFill>
                <a:latin typeface="Calibri" pitchFamily="34" charset="0"/>
                <a:ea typeface="Calibri" pitchFamily="34" charset="-122"/>
                <a:cs typeface="Calibri" pitchFamily="34" charset="-120"/>
              </a:rPr>
              <a:t>IN DEPTH</a:t>
            </a:r>
            <a:endParaRPr lang="en-US" sz="1050" dirty="0"/>
          </a:p>
        </p:txBody>
      </p:sp>
      <p:sp>
        <p:nvSpPr>
          <p:cNvPr id="10" name="Text 7"/>
          <p:cNvSpPr txBox="1"/>
          <p:nvPr/>
        </p:nvSpPr>
        <p:spPr>
          <a:xfrm>
            <a:off x="7818120" y="4416552"/>
            <a:ext cx="3840480" cy="1920240"/>
          </a:xfrm>
          <a:prstGeom prst="rect">
            <a:avLst/>
          </a:prstGeom>
          <a:noFill/>
          <a:ln/>
        </p:spPr>
        <p:txBody>
          <a:bodyPr wrap="square" lIns="0" tIns="0" rIns="0" bIns="0" rtlCol="0" anchor="t"/>
          <a:lstStyle/>
          <a:p>
            <a:pPr marL="177800" indent="-177800">
              <a:buSzPct val="100000"/>
              <a:buChar char="•"/>
            </a:pPr>
            <a:r>
              <a:rPr lang="en-US" sz="1150" b="1" dirty="0">
                <a:solidFill>
                  <a:srgbClr val="0F1B2D"/>
                </a:solidFill>
                <a:latin typeface="Calibri" pitchFamily="34" charset="0"/>
                <a:ea typeface="Calibri" pitchFamily="34" charset="-122"/>
                <a:cs typeface="Calibri" pitchFamily="34" charset="-120"/>
              </a:rPr>
              <a:t>Test: </a:t>
            </a:r>
            <a:pPr indent="0" marL="0">
              <a:spcAft>
                <a:spcPts val="500"/>
              </a:spcAft>
              <a:buNone/>
            </a:pPr>
            <a:r>
              <a:rPr lang="en-US" sz="1150" dirty="0">
                <a:solidFill>
                  <a:srgbClr val="33445C"/>
                </a:solidFill>
                <a:latin typeface="Calibri" pitchFamily="34" charset="0"/>
                <a:ea typeface="Calibri" pitchFamily="34" charset="-122"/>
                <a:cs typeface="Calibri" pitchFamily="34" charset="-120"/>
              </a:rPr>
              <a:t>z = (log after − log before) / √(se₁² + se₂²), se from each 95% interval</a:t>
            </a:r>
            <a:endParaRPr lang="en-US" sz="1150" dirty="0"/>
          </a:p>
          <a:p>
            <a:pPr marL="177800" indent="-177800">
              <a:buSzPct val="100000"/>
              <a:buChar char="•"/>
            </a:pPr>
            <a:r>
              <a:rPr lang="en-US" sz="1150" b="1" dirty="0">
                <a:solidFill>
                  <a:srgbClr val="0F1B2D"/>
                </a:solidFill>
                <a:latin typeface="Calibri" pitchFamily="34" charset="0"/>
                <a:ea typeface="Calibri" pitchFamily="34" charset="-122"/>
                <a:cs typeface="Calibri" pitchFamily="34" charset="-120"/>
              </a:rPr>
              <a:t>Multiplicity: </a:t>
            </a:r>
            <a:pPr indent="0" marL="0">
              <a:spcAft>
                <a:spcPts val="500"/>
              </a:spcAft>
              <a:buNone/>
            </a:pPr>
            <a:r>
              <a:rPr lang="en-US" sz="1150" dirty="0">
                <a:solidFill>
                  <a:srgbClr val="33445C"/>
                </a:solidFill>
                <a:latin typeface="Calibri" pitchFamily="34" charset="0"/>
                <a:ea typeface="Calibri" pitchFamily="34" charset="-122"/>
                <a:cs typeface="Calibri" pitchFamily="34" charset="-120"/>
              </a:rPr>
              <a:t>Benjamini–Hochberg across the run; q ≤ 0.05 is significant</a:t>
            </a:r>
            <a:endParaRPr lang="en-US" sz="1150" dirty="0"/>
          </a:p>
          <a:p>
            <a:pPr marL="177800" indent="-177800">
              <a:buSzPct val="100000"/>
              <a:buChar char="•"/>
            </a:pPr>
            <a:r>
              <a:rPr lang="en-US" sz="1150" b="1" dirty="0">
                <a:solidFill>
                  <a:srgbClr val="0F1B2D"/>
                </a:solidFill>
                <a:latin typeface="Calibri" pitchFamily="34" charset="0"/>
                <a:ea typeface="Calibri" pitchFamily="34" charset="-122"/>
                <a:cs typeface="Calibri" pitchFamily="34" charset="-120"/>
              </a:rPr>
              <a:t>Routing: </a:t>
            </a:r>
            <a:pPr indent="0" marL="0">
              <a:spcAft>
                <a:spcPts val="500"/>
              </a:spcAft>
              <a:buNone/>
            </a:pPr>
            <a:r>
              <a:rPr lang="en-US" sz="1150" dirty="0">
                <a:solidFill>
                  <a:srgbClr val="33445C"/>
                </a:solidFill>
                <a:latin typeface="Calibri" pitchFamily="34" charset="0"/>
                <a:ea typeface="Calibri" pitchFamily="34" charset="-122"/>
                <a:cs typeface="Calibri" pitchFamily="34" charset="-120"/>
              </a:rPr>
              <a:t>alerts go to owners from employee ↔ category ownership</a:t>
            </a:r>
            <a:endParaRPr lang="en-US" sz="1150" dirty="0"/>
          </a:p>
        </p:txBody>
      </p:sp>
      <p:sp>
        <p:nvSpPr>
          <p:cNvPr id="11" name="Text 8"/>
          <p:cNvSpPr txBox="1"/>
          <p:nvPr/>
        </p:nvSpPr>
        <p:spPr>
          <a:xfrm>
            <a:off x="10332720" y="6446520"/>
            <a:ext cx="1371600" cy="228600"/>
          </a:xfrm>
          <a:prstGeom prst="rect">
            <a:avLst/>
          </a:prstGeom>
          <a:noFill/>
          <a:ln/>
        </p:spPr>
        <p:txBody>
          <a:bodyPr wrap="square" lIns="0" tIns="0" rIns="0" bIns="0" rtlCol="0" anchor="ctr"/>
          <a:lstStyle/>
          <a:p>
            <a:pPr algn="r" indent="0" marL="0">
              <a:buNone/>
            </a:pPr>
            <a:r>
              <a:rPr lang="en-US" sz="900" dirty="0">
                <a:solidFill>
                  <a:srgbClr val="8A98AD"/>
                </a:solidFill>
                <a:latin typeface="Calibri" pitchFamily="34" charset="0"/>
                <a:ea typeface="Calibri" pitchFamily="34" charset="-122"/>
                <a:cs typeface="Calibri" pitchFamily="34" charset="-120"/>
              </a:rPr>
              <a:t>DMIS · 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3F6FA"/>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274320"/>
          </a:xfrm>
          <a:prstGeom prst="rect">
            <a:avLst/>
          </a:prstGeom>
          <a:noFill/>
          <a:ln/>
        </p:spPr>
        <p:txBody>
          <a:bodyPr wrap="square" lIns="0" tIns="0" rIns="0" bIns="0" rtlCol="0" anchor="ctr"/>
          <a:lstStyle/>
          <a:p>
            <a:pPr indent="0" marL="0">
              <a:buNone/>
            </a:pPr>
            <a:r>
              <a:rPr lang="en-US" sz="1100" b="1" spc="300" kern="0" dirty="0">
                <a:solidFill>
                  <a:srgbClr val="0B7FA3"/>
                </a:solidFill>
                <a:latin typeface="Calibri" pitchFamily="34" charset="0"/>
                <a:ea typeface="Calibri" pitchFamily="34" charset="-122"/>
                <a:cs typeface="Calibri" pitchFamily="34" charset="-120"/>
              </a:rPr>
              <a:t>MODULE · WORKFLOW</a:t>
            </a:r>
            <a:endParaRPr lang="en-US" sz="1100" dirty="0"/>
          </a:p>
        </p:txBody>
      </p:sp>
      <p:sp>
        <p:nvSpPr>
          <p:cNvPr id="3" name="Text 1"/>
          <p:cNvSpPr txBox="1"/>
          <p:nvPr/>
        </p:nvSpPr>
        <p:spPr>
          <a:xfrm>
            <a:off x="548640" y="685800"/>
            <a:ext cx="11064240" cy="685800"/>
          </a:xfrm>
          <a:prstGeom prst="rect">
            <a:avLst/>
          </a:prstGeom>
          <a:noFill/>
          <a:ln/>
        </p:spPr>
        <p:txBody>
          <a:bodyPr wrap="square" lIns="0" tIns="0" rIns="0" bIns="0" rtlCol="0" anchor="ctr"/>
          <a:lstStyle/>
          <a:p>
            <a:pPr indent="0" marL="0">
              <a:buNone/>
            </a:pPr>
            <a:r>
              <a:rPr lang="en-US" sz="3200" b="1" dirty="0">
                <a:solidFill>
                  <a:srgbClr val="0F1B2D"/>
                </a:solidFill>
                <a:latin typeface="Cambria" pitchFamily="34" charset="0"/>
                <a:ea typeface="Cambria" pitchFamily="34" charset="-122"/>
                <a:cs typeface="Cambria" pitchFamily="34" charset="-120"/>
              </a:rPr>
              <a:t>Product page — one product in context</a:t>
            </a:r>
            <a:endParaRPr lang="en-US" sz="3200" dirty="0"/>
          </a:p>
        </p:txBody>
      </p:sp>
      <p:sp>
        <p:nvSpPr>
          <p:cNvPr id="4" name="Shape 2"/>
          <p:cNvSpPr/>
          <p:nvPr/>
        </p:nvSpPr>
        <p:spPr>
          <a:xfrm>
            <a:off x="493776" y="1545336"/>
            <a:ext cx="7013448" cy="4624914"/>
          </a:xfrm>
          <a:prstGeom prst="roundRect">
            <a:avLst>
              <a:gd name="adj" fmla="val 1582"/>
            </a:avLst>
          </a:prstGeom>
          <a:solidFill>
            <a:srgbClr val="D5DEEA"/>
          </a:solidFill>
          <a:ln w="12700">
            <a:solidFill>
              <a:srgbClr val="D5DEEA"/>
            </a:solidFill>
            <a:prstDash val="solid"/>
          </a:ln>
          <a:effectLst>
            <a:outerShdw sx="100000" sy="100000" kx="0" ky="0" algn="bl" rotWithShape="0" blurRad="101600" dist="38100" dir="5400000">
              <a:srgbClr val="000000">
                <a:alpha val="25000"/>
              </a:srgbClr>
            </a:outerShdw>
          </a:effectLst>
        </p:spPr>
      </p:sp>
      <p:pic>
        <p:nvPicPr>
          <p:cNvPr id="5" name="Image 0" descr="product.jpg">    </p:cNvPr>
          <p:cNvPicPr>
            <a:picLocks noChangeAspect="1"/>
          </p:cNvPicPr>
          <p:nvPr/>
        </p:nvPicPr>
        <p:blipFill>
          <a:blip r:embed="rId1"/>
          <a:stretch>
            <a:fillRect/>
          </a:stretch>
        </p:blipFill>
        <p:spPr>
          <a:xfrm>
            <a:off x="548640" y="1600200"/>
            <a:ext cx="6903720" cy="4515186"/>
          </a:xfrm>
          <a:prstGeom prst="rect">
            <a:avLst/>
          </a:prstGeom>
        </p:spPr>
      </p:pic>
      <p:sp>
        <p:nvSpPr>
          <p:cNvPr id="6" name="Text 3"/>
          <p:cNvSpPr txBox="1"/>
          <p:nvPr/>
        </p:nvSpPr>
        <p:spPr>
          <a:xfrm>
            <a:off x="548640" y="6225114"/>
            <a:ext cx="6903720" cy="228600"/>
          </a:xfrm>
          <a:prstGeom prst="rect">
            <a:avLst/>
          </a:prstGeom>
          <a:noFill/>
          <a:ln/>
        </p:spPr>
        <p:txBody>
          <a:bodyPr wrap="square" lIns="0" tIns="0" rIns="0" bIns="0" rtlCol="0" anchor="ctr"/>
          <a:lstStyle/>
          <a:p>
            <a:pPr indent="0" marL="0">
              <a:buNone/>
            </a:pPr>
            <a:r>
              <a:rPr lang="en-US" sz="1000" dirty="0">
                <a:solidFill>
                  <a:srgbClr val="6B7A90"/>
                </a:solidFill>
                <a:latin typeface="Courier New" pitchFamily="34" charset="0"/>
                <a:ea typeface="Courier New" pitchFamily="34" charset="-122"/>
                <a:cs typeface="Courier New" pitchFamily="34" charset="-120"/>
              </a:rPr>
              <a:t>/products/{id}</a:t>
            </a:r>
            <a:endParaRPr lang="en-US" sz="1000" dirty="0"/>
          </a:p>
        </p:txBody>
      </p:sp>
      <p:sp>
        <p:nvSpPr>
          <p:cNvPr id="7" name="Text 4"/>
          <p:cNvSpPr txBox="1"/>
          <p:nvPr/>
        </p:nvSpPr>
        <p:spPr>
          <a:xfrm>
            <a:off x="7818120" y="1600200"/>
            <a:ext cx="3840480" cy="256032"/>
          </a:xfrm>
          <a:prstGeom prst="rect">
            <a:avLst/>
          </a:prstGeom>
          <a:noFill/>
          <a:ln/>
        </p:spPr>
        <p:txBody>
          <a:bodyPr wrap="square" lIns="0" tIns="0" rIns="0" bIns="0" rtlCol="0" anchor="ctr"/>
          <a:lstStyle/>
          <a:p>
            <a:pPr indent="0" marL="0">
              <a:buNone/>
            </a:pPr>
            <a:r>
              <a:rPr lang="en-US" sz="1050" b="1" spc="200" kern="0" dirty="0">
                <a:solidFill>
                  <a:srgbClr val="0B7FA3"/>
                </a:solidFill>
                <a:latin typeface="Calibri" pitchFamily="34" charset="0"/>
                <a:ea typeface="Calibri" pitchFamily="34" charset="-122"/>
                <a:cs typeface="Calibri" pitchFamily="34" charset="-120"/>
              </a:rPr>
              <a:t>HOW IT WORKS</a:t>
            </a:r>
            <a:endParaRPr lang="en-US" sz="1050" dirty="0"/>
          </a:p>
        </p:txBody>
      </p:sp>
      <p:sp>
        <p:nvSpPr>
          <p:cNvPr id="8" name="Text 5"/>
          <p:cNvSpPr txBox="1"/>
          <p:nvPr/>
        </p:nvSpPr>
        <p:spPr>
          <a:xfrm>
            <a:off x="7818120" y="1901952"/>
            <a:ext cx="3840480" cy="214884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33445C"/>
                </a:solidFill>
                <a:latin typeface="Calibri" pitchFamily="34" charset="0"/>
                <a:ea typeface="Calibri" pitchFamily="34" charset="-122"/>
                <a:cs typeface="Calibri" pitchFamily="34" charset="-120"/>
              </a:rPr>
              <a:t>Estimates with intervals; opportunity index and its breakdown</a:t>
            </a:r>
            <a:endParaRPr lang="en-US" sz="1250" dirty="0"/>
          </a:p>
          <a:p>
            <a:pPr marL="177800" indent="-177800">
              <a:spcAft>
                <a:spcPts val="500"/>
              </a:spcAft>
              <a:buSzPct val="100000"/>
              <a:buChar char="•"/>
            </a:pPr>
            <a:r>
              <a:rPr lang="en-US" sz="1250" dirty="0">
                <a:solidFill>
                  <a:srgbClr val="33445C"/>
                </a:solidFill>
                <a:latin typeface="Calibri" pitchFamily="34" charset="0"/>
                <a:ea typeface="Calibri" pitchFamily="34" charset="-122"/>
                <a:cs typeface="Calibri" pitchFamily="34" charset="-120"/>
              </a:rPr>
              <a:t>Position in its sub-category: percentiles for price, units, revenue, rating + a peer scatter</a:t>
            </a:r>
            <a:endParaRPr lang="en-US" sz="1250" dirty="0"/>
          </a:p>
          <a:p>
            <a:pPr marL="177800" indent="-177800">
              <a:spcAft>
                <a:spcPts val="500"/>
              </a:spcAft>
              <a:buSzPct val="100000"/>
              <a:buChar char="•"/>
            </a:pPr>
            <a:r>
              <a:rPr lang="en-US" sz="1250" dirty="0">
                <a:solidFill>
                  <a:srgbClr val="33445C"/>
                </a:solidFill>
                <a:latin typeface="Calibri" pitchFamily="34" charset="0"/>
                <a:ea typeface="Calibri" pitchFamily="34" charset="-122"/>
                <a:cs typeface="Calibri" pitchFamily="34" charset="-120"/>
              </a:rPr>
              <a:t>“Simulate a launch like this” opens the simulator pre-filled</a:t>
            </a:r>
            <a:endParaRPr lang="en-US" sz="1250" dirty="0"/>
          </a:p>
        </p:txBody>
      </p:sp>
      <p:sp>
        <p:nvSpPr>
          <p:cNvPr id="9" name="Text 6"/>
          <p:cNvSpPr txBox="1"/>
          <p:nvPr/>
        </p:nvSpPr>
        <p:spPr>
          <a:xfrm>
            <a:off x="7818120" y="4114800"/>
            <a:ext cx="3840480" cy="256032"/>
          </a:xfrm>
          <a:prstGeom prst="rect">
            <a:avLst/>
          </a:prstGeom>
          <a:noFill/>
          <a:ln/>
        </p:spPr>
        <p:txBody>
          <a:bodyPr wrap="square" lIns="0" tIns="0" rIns="0" bIns="0" rtlCol="0" anchor="ctr"/>
          <a:lstStyle/>
          <a:p>
            <a:pPr indent="0" marL="0">
              <a:buNone/>
            </a:pPr>
            <a:r>
              <a:rPr lang="en-US" sz="1050" b="1" spc="200" kern="0" dirty="0">
                <a:solidFill>
                  <a:srgbClr val="B7791F"/>
                </a:solidFill>
                <a:latin typeface="Calibri" pitchFamily="34" charset="0"/>
                <a:ea typeface="Calibri" pitchFamily="34" charset="-122"/>
                <a:cs typeface="Calibri" pitchFamily="34" charset="-120"/>
              </a:rPr>
              <a:t>IN DEPTH</a:t>
            </a:r>
            <a:endParaRPr lang="en-US" sz="1050" dirty="0"/>
          </a:p>
        </p:txBody>
      </p:sp>
      <p:sp>
        <p:nvSpPr>
          <p:cNvPr id="10" name="Text 7"/>
          <p:cNvSpPr txBox="1"/>
          <p:nvPr/>
        </p:nvSpPr>
        <p:spPr>
          <a:xfrm>
            <a:off x="7818120" y="4416552"/>
            <a:ext cx="3840480" cy="1920240"/>
          </a:xfrm>
          <a:prstGeom prst="rect">
            <a:avLst/>
          </a:prstGeom>
          <a:noFill/>
          <a:ln/>
        </p:spPr>
        <p:txBody>
          <a:bodyPr wrap="square" lIns="0" tIns="0" rIns="0" bIns="0" rtlCol="0" anchor="t"/>
          <a:lstStyle/>
          <a:p>
            <a:pPr marL="177800" indent="-177800">
              <a:buSzPct val="100000"/>
              <a:buChar char="•"/>
            </a:pPr>
            <a:r>
              <a:rPr lang="en-US" sz="1150" b="1" dirty="0">
                <a:solidFill>
                  <a:srgbClr val="0F1B2D"/>
                </a:solidFill>
                <a:latin typeface="Calibri" pitchFamily="34" charset="0"/>
                <a:ea typeface="Calibri" pitchFamily="34" charset="-122"/>
                <a:cs typeface="Calibri" pitchFamily="34" charset="-120"/>
              </a:rPr>
              <a:t>Percentile: </a:t>
            </a:r>
            <a:pPr indent="0" marL="0">
              <a:spcAft>
                <a:spcPts val="500"/>
              </a:spcAft>
              <a:buNone/>
            </a:pPr>
            <a:r>
              <a:rPr lang="en-US" sz="1150" dirty="0">
                <a:solidFill>
                  <a:srgbClr val="33445C"/>
                </a:solidFill>
                <a:latin typeface="Calibri" pitchFamily="34" charset="0"/>
                <a:ea typeface="Calibri" pitchFamily="34" charset="-122"/>
                <a:cs typeface="Calibri" pitchFamily="34" charset="-120"/>
              </a:rPr>
              <a:t>(peers below + ½ tied) ÷ peers — mid-rank</a:t>
            </a:r>
            <a:endParaRPr lang="en-US" sz="1150" dirty="0"/>
          </a:p>
          <a:p>
            <a:pPr marL="177800" indent="-177800">
              <a:buSzPct val="100000"/>
              <a:buChar char="•"/>
            </a:pPr>
            <a:r>
              <a:rPr lang="en-US" sz="1150" b="1" dirty="0">
                <a:solidFill>
                  <a:srgbClr val="0F1B2D"/>
                </a:solidFill>
                <a:latin typeface="Calibri" pitchFamily="34" charset="0"/>
                <a:ea typeface="Calibri" pitchFamily="34" charset="-122"/>
                <a:cs typeface="Calibri" pitchFamily="34" charset="-120"/>
              </a:rPr>
              <a:t>Data confidence: </a:t>
            </a:r>
            <a:pPr indent="0" marL="0">
              <a:spcAft>
                <a:spcPts val="500"/>
              </a:spcAft>
              <a:buNone/>
            </a:pPr>
            <a:r>
              <a:rPr lang="en-US" sz="1150" dirty="0">
                <a:solidFill>
                  <a:srgbClr val="33445C"/>
                </a:solidFill>
                <a:latin typeface="Calibri" pitchFamily="34" charset="0"/>
                <a:ea typeface="Calibri" pitchFamily="34" charset="-122"/>
                <a:cs typeface="Calibri" pitchFamily="34" charset="-120"/>
              </a:rPr>
              <a:t>source reliability + completeness + verification + historical consistency</a:t>
            </a:r>
            <a:endParaRPr lang="en-US" sz="1150" dirty="0"/>
          </a:p>
          <a:p>
            <a:pPr marL="177800" indent="-177800">
              <a:buSzPct val="100000"/>
              <a:buChar char="•"/>
            </a:pPr>
            <a:r>
              <a:rPr lang="en-US" sz="1150" b="1" dirty="0">
                <a:solidFill>
                  <a:srgbClr val="0F1B2D"/>
                </a:solidFill>
                <a:latin typeface="Calibri" pitchFamily="34" charset="0"/>
                <a:ea typeface="Calibri" pitchFamily="34" charset="-122"/>
                <a:cs typeface="Calibri" pitchFamily="34" charset="-120"/>
              </a:rPr>
              <a:t>Listing ≠ product: </a:t>
            </a:r>
            <a:pPr indent="0" marL="0">
              <a:spcAft>
                <a:spcPts val="500"/>
              </a:spcAft>
              <a:buNone/>
            </a:pPr>
            <a:r>
              <a:rPr lang="en-US" sz="1150" dirty="0">
                <a:solidFill>
                  <a:srgbClr val="33445C"/>
                </a:solidFill>
                <a:latin typeface="Calibri" pitchFamily="34" charset="0"/>
                <a:ea typeface="Calibri" pitchFamily="34" charset="-122"/>
                <a:cs typeface="Calibri" pitchFamily="34" charset="-120"/>
              </a:rPr>
              <a:t>every listing of the product with how its sales were observed</a:t>
            </a:r>
            <a:endParaRPr lang="en-US" sz="1150" dirty="0"/>
          </a:p>
        </p:txBody>
      </p:sp>
      <p:sp>
        <p:nvSpPr>
          <p:cNvPr id="11" name="Text 8"/>
          <p:cNvSpPr txBox="1"/>
          <p:nvPr/>
        </p:nvSpPr>
        <p:spPr>
          <a:xfrm>
            <a:off x="10332720" y="6446520"/>
            <a:ext cx="1371600" cy="228600"/>
          </a:xfrm>
          <a:prstGeom prst="rect">
            <a:avLst/>
          </a:prstGeom>
          <a:noFill/>
          <a:ln/>
        </p:spPr>
        <p:txBody>
          <a:bodyPr wrap="square" lIns="0" tIns="0" rIns="0" bIns="0" rtlCol="0" anchor="ctr"/>
          <a:lstStyle/>
          <a:p>
            <a:pPr algn="r" indent="0" marL="0">
              <a:buNone/>
            </a:pPr>
            <a:r>
              <a:rPr lang="en-US" sz="900" dirty="0">
                <a:solidFill>
                  <a:srgbClr val="8A98AD"/>
                </a:solidFill>
                <a:latin typeface="Calibri" pitchFamily="34" charset="0"/>
                <a:ea typeface="Calibri" pitchFamily="34" charset="-122"/>
                <a:cs typeface="Calibri" pitchFamily="34" charset="-120"/>
              </a:rPr>
              <a:t>DMIS · 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3F6FA"/>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274320"/>
          </a:xfrm>
          <a:prstGeom prst="rect">
            <a:avLst/>
          </a:prstGeom>
          <a:noFill/>
          <a:ln/>
        </p:spPr>
        <p:txBody>
          <a:bodyPr wrap="square" lIns="0" tIns="0" rIns="0" bIns="0" rtlCol="0" anchor="ctr"/>
          <a:lstStyle/>
          <a:p>
            <a:pPr indent="0" marL="0">
              <a:buNone/>
            </a:pPr>
            <a:r>
              <a:rPr lang="en-US" sz="1100" b="1" spc="300" kern="0" dirty="0">
                <a:solidFill>
                  <a:srgbClr val="0B7FA3"/>
                </a:solidFill>
                <a:latin typeface="Calibri" pitchFamily="34" charset="0"/>
                <a:ea typeface="Calibri" pitchFamily="34" charset="-122"/>
                <a:cs typeface="Calibri" pitchFamily="34" charset="-120"/>
              </a:rPr>
              <a:t>MODULE · WORKFLOW</a:t>
            </a:r>
            <a:endParaRPr lang="en-US" sz="1100" dirty="0"/>
          </a:p>
        </p:txBody>
      </p:sp>
      <p:sp>
        <p:nvSpPr>
          <p:cNvPr id="3" name="Text 1"/>
          <p:cNvSpPr txBox="1"/>
          <p:nvPr/>
        </p:nvSpPr>
        <p:spPr>
          <a:xfrm>
            <a:off x="548640" y="685800"/>
            <a:ext cx="11064240" cy="685800"/>
          </a:xfrm>
          <a:prstGeom prst="rect">
            <a:avLst/>
          </a:prstGeom>
          <a:noFill/>
          <a:ln/>
        </p:spPr>
        <p:txBody>
          <a:bodyPr wrap="square" lIns="0" tIns="0" rIns="0" bIns="0" rtlCol="0" anchor="ctr"/>
          <a:lstStyle/>
          <a:p>
            <a:pPr indent="0" marL="0">
              <a:buNone/>
            </a:pPr>
            <a:r>
              <a:rPr lang="en-US" sz="3200" b="1" dirty="0">
                <a:solidFill>
                  <a:srgbClr val="0F1B2D"/>
                </a:solidFill>
                <a:latin typeface="Cambria" pitchFamily="34" charset="0"/>
                <a:ea typeface="Cambria" pitchFamily="34" charset="-122"/>
                <a:cs typeface="Cambria" pitchFamily="34" charset="-120"/>
              </a:rPr>
              <a:t>Product Pipeline — from idea to launch</a:t>
            </a:r>
            <a:endParaRPr lang="en-US" sz="3200" dirty="0"/>
          </a:p>
        </p:txBody>
      </p:sp>
      <p:sp>
        <p:nvSpPr>
          <p:cNvPr id="4" name="Shape 2"/>
          <p:cNvSpPr/>
          <p:nvPr/>
        </p:nvSpPr>
        <p:spPr>
          <a:xfrm>
            <a:off x="493776" y="1545336"/>
            <a:ext cx="7013448" cy="4624914"/>
          </a:xfrm>
          <a:prstGeom prst="roundRect">
            <a:avLst>
              <a:gd name="adj" fmla="val 1582"/>
            </a:avLst>
          </a:prstGeom>
          <a:solidFill>
            <a:srgbClr val="D5DEEA"/>
          </a:solidFill>
          <a:ln w="12700">
            <a:solidFill>
              <a:srgbClr val="D5DEEA"/>
            </a:solidFill>
            <a:prstDash val="solid"/>
          </a:ln>
          <a:effectLst>
            <a:outerShdw sx="100000" sy="100000" kx="0" ky="0" algn="bl" rotWithShape="0" blurRad="101600" dist="38100" dir="5400000">
              <a:srgbClr val="000000">
                <a:alpha val="25000"/>
              </a:srgbClr>
            </a:outerShdw>
          </a:effectLst>
        </p:spPr>
      </p:sp>
      <p:pic>
        <p:nvPicPr>
          <p:cNvPr id="5" name="Image 0" descr="projects.jpg">    </p:cNvPr>
          <p:cNvPicPr>
            <a:picLocks noChangeAspect="1"/>
          </p:cNvPicPr>
          <p:nvPr/>
        </p:nvPicPr>
        <p:blipFill>
          <a:blip r:embed="rId1"/>
          <a:stretch>
            <a:fillRect/>
          </a:stretch>
        </p:blipFill>
        <p:spPr>
          <a:xfrm>
            <a:off x="548640" y="1600200"/>
            <a:ext cx="6903720" cy="4515186"/>
          </a:xfrm>
          <a:prstGeom prst="rect">
            <a:avLst/>
          </a:prstGeom>
        </p:spPr>
      </p:pic>
      <p:sp>
        <p:nvSpPr>
          <p:cNvPr id="6" name="Text 3"/>
          <p:cNvSpPr txBox="1"/>
          <p:nvPr/>
        </p:nvSpPr>
        <p:spPr>
          <a:xfrm>
            <a:off x="548640" y="6225114"/>
            <a:ext cx="6903720" cy="228600"/>
          </a:xfrm>
          <a:prstGeom prst="rect">
            <a:avLst/>
          </a:prstGeom>
          <a:noFill/>
          <a:ln/>
        </p:spPr>
        <p:txBody>
          <a:bodyPr wrap="square" lIns="0" tIns="0" rIns="0" bIns="0" rtlCol="0" anchor="ctr"/>
          <a:lstStyle/>
          <a:p>
            <a:pPr indent="0" marL="0">
              <a:buNone/>
            </a:pPr>
            <a:r>
              <a:rPr lang="en-US" sz="1000" dirty="0">
                <a:solidFill>
                  <a:srgbClr val="6B7A90"/>
                </a:solidFill>
                <a:latin typeface="Courier New" pitchFamily="34" charset="0"/>
                <a:ea typeface="Courier New" pitchFamily="34" charset="-122"/>
                <a:cs typeface="Courier New" pitchFamily="34" charset="-120"/>
              </a:rPr>
              <a:t>/projects</a:t>
            </a:r>
            <a:endParaRPr lang="en-US" sz="1000" dirty="0"/>
          </a:p>
        </p:txBody>
      </p:sp>
      <p:sp>
        <p:nvSpPr>
          <p:cNvPr id="7" name="Text 4"/>
          <p:cNvSpPr txBox="1"/>
          <p:nvPr/>
        </p:nvSpPr>
        <p:spPr>
          <a:xfrm>
            <a:off x="7818120" y="1600200"/>
            <a:ext cx="3840480" cy="256032"/>
          </a:xfrm>
          <a:prstGeom prst="rect">
            <a:avLst/>
          </a:prstGeom>
          <a:noFill/>
          <a:ln/>
        </p:spPr>
        <p:txBody>
          <a:bodyPr wrap="square" lIns="0" tIns="0" rIns="0" bIns="0" rtlCol="0" anchor="ctr"/>
          <a:lstStyle/>
          <a:p>
            <a:pPr indent="0" marL="0">
              <a:buNone/>
            </a:pPr>
            <a:r>
              <a:rPr lang="en-US" sz="1050" b="1" spc="200" kern="0" dirty="0">
                <a:solidFill>
                  <a:srgbClr val="0B7FA3"/>
                </a:solidFill>
                <a:latin typeface="Calibri" pitchFamily="34" charset="0"/>
                <a:ea typeface="Calibri" pitchFamily="34" charset="-122"/>
                <a:cs typeface="Calibri" pitchFamily="34" charset="-120"/>
              </a:rPr>
              <a:t>HOW IT WORKS</a:t>
            </a:r>
            <a:endParaRPr lang="en-US" sz="1050" dirty="0"/>
          </a:p>
        </p:txBody>
      </p:sp>
      <p:sp>
        <p:nvSpPr>
          <p:cNvPr id="8" name="Text 5"/>
          <p:cNvSpPr txBox="1"/>
          <p:nvPr/>
        </p:nvSpPr>
        <p:spPr>
          <a:xfrm>
            <a:off x="7818120" y="1901952"/>
            <a:ext cx="3840480" cy="214884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33445C"/>
                </a:solidFill>
                <a:latin typeface="Calibri" pitchFamily="34" charset="0"/>
                <a:ea typeface="Calibri" pitchFamily="34" charset="-122"/>
                <a:cs typeface="Calibri" pitchFamily="34" charset="-120"/>
              </a:rPr>
              <a:t>Stages: opportunity → evaluation → supplier search → prototype → launch decision → launched</a:t>
            </a:r>
            <a:endParaRPr lang="en-US" sz="1250" dirty="0"/>
          </a:p>
          <a:p>
            <a:pPr marL="177800" indent="-177800">
              <a:spcAft>
                <a:spcPts val="500"/>
              </a:spcAft>
              <a:buSzPct val="100000"/>
              <a:buChar char="•"/>
            </a:pPr>
            <a:r>
              <a:rPr lang="en-US" sz="1250" dirty="0">
                <a:solidFill>
                  <a:srgbClr val="33445C"/>
                </a:solidFill>
                <a:latin typeface="Calibri" pitchFamily="34" charset="0"/>
                <a:ea typeface="Calibri" pitchFamily="34" charset="-122"/>
                <a:cs typeface="Calibri" pitchFamily="34" charset="-120"/>
              </a:rPr>
              <a:t>Manager approval gates the launch decision; every change is audited</a:t>
            </a:r>
            <a:endParaRPr lang="en-US" sz="1250" dirty="0"/>
          </a:p>
          <a:p>
            <a:pPr marL="177800" indent="-177800">
              <a:spcAft>
                <a:spcPts val="500"/>
              </a:spcAft>
              <a:buSzPct val="100000"/>
              <a:buChar char="•"/>
            </a:pPr>
            <a:r>
              <a:rPr lang="en-US" sz="1250" dirty="0">
                <a:solidFill>
                  <a:srgbClr val="33445C"/>
                </a:solidFill>
                <a:latin typeface="Calibri" pitchFamily="34" charset="0"/>
                <a:ea typeface="Calibri" pitchFamily="34" charset="-122"/>
                <a:cs typeface="Calibri" pitchFamily="34" charset="-120"/>
              </a:rPr>
              <a:t>After launch, add the listing IDs: actual sales are checked against the prediction</a:t>
            </a:r>
            <a:endParaRPr lang="en-US" sz="1250" dirty="0"/>
          </a:p>
        </p:txBody>
      </p:sp>
      <p:sp>
        <p:nvSpPr>
          <p:cNvPr id="9" name="Text 6"/>
          <p:cNvSpPr txBox="1"/>
          <p:nvPr/>
        </p:nvSpPr>
        <p:spPr>
          <a:xfrm>
            <a:off x="7818120" y="4114800"/>
            <a:ext cx="3840480" cy="256032"/>
          </a:xfrm>
          <a:prstGeom prst="rect">
            <a:avLst/>
          </a:prstGeom>
          <a:noFill/>
          <a:ln/>
        </p:spPr>
        <p:txBody>
          <a:bodyPr wrap="square" lIns="0" tIns="0" rIns="0" bIns="0" rtlCol="0" anchor="ctr"/>
          <a:lstStyle/>
          <a:p>
            <a:pPr indent="0" marL="0">
              <a:buNone/>
            </a:pPr>
            <a:r>
              <a:rPr lang="en-US" sz="1050" b="1" spc="200" kern="0" dirty="0">
                <a:solidFill>
                  <a:srgbClr val="B7791F"/>
                </a:solidFill>
                <a:latin typeface="Calibri" pitchFamily="34" charset="0"/>
                <a:ea typeface="Calibri" pitchFamily="34" charset="-122"/>
                <a:cs typeface="Calibri" pitchFamily="34" charset="-120"/>
              </a:rPr>
              <a:t>IN DEPTH</a:t>
            </a:r>
            <a:endParaRPr lang="en-US" sz="1050" dirty="0"/>
          </a:p>
        </p:txBody>
      </p:sp>
      <p:sp>
        <p:nvSpPr>
          <p:cNvPr id="10" name="Text 7"/>
          <p:cNvSpPr txBox="1"/>
          <p:nvPr/>
        </p:nvSpPr>
        <p:spPr>
          <a:xfrm>
            <a:off x="7818120" y="4416552"/>
            <a:ext cx="3840480" cy="1920240"/>
          </a:xfrm>
          <a:prstGeom prst="rect">
            <a:avLst/>
          </a:prstGeom>
          <a:noFill/>
          <a:ln/>
        </p:spPr>
        <p:txBody>
          <a:bodyPr wrap="square" lIns="0" tIns="0" rIns="0" bIns="0" rtlCol="0" anchor="t"/>
          <a:lstStyle/>
          <a:p>
            <a:pPr marL="177800" indent="-177800">
              <a:buSzPct val="100000"/>
              <a:buChar char="•"/>
            </a:pPr>
            <a:r>
              <a:rPr lang="en-US" sz="1150" b="1" dirty="0">
                <a:solidFill>
                  <a:srgbClr val="0F1B2D"/>
                </a:solidFill>
                <a:latin typeface="Calibri" pitchFamily="34" charset="0"/>
                <a:ea typeface="Calibri" pitchFamily="34" charset="-122"/>
                <a:cs typeface="Calibri" pitchFamily="34" charset="-120"/>
              </a:rPr>
              <a:t>Prediction: </a:t>
            </a:r>
            <a:pPr indent="0" marL="0">
              <a:spcAft>
                <a:spcPts val="500"/>
              </a:spcAft>
              <a:buNone/>
            </a:pPr>
            <a:r>
              <a:rPr lang="en-US" sz="1150" dirty="0">
                <a:solidFill>
                  <a:srgbClr val="33445C"/>
                </a:solidFill>
                <a:latin typeface="Calibri" pitchFamily="34" charset="0"/>
                <a:ea typeface="Calibri" pitchFamily="34" charset="-122"/>
                <a:cs typeface="Calibri" pitchFamily="34" charset="-120"/>
              </a:rPr>
              <a:t>a v3 launch simulation on the market's model; inputs validated</a:t>
            </a:r>
            <a:endParaRPr lang="en-US" sz="1150" dirty="0"/>
          </a:p>
          <a:p>
            <a:pPr marL="177800" indent="-177800">
              <a:buSzPct val="100000"/>
              <a:buChar char="•"/>
            </a:pPr>
            <a:r>
              <a:rPr lang="en-US" sz="1150" b="1" dirty="0">
                <a:solidFill>
                  <a:srgbClr val="0F1B2D"/>
                </a:solidFill>
                <a:latin typeface="Calibri" pitchFamily="34" charset="0"/>
                <a:ea typeface="Calibri" pitchFamily="34" charset="-122"/>
                <a:cs typeface="Calibri" pitchFamily="34" charset="-120"/>
              </a:rPr>
              <a:t>Calibration: </a:t>
            </a:r>
            <a:pPr indent="0" marL="0">
              <a:spcAft>
                <a:spcPts val="500"/>
              </a:spcAft>
              <a:buNone/>
            </a:pPr>
            <a:r>
              <a:rPr lang="en-US" sz="1150" dirty="0">
                <a:solidFill>
                  <a:srgbClr val="33445C"/>
                </a:solidFill>
                <a:latin typeface="Calibri" pitchFamily="34" charset="0"/>
                <a:ea typeface="Calibri" pitchFamily="34" charset="-122"/>
                <a:cs typeface="Calibri" pitchFamily="34" charset="-120"/>
              </a:rPr>
              <a:t>actual vs predicted p10–p90 feeds the Accuracy page</a:t>
            </a:r>
            <a:endParaRPr lang="en-US" sz="1150" dirty="0"/>
          </a:p>
          <a:p>
            <a:pPr marL="177800" indent="-177800">
              <a:buSzPct val="100000"/>
              <a:buChar char="•"/>
            </a:pPr>
            <a:r>
              <a:rPr lang="en-US" sz="1150" b="1" dirty="0">
                <a:solidFill>
                  <a:srgbClr val="0F1B2D"/>
                </a:solidFill>
                <a:latin typeface="Calibri" pitchFamily="34" charset="0"/>
                <a:ea typeface="Calibri" pitchFamily="34" charset="-122"/>
                <a:cs typeface="Calibri" pitchFamily="34" charset="-120"/>
              </a:rPr>
              <a:t>Roles: </a:t>
            </a:r>
            <a:pPr indent="0" marL="0">
              <a:spcAft>
                <a:spcPts val="500"/>
              </a:spcAft>
              <a:buNone/>
            </a:pPr>
            <a:r>
              <a:rPr lang="en-US" sz="1150" dirty="0">
                <a:solidFill>
                  <a:srgbClr val="33445C"/>
                </a:solidFill>
                <a:latin typeface="Calibri" pitchFamily="34" charset="0"/>
                <a:ea typeface="Calibri" pitchFamily="34" charset="-122"/>
                <a:cs typeface="Calibri" pitchFamily="34" charset="-120"/>
              </a:rPr>
              <a:t>admin, manager, product_manager (scoped), supplier_manager, analyst, viewer, customer</a:t>
            </a:r>
            <a:endParaRPr lang="en-US" sz="1150" dirty="0"/>
          </a:p>
        </p:txBody>
      </p:sp>
      <p:sp>
        <p:nvSpPr>
          <p:cNvPr id="11" name="Text 8"/>
          <p:cNvSpPr txBox="1"/>
          <p:nvPr/>
        </p:nvSpPr>
        <p:spPr>
          <a:xfrm>
            <a:off x="10332720" y="6446520"/>
            <a:ext cx="1371600" cy="228600"/>
          </a:xfrm>
          <a:prstGeom prst="rect">
            <a:avLst/>
          </a:prstGeom>
          <a:noFill/>
          <a:ln/>
        </p:spPr>
        <p:txBody>
          <a:bodyPr wrap="square" lIns="0" tIns="0" rIns="0" bIns="0" rtlCol="0" anchor="ctr"/>
          <a:lstStyle/>
          <a:p>
            <a:pPr algn="r" indent="0" marL="0">
              <a:buNone/>
            </a:pPr>
            <a:r>
              <a:rPr lang="en-US" sz="900" dirty="0">
                <a:solidFill>
                  <a:srgbClr val="8A98AD"/>
                </a:solidFill>
                <a:latin typeface="Calibri" pitchFamily="34" charset="0"/>
                <a:ea typeface="Calibri" pitchFamily="34" charset="-122"/>
                <a:cs typeface="Calibri" pitchFamily="34" charset="-120"/>
              </a:rPr>
              <a:t>DMIS · 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274320"/>
          </a:xfrm>
          <a:prstGeom prst="rect">
            <a:avLst/>
          </a:prstGeom>
          <a:noFill/>
          <a:ln/>
        </p:spPr>
        <p:txBody>
          <a:bodyPr wrap="square" lIns="0" tIns="0" rIns="0" bIns="0" rtlCol="0" anchor="ctr"/>
          <a:lstStyle/>
          <a:p>
            <a:pPr indent="0" marL="0">
              <a:buNone/>
            </a:pPr>
            <a:r>
              <a:rPr lang="en-US" sz="1100" b="1" spc="300" kern="0" dirty="0">
                <a:solidFill>
                  <a:srgbClr val="38D6FF"/>
                </a:solidFill>
                <a:latin typeface="Calibri" pitchFamily="34" charset="0"/>
                <a:ea typeface="Calibri" pitchFamily="34" charset="-122"/>
                <a:cs typeface="Calibri" pitchFamily="34" charset="-120"/>
              </a:rPr>
              <a:t>TRUST</a:t>
            </a:r>
            <a:endParaRPr lang="en-US" sz="1100" dirty="0"/>
          </a:p>
        </p:txBody>
      </p:sp>
      <p:sp>
        <p:nvSpPr>
          <p:cNvPr id="3" name="Text 1"/>
          <p:cNvSpPr txBox="1"/>
          <p:nvPr/>
        </p:nvSpPr>
        <p:spPr>
          <a:xfrm>
            <a:off x="548640" y="685800"/>
            <a:ext cx="11064240" cy="685800"/>
          </a:xfrm>
          <a:prstGeom prst="rect">
            <a:avLst/>
          </a:prstGeom>
          <a:noFill/>
          <a:ln/>
        </p:spPr>
        <p:txBody>
          <a:bodyPr wrap="square" lIns="0" tIns="0" rIns="0" bIns="0" rtlCol="0" anchor="ctr"/>
          <a:lstStyle/>
          <a:p>
            <a:pPr indent="0" marL="0">
              <a:buNone/>
            </a:pPr>
            <a:r>
              <a:rPr lang="en-US" sz="3200" b="1" dirty="0">
                <a:solidFill>
                  <a:srgbClr val="E6EEFB"/>
                </a:solidFill>
                <a:latin typeface="Cambria" pitchFamily="34" charset="0"/>
                <a:ea typeface="Cambria" pitchFamily="34" charset="-122"/>
                <a:cs typeface="Cambria" pitchFamily="34" charset="-120"/>
              </a:rPr>
              <a:t>Accuracy is measured, not asserted</a:t>
            </a:r>
            <a:endParaRPr lang="en-US" sz="3200" dirty="0"/>
          </a:p>
        </p:txBody>
      </p:sp>
      <p:sp>
        <p:nvSpPr>
          <p:cNvPr id="4" name="Shape 2"/>
          <p:cNvSpPr/>
          <p:nvPr/>
        </p:nvSpPr>
        <p:spPr>
          <a:xfrm>
            <a:off x="493776" y="1545336"/>
            <a:ext cx="5779008" cy="3817563"/>
          </a:xfrm>
          <a:prstGeom prst="roundRect">
            <a:avLst>
              <a:gd name="adj" fmla="val 1916"/>
            </a:avLst>
          </a:prstGeom>
          <a:solidFill>
            <a:srgbClr val="1F3150"/>
          </a:solidFill>
          <a:ln w="12700">
            <a:solidFill>
              <a:srgbClr val="1F3150"/>
            </a:solidFill>
            <a:prstDash val="solid"/>
          </a:ln>
          <a:effectLst>
            <a:outerShdw sx="100000" sy="100000" kx="0" ky="0" algn="bl" rotWithShape="0" blurRad="101600" dist="38100" dir="5400000">
              <a:srgbClr val="000000">
                <a:alpha val="25000"/>
              </a:srgbClr>
            </a:outerShdw>
          </a:effectLst>
        </p:spPr>
      </p:sp>
      <p:pic>
        <p:nvPicPr>
          <p:cNvPr id="5" name="Image 0" descr="accuracy.jpg">    </p:cNvPr>
          <p:cNvPicPr>
            <a:picLocks noChangeAspect="1"/>
          </p:cNvPicPr>
          <p:nvPr/>
        </p:nvPicPr>
        <p:blipFill>
          <a:blip r:embed="rId1"/>
          <a:stretch>
            <a:fillRect/>
          </a:stretch>
        </p:blipFill>
        <p:spPr>
          <a:xfrm>
            <a:off x="548640" y="1600200"/>
            <a:ext cx="5669280" cy="3707835"/>
          </a:xfrm>
          <a:prstGeom prst="rect">
            <a:avLst/>
          </a:prstGeom>
        </p:spPr>
      </p:pic>
      <p:sp>
        <p:nvSpPr>
          <p:cNvPr id="6" name="Text 3"/>
          <p:cNvSpPr txBox="1"/>
          <p:nvPr/>
        </p:nvSpPr>
        <p:spPr>
          <a:xfrm>
            <a:off x="6949440" y="1600200"/>
            <a:ext cx="2240280" cy="685800"/>
          </a:xfrm>
          <a:prstGeom prst="rect">
            <a:avLst/>
          </a:prstGeom>
          <a:noFill/>
          <a:ln/>
        </p:spPr>
        <p:txBody>
          <a:bodyPr wrap="square" lIns="0" tIns="0" rIns="0" bIns="0" rtlCol="0" anchor="ctr"/>
          <a:lstStyle/>
          <a:p>
            <a:pPr indent="0" marL="0">
              <a:buNone/>
            </a:pPr>
            <a:r>
              <a:rPr lang="en-US" sz="3600" b="1" dirty="0">
                <a:solidFill>
                  <a:srgbClr val="38D6FF"/>
                </a:solidFill>
                <a:latin typeface="Cambria" pitchFamily="34" charset="0"/>
                <a:ea typeface="Cambria" pitchFamily="34" charset="-122"/>
                <a:cs typeface="Cambria" pitchFamily="34" charset="-120"/>
              </a:rPr>
              <a:t>1.7%</a:t>
            </a:r>
            <a:endParaRPr lang="en-US" sz="3600" dirty="0"/>
          </a:p>
        </p:txBody>
      </p:sp>
      <p:sp>
        <p:nvSpPr>
          <p:cNvPr id="7" name="Text 4"/>
          <p:cNvSpPr txBox="1"/>
          <p:nvPr/>
        </p:nvSpPr>
        <p:spPr>
          <a:xfrm>
            <a:off x="6949440" y="2286000"/>
            <a:ext cx="2240280" cy="822960"/>
          </a:xfrm>
          <a:prstGeom prst="rect">
            <a:avLst/>
          </a:prstGeom>
          <a:noFill/>
          <a:ln/>
        </p:spPr>
        <p:txBody>
          <a:bodyPr wrap="square" lIns="0" tIns="0" rIns="0" bIns="0" rtlCol="0" anchor="t"/>
          <a:lstStyle/>
          <a:p>
            <a:pPr indent="0" marL="0">
              <a:buNone/>
            </a:pPr>
            <a:r>
              <a:rPr lang="en-US" sz="1150" dirty="0">
                <a:solidFill>
                  <a:srgbClr val="A9BAD3"/>
                </a:solidFill>
                <a:latin typeface="Calibri" pitchFamily="34" charset="0"/>
                <a:ea typeface="Calibri" pitchFamily="34" charset="-122"/>
                <a:cs typeface="Calibri" pitchFamily="34" charset="-120"/>
              </a:rPr>
              <a:t>median error of market size on synthetic markets with known truth</a:t>
            </a:r>
            <a:endParaRPr lang="en-US" sz="1150" dirty="0"/>
          </a:p>
        </p:txBody>
      </p:sp>
      <p:sp>
        <p:nvSpPr>
          <p:cNvPr id="8" name="Text 5"/>
          <p:cNvSpPr txBox="1"/>
          <p:nvPr/>
        </p:nvSpPr>
        <p:spPr>
          <a:xfrm>
            <a:off x="9326880" y="1600200"/>
            <a:ext cx="2240280" cy="685800"/>
          </a:xfrm>
          <a:prstGeom prst="rect">
            <a:avLst/>
          </a:prstGeom>
          <a:noFill/>
          <a:ln/>
        </p:spPr>
        <p:txBody>
          <a:bodyPr wrap="square" lIns="0" tIns="0" rIns="0" bIns="0" rtlCol="0" anchor="ctr"/>
          <a:lstStyle/>
          <a:p>
            <a:pPr indent="0" marL="0">
              <a:buNone/>
            </a:pPr>
            <a:r>
              <a:rPr lang="en-US" sz="3600" b="1" dirty="0">
                <a:solidFill>
                  <a:srgbClr val="38D6FF"/>
                </a:solidFill>
                <a:latin typeface="Cambria" pitchFamily="34" charset="0"/>
                <a:ea typeface="Cambria" pitchFamily="34" charset="-122"/>
                <a:cs typeface="Cambria" pitchFamily="34" charset="-120"/>
              </a:rPr>
              <a:t>100%</a:t>
            </a:r>
            <a:endParaRPr lang="en-US" sz="3600" dirty="0"/>
          </a:p>
        </p:txBody>
      </p:sp>
      <p:sp>
        <p:nvSpPr>
          <p:cNvPr id="9" name="Text 6"/>
          <p:cNvSpPr txBox="1"/>
          <p:nvPr/>
        </p:nvSpPr>
        <p:spPr>
          <a:xfrm>
            <a:off x="9326880" y="2286000"/>
            <a:ext cx="2240280" cy="822960"/>
          </a:xfrm>
          <a:prstGeom prst="rect">
            <a:avLst/>
          </a:prstGeom>
          <a:noFill/>
          <a:ln/>
        </p:spPr>
        <p:txBody>
          <a:bodyPr wrap="square" lIns="0" tIns="0" rIns="0" bIns="0" rtlCol="0" anchor="t"/>
          <a:lstStyle/>
          <a:p>
            <a:pPr indent="0" marL="0">
              <a:buNone/>
            </a:pPr>
            <a:r>
              <a:rPr lang="en-US" sz="1150" dirty="0">
                <a:solidFill>
                  <a:srgbClr val="A9BAD3"/>
                </a:solidFill>
                <a:latin typeface="Calibri" pitchFamily="34" charset="0"/>
                <a:ea typeface="Calibri" pitchFamily="34" charset="-122"/>
                <a:cs typeface="Calibri" pitchFamily="34" charset="-120"/>
              </a:rPr>
              <a:t>of true sizes inside the 95% interval</a:t>
            </a:r>
            <a:endParaRPr lang="en-US" sz="1150" dirty="0"/>
          </a:p>
        </p:txBody>
      </p:sp>
      <p:sp>
        <p:nvSpPr>
          <p:cNvPr id="10" name="Text 7"/>
          <p:cNvSpPr txBox="1"/>
          <p:nvPr/>
        </p:nvSpPr>
        <p:spPr>
          <a:xfrm>
            <a:off x="6949440" y="3200400"/>
            <a:ext cx="2240280" cy="685800"/>
          </a:xfrm>
          <a:prstGeom prst="rect">
            <a:avLst/>
          </a:prstGeom>
          <a:noFill/>
          <a:ln/>
        </p:spPr>
        <p:txBody>
          <a:bodyPr wrap="square" lIns="0" tIns="0" rIns="0" bIns="0" rtlCol="0" anchor="ctr"/>
          <a:lstStyle/>
          <a:p>
            <a:pPr indent="0" marL="0">
              <a:buNone/>
            </a:pPr>
            <a:r>
              <a:rPr lang="en-US" sz="3600" b="1" dirty="0">
                <a:solidFill>
                  <a:srgbClr val="38D6FF"/>
                </a:solidFill>
                <a:latin typeface="Cambria" pitchFamily="34" charset="0"/>
                <a:ea typeface="Cambria" pitchFamily="34" charset="-122"/>
                <a:cs typeface="Cambria" pitchFamily="34" charset="-120"/>
              </a:rPr>
              <a:t>673</a:t>
            </a:r>
            <a:endParaRPr lang="en-US" sz="3600" dirty="0"/>
          </a:p>
        </p:txBody>
      </p:sp>
      <p:sp>
        <p:nvSpPr>
          <p:cNvPr id="11" name="Text 8"/>
          <p:cNvSpPr txBox="1"/>
          <p:nvPr/>
        </p:nvSpPr>
        <p:spPr>
          <a:xfrm>
            <a:off x="6949440" y="3886200"/>
            <a:ext cx="2240280" cy="822960"/>
          </a:xfrm>
          <a:prstGeom prst="rect">
            <a:avLst/>
          </a:prstGeom>
          <a:noFill/>
          <a:ln/>
        </p:spPr>
        <p:txBody>
          <a:bodyPr wrap="square" lIns="0" tIns="0" rIns="0" bIns="0" rtlCol="0" anchor="t"/>
          <a:lstStyle/>
          <a:p>
            <a:pPr indent="0" marL="0">
              <a:buNone/>
            </a:pPr>
            <a:r>
              <a:rPr lang="en-US" sz="1150" dirty="0">
                <a:solidFill>
                  <a:srgbClr val="A9BAD3"/>
                </a:solidFill>
                <a:latin typeface="Calibri" pitchFamily="34" charset="0"/>
                <a:ea typeface="Calibri" pitchFamily="34" charset="-122"/>
                <a:cs typeface="Calibri" pitchFamily="34" charset="-120"/>
              </a:rPr>
              <a:t>automated tests; CI on every push (Python + frontend + i18n)</a:t>
            </a:r>
            <a:endParaRPr lang="en-US" sz="1150" dirty="0"/>
          </a:p>
        </p:txBody>
      </p:sp>
      <p:sp>
        <p:nvSpPr>
          <p:cNvPr id="12" name="Text 9"/>
          <p:cNvSpPr txBox="1"/>
          <p:nvPr/>
        </p:nvSpPr>
        <p:spPr>
          <a:xfrm>
            <a:off x="9326880" y="3200400"/>
            <a:ext cx="2240280" cy="685800"/>
          </a:xfrm>
          <a:prstGeom prst="rect">
            <a:avLst/>
          </a:prstGeom>
          <a:noFill/>
          <a:ln/>
        </p:spPr>
        <p:txBody>
          <a:bodyPr wrap="square" lIns="0" tIns="0" rIns="0" bIns="0" rtlCol="0" anchor="ctr"/>
          <a:lstStyle/>
          <a:p>
            <a:pPr indent="0" marL="0">
              <a:buNone/>
            </a:pPr>
            <a:r>
              <a:rPr lang="en-US" sz="3600" b="1" dirty="0">
                <a:solidFill>
                  <a:srgbClr val="38D6FF"/>
                </a:solidFill>
                <a:latin typeface="Cambria" pitchFamily="34" charset="0"/>
                <a:ea typeface="Cambria" pitchFamily="34" charset="-122"/>
                <a:cs typeface="Cambria" pitchFamily="34" charset="-120"/>
              </a:rPr>
              <a:t>0.72</a:t>
            </a:r>
            <a:endParaRPr lang="en-US" sz="3600" dirty="0"/>
          </a:p>
        </p:txBody>
      </p:sp>
      <p:sp>
        <p:nvSpPr>
          <p:cNvPr id="13" name="Text 10"/>
          <p:cNvSpPr txBox="1"/>
          <p:nvPr/>
        </p:nvSpPr>
        <p:spPr>
          <a:xfrm>
            <a:off x="9326880" y="3886200"/>
            <a:ext cx="2240280" cy="822960"/>
          </a:xfrm>
          <a:prstGeom prst="rect">
            <a:avLst/>
          </a:prstGeom>
          <a:noFill/>
          <a:ln/>
        </p:spPr>
        <p:txBody>
          <a:bodyPr wrap="square" lIns="0" tIns="0" rIns="0" bIns="0" rtlCol="0" anchor="t"/>
          <a:lstStyle/>
          <a:p>
            <a:pPr indent="0" marL="0">
              <a:buNone/>
            </a:pPr>
            <a:r>
              <a:rPr lang="en-US" sz="1150" dirty="0">
                <a:solidFill>
                  <a:srgbClr val="A9BAD3"/>
                </a:solidFill>
                <a:latin typeface="Calibri" pitchFamily="34" charset="0"/>
                <a:ea typeface="Calibri" pitchFamily="34" charset="-122"/>
                <a:cs typeface="Calibri" pitchFamily="34" charset="-120"/>
              </a:rPr>
              <a:t>hold-out AUC on dental_models (badges hidden, then predicted)</a:t>
            </a:r>
            <a:endParaRPr lang="en-US" sz="1150" dirty="0"/>
          </a:p>
        </p:txBody>
      </p:sp>
      <p:sp>
        <p:nvSpPr>
          <p:cNvPr id="14" name="Text 11"/>
          <p:cNvSpPr txBox="1"/>
          <p:nvPr/>
        </p:nvSpPr>
        <p:spPr>
          <a:xfrm>
            <a:off x="548640" y="5490915"/>
            <a:ext cx="5669280" cy="1188720"/>
          </a:xfrm>
          <a:prstGeom prst="rect">
            <a:avLst/>
          </a:prstGeom>
          <a:noFill/>
          <a:ln/>
        </p:spPr>
        <p:txBody>
          <a:bodyPr wrap="square" lIns="0" tIns="0" rIns="0" bIns="0" rtlCol="0" anchor="t"/>
          <a:lstStyle/>
          <a:p>
            <a:pPr marL="177800" indent="-177800">
              <a:buSzPct val="100000"/>
              <a:buChar char="•"/>
            </a:pPr>
            <a:r>
              <a:rPr lang="en-US" sz="1150" b="1" dirty="0">
                <a:solidFill>
                  <a:srgbClr val="E6EEFB"/>
                </a:solidFill>
                <a:latin typeface="Calibri" pitchFamily="34" charset="0"/>
                <a:ea typeface="Calibri" pitchFamily="34" charset="-122"/>
                <a:cs typeface="Calibri" pitchFamily="34" charset="-120"/>
              </a:rPr>
              <a:t>Synthetic ground truth: </a:t>
            </a:r>
            <a:pPr indent="0" marL="0">
              <a:spcAft>
                <a:spcPts val="500"/>
              </a:spcAft>
              <a:buNone/>
            </a:pPr>
            <a:r>
              <a:rPr lang="en-US" sz="1150" dirty="0">
                <a:solidFill>
                  <a:srgbClr val="A9BAD3"/>
                </a:solidFill>
                <a:latin typeface="Calibri" pitchFamily="34" charset="0"/>
                <a:ea typeface="Calibri" pitchFamily="34" charset="-122"/>
                <a:cs typeface="Calibri" pitchFamily="34" charset="-120"/>
              </a:rPr>
              <a:t>markets with known sales, real badge censoring; calibration and validation seeds kept apart</a:t>
            </a:r>
            <a:endParaRPr lang="en-US" sz="1150" dirty="0"/>
          </a:p>
          <a:p>
            <a:pPr marL="177800" indent="-177800">
              <a:buSzPct val="100000"/>
              <a:buChar char="•"/>
            </a:pPr>
            <a:r>
              <a:rPr lang="en-US" sz="1150" b="1" dirty="0">
                <a:solidFill>
                  <a:srgbClr val="E6EEFB"/>
                </a:solidFill>
                <a:latin typeface="Calibri" pitchFamily="34" charset="0"/>
                <a:ea typeface="Calibri" pitchFamily="34" charset="-122"/>
                <a:cs typeface="Calibri" pitchFamily="34" charset="-120"/>
              </a:rPr>
              <a:t>Invariants: </a:t>
            </a:r>
            <a:pPr indent="0" marL="0">
              <a:spcAft>
                <a:spcPts val="500"/>
              </a:spcAft>
              <a:buNone/>
            </a:pPr>
            <a:r>
              <a:rPr lang="en-US" sz="1150" dirty="0">
                <a:solidFill>
                  <a:srgbClr val="A9BAD3"/>
                </a:solidFill>
                <a:latin typeface="Calibri" pitchFamily="34" charset="0"/>
                <a:ea typeface="Calibri" pitchFamily="34" charset="-122"/>
                <a:cs typeface="Calibri" pitchFamily="34" charset="-120"/>
              </a:rPr>
              <a:t>totals reconcile at every level; shares sum to 1; every estimate inside its interval</a:t>
            </a:r>
            <a:endParaRPr lang="en-US" sz="1150" dirty="0"/>
          </a:p>
          <a:p>
            <a:pPr marL="177800" indent="-177800">
              <a:buSzPct val="100000"/>
              <a:buChar char="•"/>
            </a:pPr>
            <a:r>
              <a:rPr lang="en-US" sz="1150" b="1" dirty="0">
                <a:solidFill>
                  <a:srgbClr val="E6EEFB"/>
                </a:solidFill>
                <a:latin typeface="Calibri" pitchFamily="34" charset="0"/>
                <a:ea typeface="Calibri" pitchFamily="34" charset="-122"/>
                <a:cs typeface="Calibri" pitchFamily="34" charset="-120"/>
              </a:rPr>
              <a:t>Human labels &amp; launches: </a:t>
            </a:r>
            <a:pPr indent="0" marL="0">
              <a:spcAft>
                <a:spcPts val="500"/>
              </a:spcAft>
              <a:buNone/>
            </a:pPr>
            <a:r>
              <a:rPr lang="en-US" sz="1150" dirty="0">
                <a:solidFill>
                  <a:srgbClr val="A9BAD3"/>
                </a:solidFill>
                <a:latin typeface="Calibri" pitchFamily="34" charset="0"/>
                <a:ea typeface="Calibri" pitchFamily="34" charset="-122"/>
                <a:cs typeface="Calibri" pitchFamily="34" charset="-120"/>
              </a:rPr>
              <a:t>precision/recall and launch calibration as data arrives</a:t>
            </a:r>
            <a:endParaRPr lang="en-US" sz="1150" dirty="0"/>
          </a:p>
        </p:txBody>
      </p:sp>
      <p:sp>
        <p:nvSpPr>
          <p:cNvPr id="15" name="Text 12"/>
          <p:cNvSpPr txBox="1"/>
          <p:nvPr/>
        </p:nvSpPr>
        <p:spPr>
          <a:xfrm>
            <a:off x="6949440" y="4983480"/>
            <a:ext cx="4709160" cy="822960"/>
          </a:xfrm>
          <a:prstGeom prst="rect">
            <a:avLst/>
          </a:prstGeom>
          <a:noFill/>
          <a:ln/>
        </p:spPr>
        <p:txBody>
          <a:bodyPr wrap="square" lIns="0" tIns="0" rIns="0" bIns="0" rtlCol="0" anchor="ctr"/>
          <a:lstStyle/>
          <a:p>
            <a:pPr indent="0" marL="0">
              <a:buNone/>
            </a:pPr>
            <a:r>
              <a:rPr lang="en-US" sz="1200" i="1" dirty="0">
                <a:solidFill>
                  <a:srgbClr val="6F84A6"/>
                </a:solidFill>
                <a:latin typeface="Calibri" pitchFamily="34" charset="0"/>
                <a:ea typeface="Calibri" pitchFamily="34" charset="-122"/>
                <a:cs typeface="Calibri" pitchFamily="34" charset="-120"/>
              </a:rPr>
              <a:t>Acceptance test: a full bilingual user journey from two uploads to the Opportunity Board.</a:t>
            </a:r>
            <a:endParaRPr lang="en-US" sz="1200" dirty="0"/>
          </a:p>
        </p:txBody>
      </p:sp>
      <p:sp>
        <p:nvSpPr>
          <p:cNvPr id="16" name="Text 13"/>
          <p:cNvSpPr txBox="1"/>
          <p:nvPr/>
        </p:nvSpPr>
        <p:spPr>
          <a:xfrm>
            <a:off x="10332720" y="6446520"/>
            <a:ext cx="1371600" cy="228600"/>
          </a:xfrm>
          <a:prstGeom prst="rect">
            <a:avLst/>
          </a:prstGeom>
          <a:noFill/>
          <a:ln/>
        </p:spPr>
        <p:txBody>
          <a:bodyPr wrap="square" lIns="0" tIns="0" rIns="0" bIns="0" rtlCol="0" anchor="ctr"/>
          <a:lstStyle/>
          <a:p>
            <a:pPr algn="r" indent="0" marL="0">
              <a:buNone/>
            </a:pPr>
            <a:r>
              <a:rPr lang="en-US" sz="900" dirty="0">
                <a:solidFill>
                  <a:srgbClr val="6F84A6"/>
                </a:solidFill>
                <a:latin typeface="Calibri" pitchFamily="34" charset="0"/>
                <a:ea typeface="Calibri" pitchFamily="34" charset="-122"/>
                <a:cs typeface="Calibri" pitchFamily="34" charset="-120"/>
              </a:rPr>
              <a:t>DMIS · 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274320"/>
          </a:xfrm>
          <a:prstGeom prst="rect">
            <a:avLst/>
          </a:prstGeom>
          <a:noFill/>
          <a:ln/>
        </p:spPr>
        <p:txBody>
          <a:bodyPr wrap="square" lIns="0" tIns="0" rIns="0" bIns="0" rtlCol="0" anchor="ctr"/>
          <a:lstStyle/>
          <a:p>
            <a:pPr indent="0" marL="0">
              <a:buNone/>
            </a:pPr>
            <a:r>
              <a:rPr lang="en-US" sz="1100" b="1" spc="300" kern="0" dirty="0">
                <a:solidFill>
                  <a:srgbClr val="38D6FF"/>
                </a:solidFill>
                <a:latin typeface="Calibri" pitchFamily="34" charset="0"/>
                <a:ea typeface="Calibri" pitchFamily="34" charset="-122"/>
                <a:cs typeface="Calibri" pitchFamily="34" charset="-120"/>
              </a:rPr>
              <a:t>EVERYWHERE</a:t>
            </a:r>
            <a:endParaRPr lang="en-US" sz="1100" dirty="0"/>
          </a:p>
        </p:txBody>
      </p:sp>
      <p:sp>
        <p:nvSpPr>
          <p:cNvPr id="3" name="Text 1"/>
          <p:cNvSpPr txBox="1"/>
          <p:nvPr/>
        </p:nvSpPr>
        <p:spPr>
          <a:xfrm>
            <a:off x="548640" y="685800"/>
            <a:ext cx="11064240" cy="685800"/>
          </a:xfrm>
          <a:prstGeom prst="rect">
            <a:avLst/>
          </a:prstGeom>
          <a:noFill/>
          <a:ln/>
        </p:spPr>
        <p:txBody>
          <a:bodyPr wrap="square" lIns="0" tIns="0" rIns="0" bIns="0" rtlCol="0" anchor="ctr"/>
          <a:lstStyle/>
          <a:p>
            <a:pPr indent="0" marL="0">
              <a:buNone/>
            </a:pPr>
            <a:r>
              <a:rPr lang="en-US" sz="3200" b="1" dirty="0">
                <a:solidFill>
                  <a:srgbClr val="E6EEFB"/>
                </a:solidFill>
                <a:latin typeface="Cambria" pitchFamily="34" charset="0"/>
                <a:ea typeface="Cambria" pitchFamily="34" charset="-122"/>
                <a:cs typeface="Cambria" pitchFamily="34" charset="-120"/>
              </a:rPr>
              <a:t>Fully bilingual — English and 中文</a:t>
            </a:r>
            <a:endParaRPr lang="en-US" sz="3200" dirty="0"/>
          </a:p>
        </p:txBody>
      </p:sp>
      <p:sp>
        <p:nvSpPr>
          <p:cNvPr id="4" name="Shape 2"/>
          <p:cNvSpPr/>
          <p:nvPr/>
        </p:nvSpPr>
        <p:spPr>
          <a:xfrm>
            <a:off x="493776" y="1545336"/>
            <a:ext cx="7013448" cy="4624914"/>
          </a:xfrm>
          <a:prstGeom prst="roundRect">
            <a:avLst>
              <a:gd name="adj" fmla="val 1582"/>
            </a:avLst>
          </a:prstGeom>
          <a:solidFill>
            <a:srgbClr val="1F3150"/>
          </a:solidFill>
          <a:ln w="12700">
            <a:solidFill>
              <a:srgbClr val="1F3150"/>
            </a:solidFill>
            <a:prstDash val="solid"/>
          </a:ln>
          <a:effectLst>
            <a:outerShdw sx="100000" sy="100000" kx="0" ky="0" algn="bl" rotWithShape="0" blurRad="101600" dist="38100" dir="5400000">
              <a:srgbClr val="000000">
                <a:alpha val="25000"/>
              </a:srgbClr>
            </a:outerShdw>
          </a:effectLst>
        </p:spPr>
      </p:sp>
      <p:pic>
        <p:nvPicPr>
          <p:cNvPr id="5" name="Image 0" descr="home_zh.jpg">    </p:cNvPr>
          <p:cNvPicPr>
            <a:picLocks noChangeAspect="1"/>
          </p:cNvPicPr>
          <p:nvPr/>
        </p:nvPicPr>
        <p:blipFill>
          <a:blip r:embed="rId1"/>
          <a:stretch>
            <a:fillRect/>
          </a:stretch>
        </p:blipFill>
        <p:spPr>
          <a:xfrm>
            <a:off x="548640" y="1600200"/>
            <a:ext cx="6903720" cy="4515186"/>
          </a:xfrm>
          <a:prstGeom prst="rect">
            <a:avLst/>
          </a:prstGeom>
        </p:spPr>
      </p:pic>
      <p:sp>
        <p:nvSpPr>
          <p:cNvPr id="6" name="Text 3"/>
          <p:cNvSpPr txBox="1"/>
          <p:nvPr/>
        </p:nvSpPr>
        <p:spPr>
          <a:xfrm>
            <a:off x="548640" y="6225114"/>
            <a:ext cx="6903720" cy="228600"/>
          </a:xfrm>
          <a:prstGeom prst="rect">
            <a:avLst/>
          </a:prstGeom>
          <a:noFill/>
          <a:ln/>
        </p:spPr>
        <p:txBody>
          <a:bodyPr wrap="square" lIns="0" tIns="0" rIns="0" bIns="0" rtlCol="0" anchor="ctr"/>
          <a:lstStyle/>
          <a:p>
            <a:pPr indent="0" marL="0">
              <a:buNone/>
            </a:pPr>
            <a:r>
              <a:rPr lang="en-US" sz="1000" dirty="0">
                <a:solidFill>
                  <a:srgbClr val="6F84A6"/>
                </a:solidFill>
                <a:latin typeface="Courier New" pitchFamily="34" charset="0"/>
                <a:ea typeface="Courier New" pitchFamily="34" charset="-122"/>
                <a:cs typeface="Courier New" pitchFamily="34" charset="-120"/>
              </a:rPr>
              <a:t>switch EN / 中文 at the bottom of the sidebar</a:t>
            </a:r>
            <a:endParaRPr lang="en-US" sz="1000" dirty="0"/>
          </a:p>
        </p:txBody>
      </p:sp>
      <p:sp>
        <p:nvSpPr>
          <p:cNvPr id="7" name="Text 4"/>
          <p:cNvSpPr txBox="1"/>
          <p:nvPr/>
        </p:nvSpPr>
        <p:spPr>
          <a:xfrm>
            <a:off x="7818120" y="1600200"/>
            <a:ext cx="3840480" cy="256032"/>
          </a:xfrm>
          <a:prstGeom prst="rect">
            <a:avLst/>
          </a:prstGeom>
          <a:noFill/>
          <a:ln/>
        </p:spPr>
        <p:txBody>
          <a:bodyPr wrap="square" lIns="0" tIns="0" rIns="0" bIns="0" rtlCol="0" anchor="ctr"/>
          <a:lstStyle/>
          <a:p>
            <a:pPr indent="0" marL="0">
              <a:buNone/>
            </a:pPr>
            <a:r>
              <a:rPr lang="en-US" sz="1050" b="1" spc="200" kern="0" dirty="0">
                <a:solidFill>
                  <a:srgbClr val="38D6FF"/>
                </a:solidFill>
                <a:latin typeface="Calibri" pitchFamily="34" charset="0"/>
                <a:ea typeface="Calibri" pitchFamily="34" charset="-122"/>
                <a:cs typeface="Calibri" pitchFamily="34" charset="-120"/>
              </a:rPr>
              <a:t>HOW IT WORKS</a:t>
            </a:r>
            <a:endParaRPr lang="en-US" sz="1050" dirty="0"/>
          </a:p>
        </p:txBody>
      </p:sp>
      <p:sp>
        <p:nvSpPr>
          <p:cNvPr id="8" name="Text 5"/>
          <p:cNvSpPr txBox="1"/>
          <p:nvPr/>
        </p:nvSpPr>
        <p:spPr>
          <a:xfrm>
            <a:off x="7818120" y="1901952"/>
            <a:ext cx="3840480" cy="214884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A9BAD3"/>
                </a:solidFill>
                <a:latin typeface="Calibri" pitchFamily="34" charset="0"/>
                <a:ea typeface="Calibri" pitchFamily="34" charset="-122"/>
                <a:cs typeface="Calibri" pitchFamily="34" charset="-120"/>
              </a:rPr>
              <a:t>Every page, chart label, tooltip and analyst answer in both languages</a:t>
            </a:r>
            <a:endParaRPr lang="en-US" sz="1250" dirty="0"/>
          </a:p>
          <a:p>
            <a:pPr marL="177800" indent="-177800">
              <a:spcAft>
                <a:spcPts val="500"/>
              </a:spcAft>
              <a:buSzPct val="100000"/>
              <a:buChar char="•"/>
            </a:pPr>
            <a:r>
              <a:rPr lang="en-US" sz="1250" dirty="0">
                <a:solidFill>
                  <a:srgbClr val="A9BAD3"/>
                </a:solidFill>
                <a:latin typeface="Calibri" pitchFamily="34" charset="0"/>
                <a:ea typeface="Calibri" pitchFamily="34" charset="-122"/>
                <a:cs typeface="Calibri" pitchFamily="34" charset="-120"/>
              </a:rPr>
              <a:t>Segment descriptions generated in English and Chinese</a:t>
            </a:r>
            <a:endParaRPr lang="en-US" sz="1250" dirty="0"/>
          </a:p>
          <a:p>
            <a:pPr marL="177800" indent="-177800">
              <a:spcAft>
                <a:spcPts val="500"/>
              </a:spcAft>
              <a:buSzPct val="100000"/>
              <a:buChar char="•"/>
            </a:pPr>
            <a:r>
              <a:rPr lang="en-US" sz="1250" dirty="0">
                <a:solidFill>
                  <a:srgbClr val="A9BAD3"/>
                </a:solidFill>
                <a:latin typeface="Calibri" pitchFamily="34" charset="0"/>
                <a:ea typeface="Calibri" pitchFamily="34" charset="-122"/>
                <a:cs typeface="Calibri" pitchFamily="34" charset="-120"/>
              </a:rPr>
              <a:t>Analyst understands questions in either language</a:t>
            </a:r>
            <a:endParaRPr lang="en-US" sz="1250" dirty="0"/>
          </a:p>
        </p:txBody>
      </p:sp>
      <p:sp>
        <p:nvSpPr>
          <p:cNvPr id="9" name="Text 6"/>
          <p:cNvSpPr txBox="1"/>
          <p:nvPr/>
        </p:nvSpPr>
        <p:spPr>
          <a:xfrm>
            <a:off x="7818120" y="4114800"/>
            <a:ext cx="3840480" cy="256032"/>
          </a:xfrm>
          <a:prstGeom prst="rect">
            <a:avLst/>
          </a:prstGeom>
          <a:noFill/>
          <a:ln/>
        </p:spPr>
        <p:txBody>
          <a:bodyPr wrap="square" lIns="0" tIns="0" rIns="0" bIns="0" rtlCol="0" anchor="ctr"/>
          <a:lstStyle/>
          <a:p>
            <a:pPr indent="0" marL="0">
              <a:buNone/>
            </a:pPr>
            <a:r>
              <a:rPr lang="en-US" sz="1050" b="1" spc="200" kern="0" dirty="0">
                <a:solidFill>
                  <a:srgbClr val="F5B942"/>
                </a:solidFill>
                <a:latin typeface="Calibri" pitchFamily="34" charset="0"/>
                <a:ea typeface="Calibri" pitchFamily="34" charset="-122"/>
                <a:cs typeface="Calibri" pitchFamily="34" charset="-120"/>
              </a:rPr>
              <a:t>IN DEPTH</a:t>
            </a:r>
            <a:endParaRPr lang="en-US" sz="1050" dirty="0"/>
          </a:p>
        </p:txBody>
      </p:sp>
      <p:sp>
        <p:nvSpPr>
          <p:cNvPr id="10" name="Text 7"/>
          <p:cNvSpPr txBox="1"/>
          <p:nvPr/>
        </p:nvSpPr>
        <p:spPr>
          <a:xfrm>
            <a:off x="7818120" y="4416552"/>
            <a:ext cx="3840480" cy="1920240"/>
          </a:xfrm>
          <a:prstGeom prst="rect">
            <a:avLst/>
          </a:prstGeom>
          <a:noFill/>
          <a:ln/>
        </p:spPr>
        <p:txBody>
          <a:bodyPr wrap="square" lIns="0" tIns="0" rIns="0" bIns="0" rtlCol="0" anchor="t"/>
          <a:lstStyle/>
          <a:p>
            <a:pPr marL="177800" indent="-177800">
              <a:buSzPct val="100000"/>
              <a:buChar char="•"/>
            </a:pPr>
            <a:r>
              <a:rPr lang="en-US" sz="1150" b="1" dirty="0">
                <a:solidFill>
                  <a:srgbClr val="E6EEFB"/>
                </a:solidFill>
                <a:latin typeface="Calibri" pitchFamily="34" charset="0"/>
                <a:ea typeface="Calibri" pitchFamily="34" charset="-122"/>
                <a:cs typeface="Calibri" pitchFamily="34" charset="-120"/>
              </a:rPr>
              <a:t>Dictionaries: </a:t>
            </a:r>
            <a:pPr indent="0" marL="0">
              <a:spcAft>
                <a:spcPts val="500"/>
              </a:spcAft>
              <a:buNone/>
            </a:pPr>
            <a:r>
              <a:rPr lang="en-US" sz="1150" dirty="0">
                <a:solidFill>
                  <a:srgbClr val="A9BAD3"/>
                </a:solidFill>
                <a:latin typeface="Calibri" pitchFamily="34" charset="0"/>
                <a:ea typeface="Calibri" pitchFamily="34" charset="-122"/>
                <a:cs typeface="Calibri" pitchFamily="34" charset="-120"/>
              </a:rPr>
              <a:t>about 1,250 keys in messages/en.ts and zh.ts</a:t>
            </a:r>
            <a:endParaRPr lang="en-US" sz="1150" dirty="0"/>
          </a:p>
          <a:p>
            <a:pPr marL="177800" indent="-177800">
              <a:buSzPct val="100000"/>
              <a:buChar char="•"/>
            </a:pPr>
            <a:r>
              <a:rPr lang="en-US" sz="1150" b="1" dirty="0">
                <a:solidFill>
                  <a:srgbClr val="E6EEFB"/>
                </a:solidFill>
                <a:latin typeface="Calibri" pitchFamily="34" charset="0"/>
                <a:ea typeface="Calibri" pitchFamily="34" charset="-122"/>
                <a:cs typeface="Calibri" pitchFamily="34" charset="-120"/>
              </a:rPr>
              <a:t>Generated sentences: </a:t>
            </a:r>
            <a:pPr indent="0" marL="0">
              <a:spcAft>
                <a:spcPts val="500"/>
              </a:spcAft>
              <a:buNone/>
            </a:pPr>
            <a:r>
              <a:rPr lang="en-US" sz="1150" dirty="0">
                <a:solidFill>
                  <a:srgbClr val="A9BAD3"/>
                </a:solidFill>
                <a:latin typeface="Calibri" pitchFamily="34" charset="0"/>
                <a:ea typeface="Calibri" pitchFamily="34" charset="-122"/>
                <a:cs typeface="Calibri" pitchFamily="34" charset="-120"/>
              </a:rPr>
              <a:t>translated by pattern rules; anything unmatched stays English rather than guessed</a:t>
            </a:r>
            <a:endParaRPr lang="en-US" sz="1150" dirty="0"/>
          </a:p>
          <a:p>
            <a:pPr marL="177800" indent="-177800">
              <a:buSzPct val="100000"/>
              <a:buChar char="•"/>
            </a:pPr>
            <a:r>
              <a:rPr lang="en-US" sz="1150" b="1" dirty="0">
                <a:solidFill>
                  <a:srgbClr val="E6EEFB"/>
                </a:solidFill>
                <a:latin typeface="Calibri" pitchFamily="34" charset="0"/>
                <a:ea typeface="Calibri" pitchFamily="34" charset="-122"/>
                <a:cs typeface="Calibri" pitchFamily="34" charset="-120"/>
              </a:rPr>
              <a:t>Guard: </a:t>
            </a:r>
            <a:pPr indent="0" marL="0">
              <a:spcAft>
                <a:spcPts val="500"/>
              </a:spcAft>
              <a:buNone/>
            </a:pPr>
            <a:r>
              <a:rPr lang="en-US" sz="1150" dirty="0">
                <a:solidFill>
                  <a:srgbClr val="A9BAD3"/>
                </a:solidFill>
                <a:latin typeface="Calibri" pitchFamily="34" charset="0"/>
                <a:ea typeface="Calibri" pitchFamily="34" charset="-122"/>
                <a:cs typeface="Calibri" pitchFamily="34" charset="-120"/>
              </a:rPr>
              <a:t>CI fails on a missing key or hard-coded English in the UI</a:t>
            </a:r>
            <a:endParaRPr lang="en-US" sz="1150" dirty="0"/>
          </a:p>
        </p:txBody>
      </p:sp>
      <p:sp>
        <p:nvSpPr>
          <p:cNvPr id="11" name="Text 8"/>
          <p:cNvSpPr txBox="1"/>
          <p:nvPr/>
        </p:nvSpPr>
        <p:spPr>
          <a:xfrm>
            <a:off x="10332720" y="6446520"/>
            <a:ext cx="1371600" cy="228600"/>
          </a:xfrm>
          <a:prstGeom prst="rect">
            <a:avLst/>
          </a:prstGeom>
          <a:noFill/>
          <a:ln/>
        </p:spPr>
        <p:txBody>
          <a:bodyPr wrap="square" lIns="0" tIns="0" rIns="0" bIns="0" rtlCol="0" anchor="ctr"/>
          <a:lstStyle/>
          <a:p>
            <a:pPr algn="r" indent="0" marL="0">
              <a:buNone/>
            </a:pPr>
            <a:r>
              <a:rPr lang="en-US" sz="900" dirty="0">
                <a:solidFill>
                  <a:srgbClr val="6F84A6"/>
                </a:solidFill>
                <a:latin typeface="Calibri" pitchFamily="34" charset="0"/>
                <a:ea typeface="Calibri" pitchFamily="34" charset="-122"/>
                <a:cs typeface="Calibri" pitchFamily="34" charset="-120"/>
              </a:rPr>
              <a:t>DMIS · 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3F6FA"/>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274320"/>
          </a:xfrm>
          <a:prstGeom prst="rect">
            <a:avLst/>
          </a:prstGeom>
          <a:noFill/>
          <a:ln/>
        </p:spPr>
        <p:txBody>
          <a:bodyPr wrap="square" lIns="0" tIns="0" rIns="0" bIns="0" rtlCol="0" anchor="ctr"/>
          <a:lstStyle/>
          <a:p>
            <a:pPr indent="0" marL="0">
              <a:buNone/>
            </a:pPr>
            <a:r>
              <a:rPr lang="en-US" sz="1100" b="1" spc="300" kern="0" dirty="0">
                <a:solidFill>
                  <a:srgbClr val="0B7FA3"/>
                </a:solidFill>
                <a:latin typeface="Calibri" pitchFamily="34" charset="0"/>
                <a:ea typeface="Calibri" pitchFamily="34" charset="-122"/>
                <a:cs typeface="Calibri" pitchFamily="34" charset="-120"/>
              </a:rPr>
              <a:t>UNDER THE HOOD</a:t>
            </a:r>
            <a:endParaRPr lang="en-US" sz="1100" dirty="0"/>
          </a:p>
        </p:txBody>
      </p:sp>
      <p:sp>
        <p:nvSpPr>
          <p:cNvPr id="3" name="Text 1"/>
          <p:cNvSpPr txBox="1"/>
          <p:nvPr/>
        </p:nvSpPr>
        <p:spPr>
          <a:xfrm>
            <a:off x="548640" y="685800"/>
            <a:ext cx="11064240" cy="685800"/>
          </a:xfrm>
          <a:prstGeom prst="rect">
            <a:avLst/>
          </a:prstGeom>
          <a:noFill/>
          <a:ln/>
        </p:spPr>
        <p:txBody>
          <a:bodyPr wrap="square" lIns="0" tIns="0" rIns="0" bIns="0" rtlCol="0" anchor="ctr"/>
          <a:lstStyle/>
          <a:p>
            <a:pPr indent="0" marL="0">
              <a:buNone/>
            </a:pPr>
            <a:r>
              <a:rPr lang="en-US" sz="3200" b="1" dirty="0">
                <a:solidFill>
                  <a:srgbClr val="0F1B2D"/>
                </a:solidFill>
                <a:latin typeface="Cambria" pitchFamily="34" charset="0"/>
                <a:ea typeface="Cambria" pitchFamily="34" charset="-122"/>
                <a:cs typeface="Cambria" pitchFamily="34" charset="-120"/>
              </a:rPr>
              <a:t>Stack and code map</a:t>
            </a:r>
            <a:endParaRPr lang="en-US" sz="3200" dirty="0"/>
          </a:p>
        </p:txBody>
      </p:sp>
      <p:sp>
        <p:nvSpPr>
          <p:cNvPr id="4" name="Shape 2"/>
          <p:cNvSpPr/>
          <p:nvPr/>
        </p:nvSpPr>
        <p:spPr>
          <a:xfrm>
            <a:off x="548640" y="1600200"/>
            <a:ext cx="2331720" cy="2834640"/>
          </a:xfrm>
          <a:prstGeom prst="roundRect">
            <a:avLst>
              <a:gd name="adj" fmla="val 3137"/>
            </a:avLst>
          </a:prstGeom>
          <a:solidFill>
            <a:srgbClr val="FFFFFF"/>
          </a:solidFill>
          <a:ln w="12700">
            <a:solidFill>
              <a:srgbClr val="D5DEEA"/>
            </a:solidFill>
            <a:prstDash val="solid"/>
          </a:ln>
        </p:spPr>
      </p:sp>
      <p:sp>
        <p:nvSpPr>
          <p:cNvPr id="5" name="Text 3"/>
          <p:cNvSpPr txBox="1"/>
          <p:nvPr/>
        </p:nvSpPr>
        <p:spPr>
          <a:xfrm>
            <a:off x="713232" y="1691640"/>
            <a:ext cx="2011680" cy="365760"/>
          </a:xfrm>
          <a:prstGeom prst="rect">
            <a:avLst/>
          </a:prstGeom>
          <a:noFill/>
          <a:ln/>
        </p:spPr>
        <p:txBody>
          <a:bodyPr wrap="square" lIns="0" tIns="0" rIns="0" bIns="0" rtlCol="0" anchor="ctr"/>
          <a:lstStyle/>
          <a:p>
            <a:pPr indent="0" marL="0">
              <a:buNone/>
            </a:pPr>
            <a:r>
              <a:rPr lang="en-US" sz="1600" b="1" dirty="0">
                <a:solidFill>
                  <a:srgbClr val="0B7FA3"/>
                </a:solidFill>
                <a:latin typeface="Cambria" pitchFamily="34" charset="0"/>
                <a:ea typeface="Cambria" pitchFamily="34" charset="-122"/>
                <a:cs typeface="Cambria" pitchFamily="34" charset="-120"/>
              </a:rPr>
              <a:t>Backend</a:t>
            </a:r>
            <a:endParaRPr lang="en-US" sz="1600" dirty="0"/>
          </a:p>
        </p:txBody>
      </p:sp>
      <p:sp>
        <p:nvSpPr>
          <p:cNvPr id="6" name="Text 4"/>
          <p:cNvSpPr txBox="1"/>
          <p:nvPr/>
        </p:nvSpPr>
        <p:spPr>
          <a:xfrm>
            <a:off x="713232" y="2103120"/>
            <a:ext cx="2057400" cy="2286000"/>
          </a:xfrm>
          <a:prstGeom prst="rect">
            <a:avLst/>
          </a:prstGeom>
          <a:noFill/>
          <a:ln/>
        </p:spPr>
        <p:txBody>
          <a:bodyPr wrap="square" lIns="0" tIns="0" rIns="0" bIns="0" rtlCol="0" anchor="t"/>
          <a:lstStyle/>
          <a:p>
            <a:pPr marL="177800" indent="-177800">
              <a:spcAft>
                <a:spcPts val="500"/>
              </a:spcAft>
              <a:buSzPct val="100000"/>
              <a:buChar char="•"/>
            </a:pPr>
            <a:r>
              <a:rPr lang="en-US" sz="1100" dirty="0">
                <a:solidFill>
                  <a:srgbClr val="33445C"/>
                </a:solidFill>
                <a:latin typeface="Calibri" pitchFamily="34" charset="0"/>
                <a:ea typeface="Calibri" pitchFamily="34" charset="-122"/>
                <a:cs typeface="Calibri" pitchFamily="34" charset="-120"/>
              </a:rPr>
              <a:t>Python · FastAPI (~120 endpoints)</a:t>
            </a:r>
            <a:endParaRPr lang="en-US" sz="1100" dirty="0"/>
          </a:p>
          <a:p>
            <a:pPr marL="177800" indent="-177800">
              <a:spcAft>
                <a:spcPts val="500"/>
              </a:spcAft>
              <a:buSzPct val="100000"/>
              <a:buChar char="•"/>
            </a:pPr>
            <a:r>
              <a:rPr lang="en-US" sz="1100" dirty="0">
                <a:solidFill>
                  <a:srgbClr val="33445C"/>
                </a:solidFill>
                <a:latin typeface="Calibri" pitchFamily="34" charset="0"/>
                <a:ea typeface="Calibri" pitchFamily="34" charset="-122"/>
                <a:cs typeface="Calibri" pitchFamily="34" charset="-120"/>
              </a:rPr>
              <a:t>DuckDB over Parquet lake</a:t>
            </a:r>
            <a:endParaRPr lang="en-US" sz="1100" dirty="0"/>
          </a:p>
          <a:p>
            <a:pPr marL="177800" indent="-177800">
              <a:spcAft>
                <a:spcPts val="500"/>
              </a:spcAft>
              <a:buSzPct val="100000"/>
              <a:buChar char="•"/>
            </a:pPr>
            <a:r>
              <a:rPr lang="en-US" sz="1100" dirty="0">
                <a:solidFill>
                  <a:srgbClr val="33445C"/>
                </a:solidFill>
                <a:latin typeface="Calibri" pitchFamily="34" charset="0"/>
                <a:ea typeface="Calibri" pitchFamily="34" charset="-122"/>
                <a:cs typeface="Calibri" pitchFamily="34" charset="-120"/>
              </a:rPr>
              <a:t>SQLAlchemy → SQLite / PostgreSQL</a:t>
            </a:r>
            <a:endParaRPr lang="en-US" sz="1100" dirty="0"/>
          </a:p>
          <a:p>
            <a:pPr marL="177800" indent="-177800">
              <a:spcAft>
                <a:spcPts val="500"/>
              </a:spcAft>
              <a:buSzPct val="100000"/>
              <a:buChar char="•"/>
            </a:pPr>
            <a:r>
              <a:rPr lang="en-US" sz="1100" dirty="0">
                <a:solidFill>
                  <a:srgbClr val="33445C"/>
                </a:solidFill>
                <a:latin typeface="Calibri" pitchFamily="34" charset="0"/>
                <a:ea typeface="Calibri" pitchFamily="34" charset="-122"/>
                <a:cs typeface="Calibri" pitchFamily="34" charset="-120"/>
              </a:rPr>
              <a:t>NetworkX / Neo4j · Qdrant</a:t>
            </a:r>
            <a:endParaRPr lang="en-US" sz="1100" dirty="0"/>
          </a:p>
          <a:p>
            <a:pPr marL="177800" indent="-177800">
              <a:spcAft>
                <a:spcPts val="500"/>
              </a:spcAft>
              <a:buSzPct val="100000"/>
              <a:buChar char="•"/>
            </a:pPr>
            <a:r>
              <a:rPr lang="en-US" sz="1100" dirty="0">
                <a:solidFill>
                  <a:srgbClr val="33445C"/>
                </a:solidFill>
                <a:latin typeface="Calibri" pitchFamily="34" charset="0"/>
                <a:ea typeface="Calibri" pitchFamily="34" charset="-122"/>
                <a:cs typeface="Calibri" pitchFamily="34" charset="-120"/>
              </a:rPr>
              <a:t>Polars · NumPy · SciPy · scikit-learn · XGBoost</a:t>
            </a:r>
            <a:endParaRPr lang="en-US" sz="1100" dirty="0"/>
          </a:p>
        </p:txBody>
      </p:sp>
      <p:sp>
        <p:nvSpPr>
          <p:cNvPr id="7" name="Shape 5"/>
          <p:cNvSpPr/>
          <p:nvPr/>
        </p:nvSpPr>
        <p:spPr>
          <a:xfrm>
            <a:off x="3063240" y="1600200"/>
            <a:ext cx="2331720" cy="2834640"/>
          </a:xfrm>
          <a:prstGeom prst="roundRect">
            <a:avLst>
              <a:gd name="adj" fmla="val 3137"/>
            </a:avLst>
          </a:prstGeom>
          <a:solidFill>
            <a:srgbClr val="FFFFFF"/>
          </a:solidFill>
          <a:ln w="12700">
            <a:solidFill>
              <a:srgbClr val="D5DEEA"/>
            </a:solidFill>
            <a:prstDash val="solid"/>
          </a:ln>
        </p:spPr>
      </p:sp>
      <p:sp>
        <p:nvSpPr>
          <p:cNvPr id="8" name="Text 6"/>
          <p:cNvSpPr txBox="1"/>
          <p:nvPr/>
        </p:nvSpPr>
        <p:spPr>
          <a:xfrm>
            <a:off x="3227832" y="1691640"/>
            <a:ext cx="2011680" cy="365760"/>
          </a:xfrm>
          <a:prstGeom prst="rect">
            <a:avLst/>
          </a:prstGeom>
          <a:noFill/>
          <a:ln/>
        </p:spPr>
        <p:txBody>
          <a:bodyPr wrap="square" lIns="0" tIns="0" rIns="0" bIns="0" rtlCol="0" anchor="ctr"/>
          <a:lstStyle/>
          <a:p>
            <a:pPr indent="0" marL="0">
              <a:buNone/>
            </a:pPr>
            <a:r>
              <a:rPr lang="en-US" sz="1600" b="1" dirty="0">
                <a:solidFill>
                  <a:srgbClr val="0B7FA3"/>
                </a:solidFill>
                <a:latin typeface="Cambria" pitchFamily="34" charset="0"/>
                <a:ea typeface="Cambria" pitchFamily="34" charset="-122"/>
                <a:cs typeface="Cambria" pitchFamily="34" charset="-120"/>
              </a:rPr>
              <a:t>Frontend</a:t>
            </a:r>
            <a:endParaRPr lang="en-US" sz="1600" dirty="0"/>
          </a:p>
        </p:txBody>
      </p:sp>
      <p:sp>
        <p:nvSpPr>
          <p:cNvPr id="9" name="Text 7"/>
          <p:cNvSpPr txBox="1"/>
          <p:nvPr/>
        </p:nvSpPr>
        <p:spPr>
          <a:xfrm>
            <a:off x="3227832" y="2103120"/>
            <a:ext cx="2057400" cy="2286000"/>
          </a:xfrm>
          <a:prstGeom prst="rect">
            <a:avLst/>
          </a:prstGeom>
          <a:noFill/>
          <a:ln/>
        </p:spPr>
        <p:txBody>
          <a:bodyPr wrap="square" lIns="0" tIns="0" rIns="0" bIns="0" rtlCol="0" anchor="t"/>
          <a:lstStyle/>
          <a:p>
            <a:pPr marL="177800" indent="-177800">
              <a:spcAft>
                <a:spcPts val="500"/>
              </a:spcAft>
              <a:buSzPct val="100000"/>
              <a:buChar char="•"/>
            </a:pPr>
            <a:r>
              <a:rPr lang="en-US" sz="1100" dirty="0">
                <a:solidFill>
                  <a:srgbClr val="33445C"/>
                </a:solidFill>
                <a:latin typeface="Calibri" pitchFamily="34" charset="0"/>
                <a:ea typeface="Calibri" pitchFamily="34" charset="-122"/>
                <a:cs typeface="Calibri" pitchFamily="34" charset="-120"/>
              </a:rPr>
              <a:t>Next.js 16 · React 19 · TypeScript</a:t>
            </a:r>
            <a:endParaRPr lang="en-US" sz="1100" dirty="0"/>
          </a:p>
          <a:p>
            <a:pPr marL="177800" indent="-177800">
              <a:spcAft>
                <a:spcPts val="500"/>
              </a:spcAft>
              <a:buSzPct val="100000"/>
              <a:buChar char="•"/>
            </a:pPr>
            <a:r>
              <a:rPr lang="en-US" sz="1100" dirty="0">
                <a:solidFill>
                  <a:srgbClr val="33445C"/>
                </a:solidFill>
                <a:latin typeface="Calibri" pitchFamily="34" charset="0"/>
                <a:ea typeface="Calibri" pitchFamily="34" charset="-122"/>
                <a:cs typeface="Calibri" pitchFamily="34" charset="-120"/>
              </a:rPr>
              <a:t>Tailwind CSS</a:t>
            </a:r>
            <a:endParaRPr lang="en-US" sz="1100" dirty="0"/>
          </a:p>
          <a:p>
            <a:pPr marL="177800" indent="-177800">
              <a:spcAft>
                <a:spcPts val="500"/>
              </a:spcAft>
              <a:buSzPct val="100000"/>
              <a:buChar char="•"/>
            </a:pPr>
            <a:r>
              <a:rPr lang="en-US" sz="1100" dirty="0">
                <a:solidFill>
                  <a:srgbClr val="33445C"/>
                </a:solidFill>
                <a:latin typeface="Calibri" pitchFamily="34" charset="0"/>
                <a:ea typeface="Calibri" pitchFamily="34" charset="-122"/>
                <a:cs typeface="Calibri" pitchFamily="34" charset="-120"/>
              </a:rPr>
              <a:t>ECharts (charts)</a:t>
            </a:r>
            <a:endParaRPr lang="en-US" sz="1100" dirty="0"/>
          </a:p>
          <a:p>
            <a:pPr marL="177800" indent="-177800">
              <a:spcAft>
                <a:spcPts val="500"/>
              </a:spcAft>
              <a:buSzPct val="100000"/>
              <a:buChar char="•"/>
            </a:pPr>
            <a:r>
              <a:rPr lang="en-US" sz="1100" dirty="0">
                <a:solidFill>
                  <a:srgbClr val="33445C"/>
                </a:solidFill>
                <a:latin typeface="Calibri" pitchFamily="34" charset="0"/>
                <a:ea typeface="Calibri" pitchFamily="34" charset="-122"/>
                <a:cs typeface="Calibri" pitchFamily="34" charset="-120"/>
              </a:rPr>
              <a:t>three.js / react-three-fiber (3D)</a:t>
            </a:r>
            <a:endParaRPr lang="en-US" sz="1100" dirty="0"/>
          </a:p>
          <a:p>
            <a:pPr marL="177800" indent="-177800">
              <a:spcAft>
                <a:spcPts val="500"/>
              </a:spcAft>
              <a:buSzPct val="100000"/>
              <a:buChar char="•"/>
            </a:pPr>
            <a:r>
              <a:rPr lang="en-US" sz="1100" dirty="0">
                <a:solidFill>
                  <a:srgbClr val="33445C"/>
                </a:solidFill>
                <a:latin typeface="Calibri" pitchFamily="34" charset="0"/>
                <a:ea typeface="Calibri" pitchFamily="34" charset="-122"/>
                <a:cs typeface="Calibri" pitchFamily="34" charset="-120"/>
              </a:rPr>
              <a:t>i18n: EN / 中文</a:t>
            </a:r>
            <a:endParaRPr lang="en-US" sz="1100" dirty="0"/>
          </a:p>
        </p:txBody>
      </p:sp>
      <p:sp>
        <p:nvSpPr>
          <p:cNvPr id="10" name="Shape 8"/>
          <p:cNvSpPr/>
          <p:nvPr/>
        </p:nvSpPr>
        <p:spPr>
          <a:xfrm>
            <a:off x="5577840" y="1600200"/>
            <a:ext cx="2331720" cy="2834640"/>
          </a:xfrm>
          <a:prstGeom prst="roundRect">
            <a:avLst>
              <a:gd name="adj" fmla="val 3137"/>
            </a:avLst>
          </a:prstGeom>
          <a:solidFill>
            <a:srgbClr val="FFFFFF"/>
          </a:solidFill>
          <a:ln w="12700">
            <a:solidFill>
              <a:srgbClr val="D5DEEA"/>
            </a:solidFill>
            <a:prstDash val="solid"/>
          </a:ln>
        </p:spPr>
      </p:sp>
      <p:sp>
        <p:nvSpPr>
          <p:cNvPr id="11" name="Text 9"/>
          <p:cNvSpPr txBox="1"/>
          <p:nvPr/>
        </p:nvSpPr>
        <p:spPr>
          <a:xfrm>
            <a:off x="5742432" y="1691640"/>
            <a:ext cx="2011680" cy="365760"/>
          </a:xfrm>
          <a:prstGeom prst="rect">
            <a:avLst/>
          </a:prstGeom>
          <a:noFill/>
          <a:ln/>
        </p:spPr>
        <p:txBody>
          <a:bodyPr wrap="square" lIns="0" tIns="0" rIns="0" bIns="0" rtlCol="0" anchor="ctr"/>
          <a:lstStyle/>
          <a:p>
            <a:pPr indent="0" marL="0">
              <a:buNone/>
            </a:pPr>
            <a:r>
              <a:rPr lang="en-US" sz="1600" b="1" dirty="0">
                <a:solidFill>
                  <a:srgbClr val="0B7FA3"/>
                </a:solidFill>
                <a:latin typeface="Cambria" pitchFamily="34" charset="0"/>
                <a:ea typeface="Cambria" pitchFamily="34" charset="-122"/>
                <a:cs typeface="Cambria" pitchFamily="34" charset="-120"/>
              </a:rPr>
              <a:t>Ops</a:t>
            </a:r>
            <a:endParaRPr lang="en-US" sz="1600" dirty="0"/>
          </a:p>
        </p:txBody>
      </p:sp>
      <p:sp>
        <p:nvSpPr>
          <p:cNvPr id="12" name="Text 10"/>
          <p:cNvSpPr txBox="1"/>
          <p:nvPr/>
        </p:nvSpPr>
        <p:spPr>
          <a:xfrm>
            <a:off x="5742432" y="2103120"/>
            <a:ext cx="2057400" cy="2286000"/>
          </a:xfrm>
          <a:prstGeom prst="rect">
            <a:avLst/>
          </a:prstGeom>
          <a:noFill/>
          <a:ln/>
        </p:spPr>
        <p:txBody>
          <a:bodyPr wrap="square" lIns="0" tIns="0" rIns="0" bIns="0" rtlCol="0" anchor="t"/>
          <a:lstStyle/>
          <a:p>
            <a:pPr marL="177800" indent="-177800">
              <a:spcAft>
                <a:spcPts val="500"/>
              </a:spcAft>
              <a:buSzPct val="100000"/>
              <a:buChar char="•"/>
            </a:pPr>
            <a:r>
              <a:rPr lang="en-US" sz="1100" dirty="0">
                <a:solidFill>
                  <a:srgbClr val="33445C"/>
                </a:solidFill>
                <a:latin typeface="Calibri" pitchFamily="34" charset="0"/>
                <a:ea typeface="Calibri" pitchFamily="34" charset="-122"/>
                <a:cs typeface="Calibri" pitchFamily="34" charset="-120"/>
              </a:rPr>
              <a:t>Docker · job-queue worker</a:t>
            </a:r>
            <a:endParaRPr lang="en-US" sz="1100" dirty="0"/>
          </a:p>
          <a:p>
            <a:pPr marL="177800" indent="-177800">
              <a:spcAft>
                <a:spcPts val="500"/>
              </a:spcAft>
              <a:buSzPct val="100000"/>
              <a:buChar char="•"/>
            </a:pPr>
            <a:r>
              <a:rPr lang="en-US" sz="1100" dirty="0">
                <a:solidFill>
                  <a:srgbClr val="33445C"/>
                </a:solidFill>
                <a:latin typeface="Calibri" pitchFamily="34" charset="0"/>
                <a:ea typeface="Calibri" pitchFamily="34" charset="-122"/>
                <a:cs typeface="Calibri" pitchFamily="34" charset="-120"/>
              </a:rPr>
              <a:t>Bearer tokens (SHA-256), 7 roles</a:t>
            </a:r>
            <a:endParaRPr lang="en-US" sz="1100" dirty="0"/>
          </a:p>
          <a:p>
            <a:pPr marL="177800" indent="-177800">
              <a:spcAft>
                <a:spcPts val="500"/>
              </a:spcAft>
              <a:buSzPct val="100000"/>
              <a:buChar char="•"/>
            </a:pPr>
            <a:r>
              <a:rPr lang="en-US" sz="1100" dirty="0">
                <a:solidFill>
                  <a:srgbClr val="33445C"/>
                </a:solidFill>
                <a:latin typeface="Calibri" pitchFamily="34" charset="0"/>
                <a:ea typeface="Calibri" pitchFamily="34" charset="-122"/>
                <a:cs typeface="Calibri" pitchFamily="34" charset="-120"/>
              </a:rPr>
              <a:t>Audit log · multi-tenant plans</a:t>
            </a:r>
            <a:endParaRPr lang="en-US" sz="1100" dirty="0"/>
          </a:p>
          <a:p>
            <a:pPr marL="177800" indent="-177800">
              <a:spcAft>
                <a:spcPts val="500"/>
              </a:spcAft>
              <a:buSzPct val="100000"/>
              <a:buChar char="•"/>
            </a:pPr>
            <a:r>
              <a:rPr lang="en-US" sz="1100" dirty="0">
                <a:solidFill>
                  <a:srgbClr val="33445C"/>
                </a:solidFill>
                <a:latin typeface="Calibri" pitchFamily="34" charset="0"/>
                <a:ea typeface="Calibri" pitchFamily="34" charset="-122"/>
                <a:cs typeface="Calibri" pitchFamily="34" charset="-120"/>
              </a:rPr>
              <a:t>Backup / restore CLI</a:t>
            </a:r>
            <a:endParaRPr lang="en-US" sz="1100" dirty="0"/>
          </a:p>
          <a:p>
            <a:pPr marL="177800" indent="-177800">
              <a:spcAft>
                <a:spcPts val="500"/>
              </a:spcAft>
              <a:buSzPct val="100000"/>
              <a:buChar char="•"/>
            </a:pPr>
            <a:r>
              <a:rPr lang="en-US" sz="1100" dirty="0">
                <a:solidFill>
                  <a:srgbClr val="33445C"/>
                </a:solidFill>
                <a:latin typeface="Calibri" pitchFamily="34" charset="0"/>
                <a:ea typeface="Calibri" pitchFamily="34" charset="-122"/>
                <a:cs typeface="Calibri" pitchFamily="34" charset="-120"/>
              </a:rPr>
              <a:t>Runs fully offline</a:t>
            </a:r>
            <a:endParaRPr lang="en-US" sz="1100" dirty="0"/>
          </a:p>
        </p:txBody>
      </p:sp>
      <p:sp>
        <p:nvSpPr>
          <p:cNvPr id="13" name="Text 11"/>
          <p:cNvSpPr txBox="1"/>
          <p:nvPr/>
        </p:nvSpPr>
        <p:spPr>
          <a:xfrm>
            <a:off x="8229600" y="1600200"/>
            <a:ext cx="3474720" cy="4480560"/>
          </a:xfrm>
          <a:prstGeom prst="rect">
            <a:avLst/>
          </a:prstGeom>
          <a:solidFill>
            <a:srgbClr val="E7EDF5"/>
          </a:solidFill>
          <a:ln/>
        </p:spPr>
        <p:txBody>
          <a:bodyPr wrap="square" lIns="127000" tIns="127000" rIns="127000" bIns="127000" rtlCol="0" anchor="t"/>
          <a:lstStyle/>
          <a:p>
            <a:pPr indent="0" marL="0">
              <a:buNone/>
            </a:pPr>
            <a:r>
              <a:rPr lang="en-US" sz="1000" b="1" dirty="0">
                <a:solidFill>
                  <a:srgbClr val="0B7FA3"/>
                </a:solidFill>
                <a:latin typeface="Courier New" pitchFamily="34" charset="0"/>
                <a:ea typeface="Courier New" pitchFamily="34" charset="-122"/>
                <a:cs typeface="Courier New" pitchFamily="34" charset="-120"/>
              </a:rPr>
              <a:t>config/</a:t>
            </a:r>
            <a:endParaRPr lang="en-US" sz="1000" dirty="0"/>
          </a:p>
          <a:p>
            <a:pPr indent="0" marL="0">
              <a:buNone/>
            </a:pPr>
            <a:r>
              <a:rPr lang="en-US" sz="1000" dirty="0">
                <a:solidFill>
                  <a:srgbClr val="33445C"/>
                </a:solidFill>
                <a:latin typeface="Courier New" pitchFamily="34" charset="0"/>
                <a:ea typeface="Courier New" pitchFamily="34" charset="-122"/>
                <a:cs typeface="Courier New" pitchFamily="34" charset="-120"/>
              </a:rPr>
              <a:t>  categories.yaml · platform/metrics.yaml (every statistical setting)</a:t>
            </a:r>
            <a:endParaRPr lang="en-US" sz="1000" dirty="0"/>
          </a:p>
          <a:p>
            <a:pPr indent="0" marL="0">
              <a:buNone/>
            </a:pPr>
            <a:r>
              <a:rPr lang="en-US" sz="1000" b="1" dirty="0">
                <a:solidFill>
                  <a:srgbClr val="0B7FA3"/>
                </a:solidFill>
                <a:latin typeface="Courier New" pitchFamily="34" charset="0"/>
                <a:ea typeface="Courier New" pitchFamily="34" charset="-122"/>
                <a:cs typeface="Courier New" pitchFamily="34" charset="-120"/>
              </a:rPr>
              <a:t>src/dip/pipeline/runner.py</a:t>
            </a:r>
            <a:pPr indent="0" marL="0">
              <a:buNone/>
            </a:pPr>
            <a:r>
              <a:rPr lang="en-US" sz="1000" dirty="0">
                <a:solidFill>
                  <a:srgbClr val="33445C"/>
                </a:solidFill>
                <a:latin typeface="Courier New" pitchFamily="34" charset="0"/>
                <a:ea typeface="Courier New" pitchFamily="34" charset="-122"/>
                <a:cs typeface="Courier New" pitchFamily="34" charset="-120"/>
              </a:rPr>
              <a:t>   the upload pipeline</a:t>
            </a:r>
            <a:endParaRPr lang="en-US" sz="1000" dirty="0"/>
          </a:p>
          <a:p>
            <a:pPr indent="0" marL="0">
              <a:buNone/>
            </a:pPr>
            <a:r>
              <a:rPr lang="en-US" sz="1000" b="1" dirty="0">
                <a:solidFill>
                  <a:srgbClr val="0B7FA3"/>
                </a:solidFill>
                <a:latin typeface="Courier New" pitchFamily="34" charset="0"/>
                <a:ea typeface="Courier New" pitchFamily="34" charset="-122"/>
                <a:cs typeface="Courier New" pitchFamily="34" charset="-120"/>
              </a:rPr>
              <a:t>src/dip/metrics/</a:t>
            </a:r>
            <a:endParaRPr lang="en-US" sz="1000" dirty="0"/>
          </a:p>
          <a:p>
            <a:pPr indent="0" marL="0">
              <a:buNone/>
            </a:pPr>
            <a:r>
              <a:rPr lang="en-US" sz="1000" dirty="0">
                <a:solidFill>
                  <a:srgbClr val="33445C"/>
                </a:solidFill>
                <a:latin typeface="Courier New" pitchFamily="34" charset="0"/>
                <a:ea typeface="Courier New" pitchFamily="34" charset="-122"/>
                <a:cs typeface="Courier New" pitchFamily="34" charset="-120"/>
              </a:rPr>
              <a:t>  observation · demand · engine · gaps · brands</a:t>
            </a:r>
            <a:endParaRPr lang="en-US" sz="1000" dirty="0"/>
          </a:p>
          <a:p>
            <a:pPr indent="0" marL="0">
              <a:buNone/>
            </a:pPr>
            <a:r>
              <a:rPr lang="en-US" sz="1000" dirty="0">
                <a:solidFill>
                  <a:srgbClr val="33445C"/>
                </a:solidFill>
                <a:latin typeface="Courier New" pitchFamily="34" charset="0"/>
                <a:ea typeface="Courier New" pitchFamily="34" charset="-122"/>
                <a:cs typeface="Courier New" pitchFamily="34" charset="-120"/>
              </a:rPr>
              <a:t>  launch · shopping · forecast · bands · board</a:t>
            </a:r>
            <a:endParaRPr lang="en-US" sz="1000" dirty="0"/>
          </a:p>
          <a:p>
            <a:pPr indent="0" marL="0">
              <a:buNone/>
            </a:pPr>
            <a:r>
              <a:rPr lang="en-US" sz="1000" b="1" dirty="0">
                <a:solidFill>
                  <a:srgbClr val="0B7FA3"/>
                </a:solidFill>
                <a:latin typeface="Courier New" pitchFamily="34" charset="0"/>
                <a:ea typeface="Courier New" pitchFamily="34" charset="-122"/>
                <a:cs typeface="Courier New" pitchFamily="34" charset="-120"/>
              </a:rPr>
              <a:t>src/dip/intelligence/</a:t>
            </a:r>
            <a:pPr indent="0" marL="0">
              <a:buNone/>
            </a:pPr>
            <a:r>
              <a:rPr lang="en-US" sz="1000" dirty="0">
                <a:solidFill>
                  <a:srgbClr val="33445C"/>
                </a:solidFill>
                <a:latin typeface="Courier New" pitchFamily="34" charset="0"/>
                <a:ea typeface="Courier New" pitchFamily="34" charset="-122"/>
                <a:cs typeface="Courier New" pitchFamily="34" charset="-120"/>
              </a:rPr>
              <a:t>  analyst_v3 · gemini · ontology</a:t>
            </a:r>
            <a:endParaRPr lang="en-US" sz="1000" dirty="0"/>
          </a:p>
          <a:p>
            <a:pPr indent="0" marL="0">
              <a:buNone/>
            </a:pPr>
            <a:r>
              <a:rPr lang="en-US" sz="1000" b="1" dirty="0">
                <a:solidFill>
                  <a:srgbClr val="0B7FA3"/>
                </a:solidFill>
                <a:latin typeface="Courier New" pitchFamily="34" charset="0"/>
                <a:ea typeface="Courier New" pitchFamily="34" charset="-122"/>
                <a:cs typeface="Courier New" pitchFamily="34" charset="-120"/>
              </a:rPr>
              <a:t>src/dip/api/routes/</a:t>
            </a:r>
            <a:pPr indent="0" marL="0">
              <a:buNone/>
            </a:pPr>
            <a:r>
              <a:rPr lang="en-US" sz="1000" dirty="0">
                <a:solidFill>
                  <a:srgbClr val="33445C"/>
                </a:solidFill>
                <a:latin typeface="Courier New" pitchFamily="34" charset="0"/>
                <a:ea typeface="Courier New" pitchFamily="34" charset="-122"/>
                <a:cs typeface="Courier New" pitchFamily="34" charset="-120"/>
              </a:rPr>
              <a:t>  metrics · catalog · workflow …</a:t>
            </a:r>
            <a:endParaRPr lang="en-US" sz="1000" dirty="0"/>
          </a:p>
          <a:p>
            <a:pPr indent="0" marL="0">
              <a:buNone/>
            </a:pPr>
            <a:r>
              <a:rPr lang="en-US" sz="1000" b="1" dirty="0">
                <a:solidFill>
                  <a:srgbClr val="0B7FA3"/>
                </a:solidFill>
                <a:latin typeface="Courier New" pitchFamily="34" charset="0"/>
                <a:ea typeface="Courier New" pitchFamily="34" charset="-122"/>
                <a:cs typeface="Courier New" pitchFamily="34" charset="-120"/>
              </a:rPr>
              <a:t>src/dip/storage/</a:t>
            </a:r>
            <a:pPr indent="0" marL="0">
              <a:buNone/>
            </a:pPr>
            <a:r>
              <a:rPr lang="en-US" sz="1000" dirty="0">
                <a:solidFill>
                  <a:srgbClr val="33445C"/>
                </a:solidFill>
                <a:latin typeface="Courier New" pitchFamily="34" charset="0"/>
                <a:ea typeface="Courier New" pitchFamily="34" charset="-122"/>
                <a:cs typeface="Courier New" pitchFamily="34" charset="-120"/>
              </a:rPr>
              <a:t>  lake · business · graph · vectors</a:t>
            </a:r>
            <a:endParaRPr lang="en-US" sz="1000" dirty="0"/>
          </a:p>
          <a:p>
            <a:pPr indent="0" marL="0">
              <a:buNone/>
            </a:pPr>
            <a:r>
              <a:rPr lang="en-US" sz="1000" b="1" dirty="0">
                <a:solidFill>
                  <a:srgbClr val="0B7FA3"/>
                </a:solidFill>
                <a:latin typeface="Courier New" pitchFamily="34" charset="0"/>
                <a:ea typeface="Courier New" pitchFamily="34" charset="-122"/>
                <a:cs typeface="Courier New" pitchFamily="34" charset="-120"/>
              </a:rPr>
              <a:t>src/dmie/</a:t>
            </a:r>
            <a:pPr indent="0" marL="0">
              <a:buNone/>
            </a:pPr>
            <a:r>
              <a:rPr lang="en-US" sz="1000" dirty="0">
                <a:solidFill>
                  <a:srgbClr val="33445C"/>
                </a:solidFill>
                <a:latin typeface="Courier New" pitchFamily="34" charset="0"/>
                <a:ea typeface="Courier New" pitchFamily="34" charset="-122"/>
                <a:cs typeface="Courier New" pitchFamily="34" charset="-120"/>
              </a:rPr>
              <a:t>  v1 engine (wrapped)</a:t>
            </a:r>
            <a:endParaRPr lang="en-US" sz="1000" dirty="0"/>
          </a:p>
          <a:p>
            <a:pPr indent="0" marL="0">
              <a:buNone/>
            </a:pPr>
            <a:r>
              <a:rPr lang="en-US" sz="1000" b="1" dirty="0">
                <a:solidFill>
                  <a:srgbClr val="0B7FA3"/>
                </a:solidFill>
                <a:latin typeface="Courier New" pitchFamily="34" charset="0"/>
                <a:ea typeface="Courier New" pitchFamily="34" charset="-122"/>
                <a:cs typeface="Courier New" pitchFamily="34" charset="-120"/>
              </a:rPr>
              <a:t>frontend/app/&lt;page&gt;/</a:t>
            </a:r>
            <a:pPr indent="0" marL="0">
              <a:buNone/>
            </a:pPr>
            <a:r>
              <a:rPr lang="en-US" sz="1000" dirty="0">
                <a:solidFill>
                  <a:srgbClr val="33445C"/>
                </a:solidFill>
                <a:latin typeface="Courier New" pitchFamily="34" charset="0"/>
                <a:ea typeface="Courier New" pitchFamily="34" charset="-122"/>
                <a:cs typeface="Courier New" pitchFamily="34" charset="-120"/>
              </a:rPr>
              <a:t>  one folder per page</a:t>
            </a:r>
            <a:endParaRPr lang="en-US" sz="1000" dirty="0"/>
          </a:p>
          <a:p>
            <a:pPr indent="0" marL="0">
              <a:buNone/>
            </a:pPr>
            <a:r>
              <a:rPr lang="en-US" sz="1000" b="1" dirty="0">
                <a:solidFill>
                  <a:srgbClr val="0B7FA3"/>
                </a:solidFill>
                <a:latin typeface="Courier New" pitchFamily="34" charset="0"/>
                <a:ea typeface="Courier New" pitchFamily="34" charset="-122"/>
                <a:cs typeface="Courier New" pitchFamily="34" charset="-120"/>
              </a:rPr>
              <a:t>tests/</a:t>
            </a:r>
            <a:pPr indent="0" marL="0">
              <a:buNone/>
            </a:pPr>
            <a:r>
              <a:rPr lang="en-US" sz="1000" dirty="0">
                <a:solidFill>
                  <a:srgbClr val="33445C"/>
                </a:solidFill>
                <a:latin typeface="Courier New" pitchFamily="34" charset="0"/>
                <a:ea typeface="Courier New" pitchFamily="34" charset="-122"/>
                <a:cs typeface="Courier New" pitchFamily="34" charset="-120"/>
              </a:rPr>
              <a:t>  673 tests · docs/METHODOLOGY.md</a:t>
            </a:r>
            <a:endParaRPr lang="en-US" sz="1000" dirty="0"/>
          </a:p>
        </p:txBody>
      </p:sp>
      <p:sp>
        <p:nvSpPr>
          <p:cNvPr id="14" name="Text 12"/>
          <p:cNvSpPr txBox="1"/>
          <p:nvPr/>
        </p:nvSpPr>
        <p:spPr>
          <a:xfrm>
            <a:off x="548640" y="4709160"/>
            <a:ext cx="7406640" cy="822960"/>
          </a:xfrm>
          <a:prstGeom prst="rect">
            <a:avLst/>
          </a:prstGeom>
          <a:noFill/>
          <a:ln/>
        </p:spPr>
        <p:txBody>
          <a:bodyPr wrap="square" lIns="0" tIns="0" rIns="0" bIns="0" rtlCol="0" anchor="ctr"/>
          <a:lstStyle/>
          <a:p>
            <a:pPr indent="0" marL="0">
              <a:buNone/>
            </a:pPr>
            <a:r>
              <a:rPr lang="en-US" sz="1300" i="1" dirty="0">
                <a:solidFill>
                  <a:srgbClr val="33445C"/>
                </a:solidFill>
                <a:latin typeface="Calibri" pitchFamily="34" charset="0"/>
                <a:ea typeface="Calibri" pitchFamily="34" charset="-122"/>
                <a:cs typeface="Calibri" pitchFamily="34" charset="-120"/>
              </a:rPr>
              <a:t>Principles (PRINCIPLES.md): listing ≠ product · raw data never modified · code calculates, AI interprets · every exclusion has a reason · no hard-coded category rules.</a:t>
            </a:r>
            <a:endParaRPr lang="en-US" sz="1300" dirty="0"/>
          </a:p>
        </p:txBody>
      </p:sp>
      <p:sp>
        <p:nvSpPr>
          <p:cNvPr id="15" name="Text 13"/>
          <p:cNvSpPr txBox="1"/>
          <p:nvPr/>
        </p:nvSpPr>
        <p:spPr>
          <a:xfrm>
            <a:off x="10332720" y="6446520"/>
            <a:ext cx="1371600" cy="228600"/>
          </a:xfrm>
          <a:prstGeom prst="rect">
            <a:avLst/>
          </a:prstGeom>
          <a:noFill/>
          <a:ln/>
        </p:spPr>
        <p:txBody>
          <a:bodyPr wrap="square" lIns="0" tIns="0" rIns="0" bIns="0" rtlCol="0" anchor="ctr"/>
          <a:lstStyle/>
          <a:p>
            <a:pPr algn="r" indent="0" marL="0">
              <a:buNone/>
            </a:pPr>
            <a:r>
              <a:rPr lang="en-US" sz="900" dirty="0">
                <a:solidFill>
                  <a:srgbClr val="8A98AD"/>
                </a:solidFill>
                <a:latin typeface="Calibri" pitchFamily="34" charset="0"/>
                <a:ea typeface="Calibri" pitchFamily="34" charset="-122"/>
                <a:cs typeface="Calibri" pitchFamily="34" charset="-120"/>
              </a:rPr>
              <a:t>DMIS · 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274320"/>
          </a:xfrm>
          <a:prstGeom prst="rect">
            <a:avLst/>
          </a:prstGeom>
          <a:noFill/>
          <a:ln/>
        </p:spPr>
        <p:txBody>
          <a:bodyPr wrap="square" lIns="0" tIns="0" rIns="0" bIns="0" rtlCol="0" anchor="ctr"/>
          <a:lstStyle/>
          <a:p>
            <a:pPr indent="0" marL="0">
              <a:buNone/>
            </a:pPr>
            <a:r>
              <a:rPr lang="en-US" sz="1100" b="1" spc="300" kern="0" dirty="0">
                <a:solidFill>
                  <a:srgbClr val="38D6FF"/>
                </a:solidFill>
                <a:latin typeface="Calibri" pitchFamily="34" charset="0"/>
                <a:ea typeface="Calibri" pitchFamily="34" charset="-122"/>
                <a:cs typeface="Calibri" pitchFamily="34" charset="-120"/>
              </a:rPr>
              <a:t>HONEST LIMITS · NEXT STEPS</a:t>
            </a:r>
            <a:endParaRPr lang="en-US" sz="1100" dirty="0"/>
          </a:p>
        </p:txBody>
      </p:sp>
      <p:sp>
        <p:nvSpPr>
          <p:cNvPr id="3" name="Text 1"/>
          <p:cNvSpPr txBox="1"/>
          <p:nvPr/>
        </p:nvSpPr>
        <p:spPr>
          <a:xfrm>
            <a:off x="548640" y="685800"/>
            <a:ext cx="11064240" cy="685800"/>
          </a:xfrm>
          <a:prstGeom prst="rect">
            <a:avLst/>
          </a:prstGeom>
          <a:noFill/>
          <a:ln/>
        </p:spPr>
        <p:txBody>
          <a:bodyPr wrap="square" lIns="0" tIns="0" rIns="0" bIns="0" rtlCol="0" anchor="ctr"/>
          <a:lstStyle/>
          <a:p>
            <a:pPr indent="0" marL="0">
              <a:buNone/>
            </a:pPr>
            <a:r>
              <a:rPr lang="en-US" sz="3200" b="1" dirty="0">
                <a:solidFill>
                  <a:srgbClr val="E6EEFB"/>
                </a:solidFill>
                <a:latin typeface="Cambria" pitchFamily="34" charset="0"/>
                <a:ea typeface="Cambria" pitchFamily="34" charset="-122"/>
                <a:cs typeface="Cambria" pitchFamily="34" charset="-120"/>
              </a:rPr>
              <a:t>The system says when it doesn't know</a:t>
            </a:r>
            <a:endParaRPr lang="en-US" sz="3200" dirty="0"/>
          </a:p>
        </p:txBody>
      </p:sp>
      <p:sp>
        <p:nvSpPr>
          <p:cNvPr id="4" name="Text 2"/>
          <p:cNvSpPr txBox="1"/>
          <p:nvPr/>
        </p:nvSpPr>
        <p:spPr>
          <a:xfrm>
            <a:off x="548640" y="1645920"/>
            <a:ext cx="5303520" cy="256032"/>
          </a:xfrm>
          <a:prstGeom prst="rect">
            <a:avLst/>
          </a:prstGeom>
          <a:noFill/>
          <a:ln/>
        </p:spPr>
        <p:txBody>
          <a:bodyPr wrap="square" lIns="0" tIns="0" rIns="0" bIns="0" rtlCol="0" anchor="ctr"/>
          <a:lstStyle/>
          <a:p>
            <a:pPr indent="0" marL="0">
              <a:buNone/>
            </a:pPr>
            <a:r>
              <a:rPr lang="en-US" sz="1050" b="1" spc="200" kern="0" dirty="0">
                <a:solidFill>
                  <a:srgbClr val="F5B942"/>
                </a:solidFill>
                <a:latin typeface="Calibri" pitchFamily="34" charset="0"/>
                <a:ea typeface="Calibri" pitchFamily="34" charset="-122"/>
                <a:cs typeface="Calibri" pitchFamily="34" charset="-120"/>
              </a:rPr>
              <a:t>LIMITS TODAY</a:t>
            </a:r>
            <a:endParaRPr lang="en-US" sz="1050" dirty="0"/>
          </a:p>
        </p:txBody>
      </p:sp>
      <p:sp>
        <p:nvSpPr>
          <p:cNvPr id="5" name="Text 3"/>
          <p:cNvSpPr txBox="1"/>
          <p:nvPr/>
        </p:nvSpPr>
        <p:spPr>
          <a:xfrm>
            <a:off x="548640" y="1965960"/>
            <a:ext cx="5303520" cy="301752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A9BAD3"/>
                </a:solidFill>
                <a:latin typeface="Calibri" pitchFamily="34" charset="0"/>
                <a:ea typeface="Calibri" pitchFamily="34" charset="-122"/>
                <a:cs typeface="Calibri" pitchFamily="34" charset="-120"/>
              </a:rPr>
              <a:t>Single snapshot per market → no growth claimed until 3 dated monthly exports</a:t>
            </a:r>
            <a:endParaRPr lang="en-US" sz="1400" dirty="0"/>
          </a:p>
          <a:p>
            <a:pPr marL="177800" indent="-177800">
              <a:spcAft>
                <a:spcPts val="500"/>
              </a:spcAft>
              <a:buSzPct val="100000"/>
              <a:buChar char="•"/>
            </a:pPr>
            <a:r>
              <a:rPr lang="en-US" sz="1400" dirty="0">
                <a:solidFill>
                  <a:srgbClr val="A9BAD3"/>
                </a:solidFill>
                <a:latin typeface="Calibri" pitchFamily="34" charset="0"/>
                <a:ea typeface="Calibri" pitchFamily="34" charset="-122"/>
                <a:cs typeface="Calibri" pitchFamily="34" charset="-120"/>
              </a:rPr>
              <a:t>No review text yet → customer pain uses the rating-based quality gap</a:t>
            </a:r>
            <a:endParaRPr lang="en-US" sz="1400" dirty="0"/>
          </a:p>
          <a:p>
            <a:pPr marL="177800" indent="-177800">
              <a:spcAft>
                <a:spcPts val="500"/>
              </a:spcAft>
              <a:buSzPct val="100000"/>
              <a:buChar char="•"/>
            </a:pPr>
            <a:r>
              <a:rPr lang="en-US" sz="1400" dirty="0">
                <a:solidFill>
                  <a:srgbClr val="A9BAD3"/>
                </a:solidFill>
                <a:latin typeface="Calibri" pitchFamily="34" charset="0"/>
                <a:ea typeface="Calibri" pitchFamily="34" charset="-122"/>
                <a:cs typeface="Calibri" pitchFamily="34" charset="-120"/>
              </a:rPr>
              <a:t>No supplier list yet → supplier matching is empty</a:t>
            </a:r>
            <a:endParaRPr lang="en-US" sz="1400" dirty="0"/>
          </a:p>
          <a:p>
            <a:pPr marL="177800" indent="-177800">
              <a:spcAft>
                <a:spcPts val="500"/>
              </a:spcAft>
              <a:buSzPct val="100000"/>
              <a:buChar char="•"/>
            </a:pPr>
            <a:r>
              <a:rPr lang="en-US" sz="1400" dirty="0">
                <a:solidFill>
                  <a:srgbClr val="A9BAD3"/>
                </a:solidFill>
                <a:latin typeface="Calibri" pitchFamily="34" charset="0"/>
                <a:ea typeface="Calibri" pitchFamily="34" charset="-122"/>
                <a:cs typeface="Calibri" pitchFamily="34" charset="-120"/>
              </a:rPr>
              <a:t>Price effect is associational, not causal</a:t>
            </a:r>
            <a:endParaRPr lang="en-US" sz="1400" dirty="0"/>
          </a:p>
          <a:p>
            <a:pPr marL="177800" indent="-177800">
              <a:spcAft>
                <a:spcPts val="500"/>
              </a:spcAft>
              <a:buSzPct val="100000"/>
              <a:buChar char="•"/>
            </a:pPr>
            <a:r>
              <a:rPr lang="en-US" sz="1400" dirty="0">
                <a:solidFill>
                  <a:srgbClr val="A9BAD3"/>
                </a:solidFill>
                <a:latin typeface="Calibri" pitchFamily="34" charset="0"/>
                <a:ea typeface="Calibri" pitchFamily="34" charset="-122"/>
                <a:cs typeface="Calibri" pitchFamily="34" charset="-120"/>
              </a:rPr>
              <a:t>Human labelling still needed for precision / recall</a:t>
            </a:r>
            <a:endParaRPr lang="en-US" sz="1400" dirty="0"/>
          </a:p>
        </p:txBody>
      </p:sp>
      <p:sp>
        <p:nvSpPr>
          <p:cNvPr id="6" name="Text 4"/>
          <p:cNvSpPr txBox="1"/>
          <p:nvPr/>
        </p:nvSpPr>
        <p:spPr>
          <a:xfrm>
            <a:off x="6400800" y="1645920"/>
            <a:ext cx="5212080" cy="256032"/>
          </a:xfrm>
          <a:prstGeom prst="rect">
            <a:avLst/>
          </a:prstGeom>
          <a:noFill/>
          <a:ln/>
        </p:spPr>
        <p:txBody>
          <a:bodyPr wrap="square" lIns="0" tIns="0" rIns="0" bIns="0" rtlCol="0" anchor="ctr"/>
          <a:lstStyle/>
          <a:p>
            <a:pPr indent="0" marL="0">
              <a:buNone/>
            </a:pPr>
            <a:r>
              <a:rPr lang="en-US" sz="1050" b="1" spc="200" kern="0" dirty="0">
                <a:solidFill>
                  <a:srgbClr val="2ECC8F"/>
                </a:solidFill>
                <a:latin typeface="Calibri" pitchFamily="34" charset="0"/>
                <a:ea typeface="Calibri" pitchFamily="34" charset="-122"/>
                <a:cs typeface="Calibri" pitchFamily="34" charset="-120"/>
              </a:rPr>
              <a:t>NEXT STEPS</a:t>
            </a:r>
            <a:endParaRPr lang="en-US" sz="1050" dirty="0"/>
          </a:p>
        </p:txBody>
      </p:sp>
      <p:sp>
        <p:nvSpPr>
          <p:cNvPr id="7" name="Text 5"/>
          <p:cNvSpPr txBox="1"/>
          <p:nvPr/>
        </p:nvSpPr>
        <p:spPr>
          <a:xfrm>
            <a:off x="6400800" y="1965960"/>
            <a:ext cx="5212080" cy="301752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A9BAD3"/>
                </a:solidFill>
                <a:latin typeface="Calibri" pitchFamily="34" charset="0"/>
                <a:ea typeface="Calibri" pitchFamily="34" charset="-122"/>
                <a:cs typeface="Calibri" pitchFamily="34" charset="-120"/>
              </a:rPr>
              <a:t>Upload 3–6 dated monthly exports per category</a:t>
            </a:r>
            <a:endParaRPr lang="en-US" sz="1400" dirty="0"/>
          </a:p>
          <a:p>
            <a:pPr marL="177800" indent="-177800">
              <a:spcAft>
                <a:spcPts val="500"/>
              </a:spcAft>
              <a:buSzPct val="100000"/>
              <a:buChar char="•"/>
            </a:pPr>
            <a:r>
              <a:rPr lang="en-US" sz="1400" dirty="0">
                <a:solidFill>
                  <a:srgbClr val="A9BAD3"/>
                </a:solidFill>
                <a:latin typeface="Calibri" pitchFamily="34" charset="0"/>
                <a:ea typeface="Calibri" pitchFamily="34" charset="-122"/>
                <a:cs typeface="Calibri" pitchFamily="34" charset="-120"/>
              </a:rPr>
              <a:t>Add review text and the supplier list</a:t>
            </a:r>
            <a:endParaRPr lang="en-US" sz="1400" dirty="0"/>
          </a:p>
          <a:p>
            <a:pPr marL="177800" indent="-177800">
              <a:spcAft>
                <a:spcPts val="500"/>
              </a:spcAft>
              <a:buSzPct val="100000"/>
              <a:buChar char="•"/>
            </a:pPr>
            <a:r>
              <a:rPr lang="en-US" sz="1400" dirty="0">
                <a:solidFill>
                  <a:srgbClr val="A9BAD3"/>
                </a:solidFill>
                <a:latin typeface="Calibri" pitchFamily="34" charset="0"/>
                <a:ea typeface="Calibri" pitchFamily="34" charset="-122"/>
                <a:cs typeface="Calibri" pitchFamily="34" charset="-120"/>
              </a:rPr>
              <a:t>Label ~50 products per market</a:t>
            </a:r>
            <a:endParaRPr lang="en-US" sz="1400" dirty="0"/>
          </a:p>
          <a:p>
            <a:pPr marL="177800" indent="-177800">
              <a:spcAft>
                <a:spcPts val="500"/>
              </a:spcAft>
              <a:buSzPct val="100000"/>
              <a:buChar char="•"/>
            </a:pPr>
            <a:r>
              <a:rPr lang="en-US" sz="1400" dirty="0">
                <a:solidFill>
                  <a:srgbClr val="A9BAD3"/>
                </a:solidFill>
                <a:latin typeface="Calibri" pitchFamily="34" charset="0"/>
                <a:ea typeface="Calibri" pitchFamily="34" charset="-122"/>
                <a:cs typeface="Calibri" pitchFamily="34" charset="-120"/>
              </a:rPr>
              <a:t>Backtest on the monthly history</a:t>
            </a:r>
            <a:endParaRPr lang="en-US" sz="1400" dirty="0"/>
          </a:p>
          <a:p>
            <a:pPr marL="177800" indent="-177800">
              <a:spcAft>
                <a:spcPts val="500"/>
              </a:spcAft>
              <a:buSzPct val="100000"/>
              <a:buChar char="•"/>
            </a:pPr>
            <a:r>
              <a:rPr lang="en-US" sz="1400" dirty="0">
                <a:solidFill>
                  <a:srgbClr val="A9BAD3"/>
                </a:solidFill>
                <a:latin typeface="Calibri" pitchFamily="34" charset="0"/>
                <a:ea typeface="Calibri" pitchFamily="34" charset="-122"/>
                <a:cs typeface="Calibri" pitchFamily="34" charset="-120"/>
              </a:rPr>
              <a:t>4-week pilot with 3–5 users → exit report</a:t>
            </a:r>
            <a:endParaRPr lang="en-US" sz="1400" dirty="0"/>
          </a:p>
        </p:txBody>
      </p:sp>
      <p:sp>
        <p:nvSpPr>
          <p:cNvPr id="8" name="Shape 6"/>
          <p:cNvSpPr/>
          <p:nvPr/>
        </p:nvSpPr>
        <p:spPr>
          <a:xfrm>
            <a:off x="548640" y="5074920"/>
            <a:ext cx="11064240" cy="1097280"/>
          </a:xfrm>
          <a:prstGeom prst="roundRect">
            <a:avLst>
              <a:gd name="adj" fmla="val 6667"/>
            </a:avLst>
          </a:prstGeom>
          <a:solidFill>
            <a:srgbClr val="111C2E"/>
          </a:solidFill>
          <a:ln w="12700">
            <a:solidFill>
              <a:srgbClr val="1F3150"/>
            </a:solidFill>
            <a:prstDash val="solid"/>
          </a:ln>
        </p:spPr>
      </p:sp>
      <p:sp>
        <p:nvSpPr>
          <p:cNvPr id="9" name="Text 7"/>
          <p:cNvSpPr txBox="1"/>
          <p:nvPr/>
        </p:nvSpPr>
        <p:spPr>
          <a:xfrm>
            <a:off x="822960" y="5074920"/>
            <a:ext cx="10515600" cy="1097280"/>
          </a:xfrm>
          <a:prstGeom prst="rect">
            <a:avLst/>
          </a:prstGeom>
          <a:noFill/>
          <a:ln/>
        </p:spPr>
        <p:txBody>
          <a:bodyPr wrap="square" lIns="0" tIns="0" rIns="0" bIns="0" rtlCol="0" anchor="ctr"/>
          <a:lstStyle/>
          <a:p>
            <a:pPr indent="0" marL="0">
              <a:buNone/>
            </a:pPr>
            <a:r>
              <a:rPr lang="en-US" sz="1800" dirty="0">
                <a:solidFill>
                  <a:srgbClr val="E6EEFB"/>
                </a:solidFill>
                <a:latin typeface="Cambria" pitchFamily="34" charset="0"/>
                <a:ea typeface="Cambria" pitchFamily="34" charset="-122"/>
                <a:cs typeface="Cambria" pitchFamily="34" charset="-120"/>
              </a:rPr>
              <a:t>Every number with its interval, its formula and its evidence — so a launch decision knows the range of outcomes and whether a difference is real.</a:t>
            </a:r>
            <a:endParaRPr lang="en-US" sz="1800" dirty="0"/>
          </a:p>
        </p:txBody>
      </p:sp>
      <p:sp>
        <p:nvSpPr>
          <p:cNvPr id="10" name="Text 8"/>
          <p:cNvSpPr txBox="1"/>
          <p:nvPr/>
        </p:nvSpPr>
        <p:spPr>
          <a:xfrm>
            <a:off x="10332720" y="6446520"/>
            <a:ext cx="1371600" cy="228600"/>
          </a:xfrm>
          <a:prstGeom prst="rect">
            <a:avLst/>
          </a:prstGeom>
          <a:noFill/>
          <a:ln/>
        </p:spPr>
        <p:txBody>
          <a:bodyPr wrap="square" lIns="0" tIns="0" rIns="0" bIns="0" rtlCol="0" anchor="ctr"/>
          <a:lstStyle/>
          <a:p>
            <a:pPr algn="r" indent="0" marL="0">
              <a:buNone/>
            </a:pPr>
            <a:r>
              <a:rPr lang="en-US" sz="900" dirty="0">
                <a:solidFill>
                  <a:srgbClr val="6F84A6"/>
                </a:solidFill>
                <a:latin typeface="Calibri" pitchFamily="34" charset="0"/>
                <a:ea typeface="Calibri" pitchFamily="34" charset="-122"/>
                <a:cs typeface="Calibri" pitchFamily="34" charset="-120"/>
              </a:rPr>
              <a:t>DMIS · 25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DMIS: Dental Market Intelligence OS</dc:title>
  <dc:subject>PptxGenJS Presentation</dc:subject>
  <dc:creator>Wajid Kanwar Abdul</dc:creator>
  <cp:lastModifiedBy>Wajid Kanwar Abdul</cp:lastModifiedBy>
  <cp:revision>1</cp:revision>
  <dcterms:created xsi:type="dcterms:W3CDTF">2026-09-26T01:12:04Z</dcterms:created>
  <dcterms:modified xsi:type="dcterms:W3CDTF">2026-09-26T01:12:04Z</dcterms:modified>
</cp:coreProperties>
</file>